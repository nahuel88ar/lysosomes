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media/image5.wmf" ContentType="image/x-wmf"/>
  <Override PartName="/ppt/media/image6.wmf" ContentType="image/x-wmf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8800" cy="68446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59480" cy="5691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dt" idx="1"/>
          </p:nvPr>
        </p:nvSpPr>
        <p:spPr>
          <a:xfrm>
            <a:off x="609480" y="6245280"/>
            <a:ext cx="2831400" cy="462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ftr" idx="2"/>
          </p:nvPr>
        </p:nvSpPr>
        <p:spPr>
          <a:xfrm>
            <a:off x="4165560" y="6245280"/>
            <a:ext cx="3847320" cy="462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sldNum" idx="3"/>
          </p:nvPr>
        </p:nvSpPr>
        <p:spPr>
          <a:xfrm>
            <a:off x="8737560" y="6245280"/>
            <a:ext cx="2831400" cy="462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8800" cy="68446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59480" cy="5691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5371560" cy="49395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6197760" y="1174680"/>
            <a:ext cx="5371560" cy="49395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4"/>
          </p:nvPr>
        </p:nvSpPr>
        <p:spPr>
          <a:xfrm>
            <a:off x="609480" y="6245280"/>
            <a:ext cx="2831400" cy="462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ftr" idx="5"/>
          </p:nvPr>
        </p:nvSpPr>
        <p:spPr>
          <a:xfrm>
            <a:off x="4165560" y="6245280"/>
            <a:ext cx="3847320" cy="462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sldNum" idx="6"/>
          </p:nvPr>
        </p:nvSpPr>
        <p:spPr>
          <a:xfrm>
            <a:off x="8737560" y="6245280"/>
            <a:ext cx="2831400" cy="462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8800" cy="68446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840240" y="365040"/>
            <a:ext cx="10502280" cy="13122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840240" y="1681200"/>
            <a:ext cx="5145120" cy="8107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840240" y="2505240"/>
            <a:ext cx="5145120" cy="36712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70320" cy="8107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70320" cy="36712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dt" idx="7"/>
          </p:nvPr>
        </p:nvSpPr>
        <p:spPr>
          <a:xfrm>
            <a:off x="609480" y="6245280"/>
            <a:ext cx="2831400" cy="462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7"/>
          <p:cNvSpPr>
            <a:spLocks noGrp="1"/>
          </p:cNvSpPr>
          <p:nvPr>
            <p:ph type="ftr" idx="8"/>
          </p:nvPr>
        </p:nvSpPr>
        <p:spPr>
          <a:xfrm>
            <a:off x="4165560" y="6245280"/>
            <a:ext cx="3847320" cy="462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8"/>
          <p:cNvSpPr>
            <a:spLocks noGrp="1"/>
          </p:cNvSpPr>
          <p:nvPr>
            <p:ph type="sldNum" idx="9"/>
          </p:nvPr>
        </p:nvSpPr>
        <p:spPr>
          <a:xfrm>
            <a:off x="8737560" y="6245280"/>
            <a:ext cx="2831400" cy="462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8800" cy="68446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4" name="PlaceHolder 1"/>
          <p:cNvSpPr>
            <a:spLocks noGrp="1"/>
          </p:cNvSpPr>
          <p:nvPr>
            <p:ph type="dt" idx="10"/>
          </p:nvPr>
        </p:nvSpPr>
        <p:spPr>
          <a:xfrm>
            <a:off x="609480" y="6245280"/>
            <a:ext cx="2831400" cy="462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ftr" idx="11"/>
          </p:nvPr>
        </p:nvSpPr>
        <p:spPr>
          <a:xfrm>
            <a:off x="4165560" y="6245280"/>
            <a:ext cx="3847320" cy="462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sldNum" idx="12"/>
          </p:nvPr>
        </p:nvSpPr>
        <p:spPr>
          <a:xfrm>
            <a:off x="8737560" y="6245280"/>
            <a:ext cx="2831400" cy="462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8800" cy="68446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8839080" y="190440"/>
            <a:ext cx="2729880" cy="592380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ctr" vert="eaVer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609480" y="190440"/>
            <a:ext cx="8013240" cy="592380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t" vert="eaVer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3"/>
          </p:nvPr>
        </p:nvSpPr>
        <p:spPr>
          <a:xfrm>
            <a:off x="609480" y="6245280"/>
            <a:ext cx="2831400" cy="462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4"/>
          </p:nvPr>
        </p:nvSpPr>
        <p:spPr>
          <a:xfrm>
            <a:off x="4165560" y="6245280"/>
            <a:ext cx="3847320" cy="462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5"/>
          </p:nvPr>
        </p:nvSpPr>
        <p:spPr>
          <a:xfrm>
            <a:off x="8737560" y="6245280"/>
            <a:ext cx="2831400" cy="462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8800" cy="68446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40240" y="457200"/>
            <a:ext cx="3919320" cy="15868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l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i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k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o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e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d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i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M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a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e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r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i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l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e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y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l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5183640" y="987480"/>
            <a:ext cx="6158880" cy="48603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840240" y="2057400"/>
            <a:ext cx="3919320" cy="37983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6"/>
          </p:nvPr>
        </p:nvSpPr>
        <p:spPr>
          <a:xfrm>
            <a:off x="609480" y="6245280"/>
            <a:ext cx="2831400" cy="462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ftr" idx="17"/>
          </p:nvPr>
        </p:nvSpPr>
        <p:spPr>
          <a:xfrm>
            <a:off x="4165560" y="6245280"/>
            <a:ext cx="3847320" cy="462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18"/>
          </p:nvPr>
        </p:nvSpPr>
        <p:spPr>
          <a:xfrm>
            <a:off x="8737560" y="6245280"/>
            <a:ext cx="2831400" cy="462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8800" cy="68446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40240" y="457200"/>
            <a:ext cx="3919320" cy="15868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5183640" y="987480"/>
            <a:ext cx="6158880" cy="4860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431640" indent="-324000">
              <a:lnSpc>
                <a:spcPct val="100000"/>
              </a:lnSpc>
              <a:spcBef>
                <a:spcPts val="141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36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36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360" lvl="4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840240" y="2057400"/>
            <a:ext cx="3919320" cy="37983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19"/>
          </p:nvPr>
        </p:nvSpPr>
        <p:spPr>
          <a:xfrm>
            <a:off x="609480" y="6245280"/>
            <a:ext cx="2831400" cy="462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20"/>
          </p:nvPr>
        </p:nvSpPr>
        <p:spPr>
          <a:xfrm>
            <a:off x="4165560" y="6245280"/>
            <a:ext cx="3847320" cy="462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21"/>
          </p:nvPr>
        </p:nvSpPr>
        <p:spPr>
          <a:xfrm>
            <a:off x="8737560" y="6245280"/>
            <a:ext cx="2831400" cy="462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Picture 10" hidden="1"/>
          <p:cNvPicPr/>
          <p:nvPr/>
        </p:nvPicPr>
        <p:blipFill>
          <a:blip r:embed="rId2"/>
          <a:stretch/>
        </p:blipFill>
        <p:spPr>
          <a:xfrm>
            <a:off x="0" y="0"/>
            <a:ext cx="12178800" cy="684468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48" name="Picture 3"/>
          <p:cNvPicPr/>
          <p:nvPr/>
        </p:nvPicPr>
        <p:blipFill>
          <a:blip r:embed="rId3"/>
          <a:stretch/>
        </p:blipFill>
        <p:spPr>
          <a:xfrm>
            <a:off x="0" y="0"/>
            <a:ext cx="12178800" cy="68446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24240" y="3718080"/>
            <a:ext cx="10929960" cy="10692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dt" idx="22"/>
          </p:nvPr>
        </p:nvSpPr>
        <p:spPr>
          <a:xfrm>
            <a:off x="609480" y="6245280"/>
            <a:ext cx="2831400" cy="462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ftr" idx="23"/>
          </p:nvPr>
        </p:nvSpPr>
        <p:spPr>
          <a:xfrm>
            <a:off x="4165560" y="6245280"/>
            <a:ext cx="3847320" cy="462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sldNum" idx="24"/>
          </p:nvPr>
        </p:nvSpPr>
        <p:spPr>
          <a:xfrm>
            <a:off x="8737560" y="6245280"/>
            <a:ext cx="2831400" cy="462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8800" cy="68446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59480" cy="5691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</a:t>
            </a: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l</a:t>
            </a: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i</a:t>
            </a: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</a:t>
            </a: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k</a:t>
            </a: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 </a:t>
            </a: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</a:t>
            </a: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o</a:t>
            </a: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 </a:t>
            </a: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e</a:t>
            </a: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d</a:t>
            </a: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i</a:t>
            </a: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</a:t>
            </a: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 </a:t>
            </a: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M</a:t>
            </a: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a</a:t>
            </a: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</a:t>
            </a: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</a:t>
            </a: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e</a:t>
            </a: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r</a:t>
            </a: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 </a:t>
            </a: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</a:t>
            </a: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i</a:t>
            </a: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</a:t>
            </a: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l</a:t>
            </a: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e</a:t>
            </a: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 </a:t>
            </a: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</a:t>
            </a: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</a:t>
            </a: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y</a:t>
            </a: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l</a:t>
            </a: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10959480" cy="493956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t" vert="eaVer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25"/>
          </p:nvPr>
        </p:nvSpPr>
        <p:spPr>
          <a:xfrm>
            <a:off x="609480" y="6245280"/>
            <a:ext cx="2831400" cy="462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26"/>
          </p:nvPr>
        </p:nvSpPr>
        <p:spPr>
          <a:xfrm>
            <a:off x="4165560" y="6245280"/>
            <a:ext cx="3847320" cy="462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27"/>
          </p:nvPr>
        </p:nvSpPr>
        <p:spPr>
          <a:xfrm>
            <a:off x="8737560" y="6245280"/>
            <a:ext cx="2831400" cy="462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8800" cy="68446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59480" cy="5691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10959480" cy="49395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dt" idx="28"/>
          </p:nvPr>
        </p:nvSpPr>
        <p:spPr>
          <a:xfrm>
            <a:off x="609480" y="6245280"/>
            <a:ext cx="2831400" cy="462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ftr" idx="29"/>
          </p:nvPr>
        </p:nvSpPr>
        <p:spPr>
          <a:xfrm>
            <a:off x="4165560" y="6245280"/>
            <a:ext cx="3847320" cy="462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sldNum" idx="30"/>
          </p:nvPr>
        </p:nvSpPr>
        <p:spPr>
          <a:xfrm>
            <a:off x="8737560" y="6245280"/>
            <a:ext cx="2831400" cy="462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8800" cy="68446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02280" cy="28393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02280" cy="14868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dt" idx="31"/>
          </p:nvPr>
        </p:nvSpPr>
        <p:spPr>
          <a:xfrm>
            <a:off x="609480" y="6245280"/>
            <a:ext cx="2831400" cy="462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ftr" idx="32"/>
          </p:nvPr>
        </p:nvSpPr>
        <p:spPr>
          <a:xfrm>
            <a:off x="4165560" y="6245280"/>
            <a:ext cx="3847320" cy="462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sldNum" idx="33"/>
          </p:nvPr>
        </p:nvSpPr>
        <p:spPr>
          <a:xfrm>
            <a:off x="8737560" y="6245280"/>
            <a:ext cx="2831400" cy="462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0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5.wmf"/><Relationship Id="rId2" Type="http://schemas.openxmlformats.org/officeDocument/2006/relationships/image" Target="../media/image6.wmf"/><Relationship Id="rId3" Type="http://schemas.openxmlformats.org/officeDocument/2006/relationships/slideLayout" Target="../slideLayouts/slideLayout10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0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0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10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slideLayout" Target="../slideLayouts/slideLayout10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slideLayout" Target="../slideLayouts/slideLayout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5.wmf"/><Relationship Id="rId2" Type="http://schemas.openxmlformats.org/officeDocument/2006/relationships/image" Target="../media/image6.wmf"/><Relationship Id="rId3" Type="http://schemas.openxmlformats.org/officeDocument/2006/relationships/slideLayout" Target="../slideLayouts/slideLayout10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png"/><Relationship Id="rId3" Type="http://schemas.openxmlformats.org/officeDocument/2006/relationships/slideLayout" Target="../slideLayouts/slideLayout10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10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slideLayout" Target="../slideLayouts/slideLayout10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10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png"/><Relationship Id="rId3" Type="http://schemas.openxmlformats.org/officeDocument/2006/relationships/image" Target="../media/image22.png"/><Relationship Id="rId4" Type="http://schemas.openxmlformats.org/officeDocument/2006/relationships/image" Target="../media/image21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slideLayout" Target="../slideLayouts/slideLayout10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20.png"/><Relationship Id="rId3" Type="http://schemas.openxmlformats.org/officeDocument/2006/relationships/image" Target="../media/image27.png"/><Relationship Id="rId4" Type="http://schemas.openxmlformats.org/officeDocument/2006/relationships/image" Target="../media/image8.png"/><Relationship Id="rId5" Type="http://schemas.openxmlformats.org/officeDocument/2006/relationships/image" Target="../media/image28.png"/><Relationship Id="rId6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subTitle"/>
          </p:nvPr>
        </p:nvSpPr>
        <p:spPr>
          <a:xfrm>
            <a:off x="734760" y="1720800"/>
            <a:ext cx="10325160" cy="2887200"/>
          </a:xfrm>
          <a:prstGeom prst="rect">
            <a:avLst/>
          </a:prstGeom>
          <a:noFill/>
          <a:ln w="9360">
            <a:noFill/>
          </a:ln>
        </p:spPr>
        <p:txBody>
          <a:bodyPr lIns="91440" rIns="91440" tIns="45720" bIns="45720" anchor="t">
            <a:noAutofit/>
          </a:bodyPr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r>
              <a:rPr lang="en-US" sz="4300" b="1" i="1" u="none" strike="noStrike">
                <a:solidFill>
                  <a:srgbClr val="c00000"/>
                </a:solidFill>
                <a:effectLst/>
                <a:uFillTx/>
                <a:latin typeface="Arial"/>
                <a:ea typeface="SimSun"/>
              </a:rPr>
              <a:t>3D Image Segmentation and Quantification of Lysosomes</a:t>
            </a: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r>
              <a:rPr lang="en-US" sz="4300" b="1" i="1" u="none" strike="noStrike">
                <a:solidFill>
                  <a:srgbClr val="c00000"/>
                </a:solidFill>
                <a:effectLst/>
                <a:uFillTx/>
                <a:latin typeface="Arial"/>
                <a:ea typeface="SimSun"/>
              </a:rPr>
              <a:t>16/4/2025</a:t>
            </a: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9"/>
          <p:cNvSpPr/>
          <p:nvPr/>
        </p:nvSpPr>
        <p:spPr>
          <a:xfrm>
            <a:off x="1143000" y="2743560"/>
            <a:ext cx="10959480" cy="7488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L3 1 SCRIPT WITHOUT SPOTIFLOW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09480" y="135360"/>
            <a:ext cx="2583720" cy="68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 L3 1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Rectangles 7"/>
          <p:cNvSpPr/>
          <p:nvPr/>
        </p:nvSpPr>
        <p:spPr>
          <a:xfrm>
            <a:off x="1440" y="914400"/>
            <a:ext cx="2282040" cy="52473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Erosion = 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Thresholding = 0.0025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margin um = 1.2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overlap alpha = 0.6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viz min voxels = 12000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"/>
          <p:cNvPicPr/>
          <p:nvPr/>
        </p:nvPicPr>
        <p:blipFill>
          <a:blip r:embed="rId1"/>
          <a:stretch/>
        </p:blipFill>
        <p:spPr>
          <a:xfrm>
            <a:off x="2142360" y="1363680"/>
            <a:ext cx="4833360" cy="4122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6" name=""/>
          <p:cNvPicPr/>
          <p:nvPr/>
        </p:nvPicPr>
        <p:blipFill>
          <a:blip r:embed="rId2"/>
          <a:stretch/>
        </p:blipFill>
        <p:spPr>
          <a:xfrm>
            <a:off x="7011360" y="1321200"/>
            <a:ext cx="4883040" cy="4164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609480" y="135360"/>
            <a:ext cx="2583720" cy="68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L3 1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8" name="Picture 88"/>
          <p:cNvPicPr/>
          <p:nvPr/>
        </p:nvPicPr>
        <p:blipFill>
          <a:blip r:embed="rId1"/>
          <a:stretch/>
        </p:blipFill>
        <p:spPr>
          <a:xfrm>
            <a:off x="0" y="1595880"/>
            <a:ext cx="4815720" cy="4116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9" name="Picture 89"/>
          <p:cNvPicPr/>
          <p:nvPr/>
        </p:nvPicPr>
        <p:blipFill>
          <a:blip r:embed="rId2"/>
          <a:stretch/>
        </p:blipFill>
        <p:spPr>
          <a:xfrm>
            <a:off x="5715000" y="1582920"/>
            <a:ext cx="4828680" cy="4129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2"/>
          <p:cNvSpPr/>
          <p:nvPr/>
        </p:nvSpPr>
        <p:spPr>
          <a:xfrm>
            <a:off x="609480" y="-193680"/>
            <a:ext cx="3502800" cy="13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L3 1 CELLS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1" name=""/>
          <p:cNvPicPr/>
          <p:nvPr/>
        </p:nvPicPr>
        <p:blipFill>
          <a:blip r:embed="rId1"/>
          <a:stretch/>
        </p:blipFill>
        <p:spPr>
          <a:xfrm>
            <a:off x="37440" y="906480"/>
            <a:ext cx="5905440" cy="5036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2" name=""/>
          <p:cNvPicPr/>
          <p:nvPr/>
        </p:nvPicPr>
        <p:blipFill>
          <a:blip r:embed="rId2"/>
          <a:stretch/>
        </p:blipFill>
        <p:spPr>
          <a:xfrm>
            <a:off x="6167880" y="914400"/>
            <a:ext cx="5947200" cy="5072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4"/>
          <p:cNvSpPr/>
          <p:nvPr/>
        </p:nvSpPr>
        <p:spPr>
          <a:xfrm>
            <a:off x="609480" y="-193680"/>
            <a:ext cx="3502800" cy="13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L3 1 CELLS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4" name=""/>
          <p:cNvPicPr/>
          <p:nvPr/>
        </p:nvPicPr>
        <p:blipFill>
          <a:blip r:embed="rId1"/>
          <a:stretch/>
        </p:blipFill>
        <p:spPr>
          <a:xfrm>
            <a:off x="46440" y="1143000"/>
            <a:ext cx="5896440" cy="5028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5" name=""/>
          <p:cNvPicPr/>
          <p:nvPr/>
        </p:nvPicPr>
        <p:blipFill>
          <a:blip r:embed="rId2"/>
          <a:stretch/>
        </p:blipFill>
        <p:spPr>
          <a:xfrm>
            <a:off x="6099120" y="1135080"/>
            <a:ext cx="5905800" cy="5036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4"/>
          <p:cNvSpPr/>
          <p:nvPr/>
        </p:nvSpPr>
        <p:spPr>
          <a:xfrm>
            <a:off x="468000" y="239400"/>
            <a:ext cx="10959480" cy="66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DATASETS L3-1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7" name=""/>
          <p:cNvPicPr/>
          <p:nvPr/>
        </p:nvPicPr>
        <p:blipFill>
          <a:blip r:embed="rId1"/>
          <a:stretch/>
        </p:blipFill>
        <p:spPr>
          <a:xfrm>
            <a:off x="5976000" y="228600"/>
            <a:ext cx="4767840" cy="6400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8" name=""/>
          <p:cNvPicPr/>
          <p:nvPr/>
        </p:nvPicPr>
        <p:blipFill>
          <a:blip r:embed="rId2"/>
          <a:stretch/>
        </p:blipFill>
        <p:spPr>
          <a:xfrm>
            <a:off x="1572120" y="2229120"/>
            <a:ext cx="2824560" cy="2342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3"/>
          <p:cNvSpPr/>
          <p:nvPr/>
        </p:nvSpPr>
        <p:spPr>
          <a:xfrm>
            <a:off x="1143000" y="2743560"/>
            <a:ext cx="10959480" cy="7488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L3 1 WITH SPOTIFLOW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3"/>
          <p:cNvSpPr/>
          <p:nvPr/>
        </p:nvSpPr>
        <p:spPr>
          <a:xfrm>
            <a:off x="228600" y="0"/>
            <a:ext cx="10959480" cy="7488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SPOTIFLOW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1" name=""/>
          <p:cNvPicPr/>
          <p:nvPr/>
        </p:nvPicPr>
        <p:blipFill>
          <a:blip r:embed="rId1"/>
          <a:stretch/>
        </p:blipFill>
        <p:spPr>
          <a:xfrm>
            <a:off x="465840" y="4591440"/>
            <a:ext cx="7077960" cy="1123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" name=""/>
          <p:cNvSpPr txBox="1"/>
          <p:nvPr/>
        </p:nvSpPr>
        <p:spPr>
          <a:xfrm>
            <a:off x="228600" y="703080"/>
            <a:ext cx="11201400" cy="2681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computes one global intensity threshold from the smoothed channel 2 image using Otsu’s method.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creates a binary mask: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marL="216000" indent="-2160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True where channel 2 is brighter than the threshold.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marL="216000" indent="-2160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False where it is darker.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 this is your rough “inside cell” mask.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3" name=""/>
          <p:cNvPicPr/>
          <p:nvPr/>
        </p:nvPicPr>
        <p:blipFill>
          <a:blip r:embed="rId2"/>
          <a:stretch/>
        </p:blipFill>
        <p:spPr>
          <a:xfrm>
            <a:off x="3657600" y="1095840"/>
            <a:ext cx="3629160" cy="5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4" name=""/>
          <p:cNvPicPr/>
          <p:nvPr/>
        </p:nvPicPr>
        <p:blipFill>
          <a:blip r:embed="rId3"/>
          <a:stretch/>
        </p:blipFill>
        <p:spPr>
          <a:xfrm>
            <a:off x="1600200" y="2971800"/>
            <a:ext cx="5906160" cy="457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5" name=""/>
          <p:cNvPicPr/>
          <p:nvPr/>
        </p:nvPicPr>
        <p:blipFill>
          <a:blip r:embed="rId4"/>
          <a:stretch/>
        </p:blipFill>
        <p:spPr>
          <a:xfrm>
            <a:off x="1600200" y="3657600"/>
            <a:ext cx="5937840" cy="45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"/>
          <p:cNvSpPr txBox="1"/>
          <p:nvPr/>
        </p:nvSpPr>
        <p:spPr>
          <a:xfrm>
            <a:off x="7772400" y="1143000"/>
            <a:ext cx="4343400" cy="5257800"/>
          </a:xfrm>
          <a:prstGeom prst="rect">
            <a:avLst/>
          </a:prstGeom>
          <a:noFill/>
          <a:ln w="0">
            <a:solidFill>
              <a:srgbClr val="00a933"/>
            </a:solidFill>
          </a:ln>
        </p:spPr>
        <p:txBody>
          <a:bodyPr lIns="90000" rIns="90000" tIns="45000" bIns="45000" anchor="t">
            <a:spAutoFit/>
          </a:bodyPr>
          <a:p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What is Otsu’s method?</a:t>
            </a:r>
            <a:endParaRPr lang="en-US" sz="18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Otsu’s method is an automatic thresholding method.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It tries to split image pixels into two groups: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marL="216000" indent="-2160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background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marL="216000" indent="-2160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foreground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by choosing a threshold that best separates their intensity distributions.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Simply way</a:t>
            </a:r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Imagine a histogram of image intensities: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marL="216000" indent="-2160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one peak for dark background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marL="216000" indent="-2160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one peak for brighter objects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Otsu searches for the threshold between those peaks.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It picks the threshold that gives the best separation between the two classes.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609480" y="135360"/>
            <a:ext cx="2583720" cy="68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 L3 1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Rectangles 2"/>
          <p:cNvSpPr/>
          <p:nvPr/>
        </p:nvSpPr>
        <p:spPr>
          <a:xfrm>
            <a:off x="1440" y="914400"/>
            <a:ext cx="2282040" cy="52473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Erosion = 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Thresholding = 0.0025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margin um = 1.2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overlap alpha = 0.6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viz min voxels = 12000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9" name=""/>
          <p:cNvPicPr/>
          <p:nvPr/>
        </p:nvPicPr>
        <p:blipFill>
          <a:blip r:embed="rId1"/>
          <a:stretch/>
        </p:blipFill>
        <p:spPr>
          <a:xfrm>
            <a:off x="2057400" y="1143000"/>
            <a:ext cx="4571640" cy="4800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0" name=""/>
          <p:cNvPicPr/>
          <p:nvPr/>
        </p:nvPicPr>
        <p:blipFill>
          <a:blip r:embed="rId2"/>
          <a:stretch/>
        </p:blipFill>
        <p:spPr>
          <a:xfrm>
            <a:off x="6813000" y="1143000"/>
            <a:ext cx="5302440" cy="4800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609480" y="135360"/>
            <a:ext cx="2583720" cy="68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L3 1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2" name="Picture 3"/>
          <p:cNvPicPr/>
          <p:nvPr/>
        </p:nvPicPr>
        <p:blipFill>
          <a:blip r:embed="rId1"/>
          <a:stretch/>
        </p:blipFill>
        <p:spPr>
          <a:xfrm>
            <a:off x="0" y="1595880"/>
            <a:ext cx="4815720" cy="4116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3" name="Picture 4"/>
          <p:cNvPicPr/>
          <p:nvPr/>
        </p:nvPicPr>
        <p:blipFill>
          <a:blip r:embed="rId2"/>
          <a:stretch/>
        </p:blipFill>
        <p:spPr>
          <a:xfrm>
            <a:off x="5715000" y="1582920"/>
            <a:ext cx="4828680" cy="4129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8"/>
          <p:cNvSpPr/>
          <p:nvPr/>
        </p:nvSpPr>
        <p:spPr>
          <a:xfrm>
            <a:off x="609480" y="140400"/>
            <a:ext cx="3502800" cy="67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L3 1 CELLS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5" name=""/>
          <p:cNvPicPr/>
          <p:nvPr/>
        </p:nvPicPr>
        <p:blipFill>
          <a:blip r:embed="rId1"/>
          <a:stretch/>
        </p:blipFill>
        <p:spPr>
          <a:xfrm>
            <a:off x="217080" y="1600200"/>
            <a:ext cx="5337000" cy="411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6" name=""/>
          <p:cNvPicPr/>
          <p:nvPr/>
        </p:nvPicPr>
        <p:blipFill>
          <a:blip r:embed="rId2"/>
          <a:stretch/>
        </p:blipFill>
        <p:spPr>
          <a:xfrm>
            <a:off x="5675040" y="1600200"/>
            <a:ext cx="5297400" cy="4084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0"/>
          <p:cNvSpPr/>
          <p:nvPr/>
        </p:nvSpPr>
        <p:spPr>
          <a:xfrm>
            <a:off x="609480" y="140400"/>
            <a:ext cx="3502800" cy="67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L3 1 CELLS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"/>
          <p:cNvPicPr/>
          <p:nvPr/>
        </p:nvPicPr>
        <p:blipFill>
          <a:blip r:embed="rId1"/>
          <a:stretch/>
        </p:blipFill>
        <p:spPr>
          <a:xfrm>
            <a:off x="6172200" y="1537560"/>
            <a:ext cx="5714640" cy="4405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9" name=""/>
          <p:cNvPicPr/>
          <p:nvPr/>
        </p:nvPicPr>
        <p:blipFill>
          <a:blip r:embed="rId2"/>
          <a:stretch/>
        </p:blipFill>
        <p:spPr>
          <a:xfrm>
            <a:off x="188640" y="1506600"/>
            <a:ext cx="5754600" cy="4436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1"/>
          <p:cNvSpPr/>
          <p:nvPr/>
        </p:nvSpPr>
        <p:spPr>
          <a:xfrm>
            <a:off x="468000" y="239400"/>
            <a:ext cx="10959480" cy="66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DATASETS L3-1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1" name=""/>
          <p:cNvPicPr/>
          <p:nvPr/>
        </p:nvPicPr>
        <p:blipFill>
          <a:blip r:embed="rId1"/>
          <a:stretch/>
        </p:blipFill>
        <p:spPr>
          <a:xfrm>
            <a:off x="7172640" y="0"/>
            <a:ext cx="2885400" cy="6915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2" name=""/>
          <p:cNvPicPr/>
          <p:nvPr/>
        </p:nvPicPr>
        <p:blipFill>
          <a:blip r:embed="rId2"/>
          <a:stretch/>
        </p:blipFill>
        <p:spPr>
          <a:xfrm>
            <a:off x="2286000" y="2286000"/>
            <a:ext cx="2900520" cy="2285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6"/>
          <p:cNvSpPr/>
          <p:nvPr/>
        </p:nvSpPr>
        <p:spPr>
          <a:xfrm>
            <a:off x="609480" y="137520"/>
            <a:ext cx="10959480" cy="6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L3 1(manual analysis)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4" name="Picture 101"/>
          <p:cNvPicPr/>
          <p:nvPr/>
        </p:nvPicPr>
        <p:blipFill>
          <a:blip r:embed="rId1"/>
          <a:stretch/>
        </p:blipFill>
        <p:spPr>
          <a:xfrm>
            <a:off x="2057400" y="1143000"/>
            <a:ext cx="7852320" cy="548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5"/>
          <p:cNvSpPr/>
          <p:nvPr/>
        </p:nvSpPr>
        <p:spPr>
          <a:xfrm>
            <a:off x="470160" y="75600"/>
            <a:ext cx="1095948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L3 1(CELL IMAGES, SAME PARAMETERS GUI)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laceHolder 7"/>
          <p:cNvSpPr/>
          <p:nvPr/>
        </p:nvSpPr>
        <p:spPr>
          <a:xfrm>
            <a:off x="228600" y="685800"/>
            <a:ext cx="4571640" cy="748800"/>
          </a:xfrm>
          <a:prstGeom prst="rect">
            <a:avLst/>
          </a:prstGeom>
          <a:noFill/>
          <a:ln w="9360">
            <a:solidFill>
              <a:srgbClr val="2a60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WITH SPOTIFLOW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PlaceHolder 12"/>
          <p:cNvSpPr/>
          <p:nvPr/>
        </p:nvSpPr>
        <p:spPr>
          <a:xfrm>
            <a:off x="6629400" y="685800"/>
            <a:ext cx="5257440" cy="748800"/>
          </a:xfrm>
          <a:prstGeom prst="rect">
            <a:avLst/>
          </a:prstGeom>
          <a:noFill/>
          <a:ln w="9360">
            <a:solidFill>
              <a:srgbClr val="2a60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WITHOUT SPOTIFLOW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8" name=""/>
          <p:cNvPicPr/>
          <p:nvPr/>
        </p:nvPicPr>
        <p:blipFill>
          <a:blip r:embed="rId1"/>
          <a:stretch/>
        </p:blipFill>
        <p:spPr>
          <a:xfrm>
            <a:off x="0" y="1828800"/>
            <a:ext cx="2965320" cy="2285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9" name=""/>
          <p:cNvPicPr/>
          <p:nvPr/>
        </p:nvPicPr>
        <p:blipFill>
          <a:blip r:embed="rId2"/>
          <a:stretch/>
        </p:blipFill>
        <p:spPr>
          <a:xfrm>
            <a:off x="2971800" y="1828800"/>
            <a:ext cx="2964240" cy="2285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0" name=""/>
          <p:cNvPicPr/>
          <p:nvPr/>
        </p:nvPicPr>
        <p:blipFill>
          <a:blip r:embed="rId3"/>
          <a:stretch/>
        </p:blipFill>
        <p:spPr>
          <a:xfrm>
            <a:off x="0" y="4572000"/>
            <a:ext cx="2964960" cy="2285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1" name=""/>
          <p:cNvPicPr/>
          <p:nvPr/>
        </p:nvPicPr>
        <p:blipFill>
          <a:blip r:embed="rId4"/>
          <a:stretch/>
        </p:blipFill>
        <p:spPr>
          <a:xfrm>
            <a:off x="2971800" y="4572000"/>
            <a:ext cx="2977920" cy="229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2" name=""/>
          <p:cNvPicPr/>
          <p:nvPr/>
        </p:nvPicPr>
        <p:blipFill>
          <a:blip r:embed="rId5"/>
          <a:stretch/>
        </p:blipFill>
        <p:spPr>
          <a:xfrm>
            <a:off x="6172200" y="1828800"/>
            <a:ext cx="2798280" cy="2386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3" name=""/>
          <p:cNvSpPr/>
          <p:nvPr/>
        </p:nvSpPr>
        <p:spPr>
          <a:xfrm>
            <a:off x="5943600" y="685800"/>
            <a:ext cx="6480" cy="6182280"/>
          </a:xfrm>
          <a:prstGeom prst="line">
            <a:avLst/>
          </a:prstGeom>
          <a:ln w="91440">
            <a:solidFill>
              <a:srgbClr val="00a9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pic>
        <p:nvPicPr>
          <p:cNvPr id="124" name=""/>
          <p:cNvPicPr/>
          <p:nvPr/>
        </p:nvPicPr>
        <p:blipFill>
          <a:blip r:embed="rId6"/>
          <a:stretch/>
        </p:blipFill>
        <p:spPr>
          <a:xfrm>
            <a:off x="9372600" y="1775160"/>
            <a:ext cx="2742840" cy="2339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5" name=""/>
          <p:cNvPicPr/>
          <p:nvPr/>
        </p:nvPicPr>
        <p:blipFill>
          <a:blip r:embed="rId7"/>
          <a:stretch/>
        </p:blipFill>
        <p:spPr>
          <a:xfrm>
            <a:off x="6195240" y="4353480"/>
            <a:ext cx="2948400" cy="2514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6" name=""/>
          <p:cNvPicPr/>
          <p:nvPr/>
        </p:nvPicPr>
        <p:blipFill>
          <a:blip r:embed="rId8"/>
          <a:stretch/>
        </p:blipFill>
        <p:spPr>
          <a:xfrm>
            <a:off x="9243360" y="4343400"/>
            <a:ext cx="2948400" cy="251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6"/>
          <p:cNvSpPr/>
          <p:nvPr/>
        </p:nvSpPr>
        <p:spPr>
          <a:xfrm>
            <a:off x="457200" y="228600"/>
            <a:ext cx="10959480" cy="133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L3 1(manual.VS.aut spotiflow, not spotiflow)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8" name=""/>
          <p:cNvPicPr/>
          <p:nvPr/>
        </p:nvPicPr>
        <p:blipFill>
          <a:blip r:embed="rId1"/>
          <a:stretch/>
        </p:blipFill>
        <p:spPr>
          <a:xfrm>
            <a:off x="457200" y="1600200"/>
            <a:ext cx="4444200" cy="1161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9" name=""/>
          <p:cNvPicPr/>
          <p:nvPr/>
        </p:nvPicPr>
        <p:blipFill>
          <a:blip r:embed="rId2"/>
          <a:stretch/>
        </p:blipFill>
        <p:spPr>
          <a:xfrm>
            <a:off x="1143000" y="2743200"/>
            <a:ext cx="2964240" cy="2285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0" name=""/>
          <p:cNvPicPr/>
          <p:nvPr/>
        </p:nvPicPr>
        <p:blipFill>
          <a:blip r:embed="rId3"/>
          <a:stretch/>
        </p:blipFill>
        <p:spPr>
          <a:xfrm>
            <a:off x="5991480" y="1591200"/>
            <a:ext cx="4468680" cy="115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1" name=""/>
          <p:cNvPicPr/>
          <p:nvPr/>
        </p:nvPicPr>
        <p:blipFill>
          <a:blip r:embed="rId4"/>
          <a:stretch/>
        </p:blipFill>
        <p:spPr>
          <a:xfrm>
            <a:off x="7020000" y="2743200"/>
            <a:ext cx="2809440" cy="239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2" name=""/>
          <p:cNvPicPr/>
          <p:nvPr/>
        </p:nvPicPr>
        <p:blipFill>
          <a:blip r:embed="rId5"/>
          <a:stretch/>
        </p:blipFill>
        <p:spPr>
          <a:xfrm>
            <a:off x="3610080" y="5257800"/>
            <a:ext cx="3698640" cy="1371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1_Green Color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9900"/>
      </a:accent1>
      <a:accent2>
        <a:srgbClr val="99cc00"/>
      </a:accent2>
      <a:accent3>
        <a:srgbClr val="ffffff"/>
      </a:accent3>
      <a:accent4>
        <a:srgbClr val="000000"/>
      </a:accent4>
      <a:accent5>
        <a:srgbClr val="aacaaa"/>
      </a:accent5>
      <a:accent6>
        <a:srgbClr val="8ab900"/>
      </a:accent6>
      <a:hlink>
        <a:srgbClr val="002060"/>
      </a:hlink>
      <a:folHlink>
        <a:srgbClr val="996600"/>
      </a:folHlink>
    </a:clrScheme>
    <a:fontScheme name="Green Color">
      <a:majorFont>
        <a:latin typeface="Arial" pitchFamily="0" charset="1"/>
        <a:ea typeface="SimSun" pitchFamily="0" charset="1"/>
        <a:cs typeface=""/>
      </a:majorFont>
      <a:minorFont>
        <a:latin typeface="Arial" pitchFamily="0" charset="1"/>
        <a:ea typeface="SimSun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316</TotalTime>
  <Application>LibreOffice/25.8.5.2$Windows_X86_64 LibreOffice_project/9c8b85f387cc00a89945a79c9e6239f32e450ac2</Application>
  <AppVersion>15.0000</AppVersion>
  <Words>254</Words>
  <Paragraphs>44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2024-11-18T13:41:00Z</dcterms:created>
  <dc:creator>Nahuel-Hernan Ramos</dc:creator>
  <dc:description/>
  <dc:language>en-US</dc:language>
  <cp:lastModifiedBy/>
  <dcterms:modified xsi:type="dcterms:W3CDTF">2026-04-15T18:09:53Z</dcterms:modified>
  <cp:revision>1101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01A98073925847589F8FCE52CF4D9B10_13</vt:lpwstr>
  </property>
  <property fmtid="{D5CDD505-2E9C-101B-9397-08002B2CF9AE}" pid="3" name="KSOProductBuildVer">
    <vt:lpwstr>2057-12.9.0.21549</vt:lpwstr>
  </property>
  <property fmtid="{D5CDD505-2E9C-101B-9397-08002B2CF9AE}" pid="4" name="PresentationFormat">
    <vt:lpwstr>Panorámica</vt:lpwstr>
  </property>
  <property fmtid="{D5CDD505-2E9C-101B-9397-08002B2CF9AE}" pid="5" name="Slides">
    <vt:i4>9</vt:i4>
  </property>
</Properties>
</file>