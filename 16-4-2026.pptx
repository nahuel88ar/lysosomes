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media/image6.wmf" ContentType="image/x-wmf"/>
  <Override PartName="/ppt/media/image5.wmf" ContentType="image/x-wmf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79160" cy="684504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" name="PlaceHolder 1"/>
          <p:cNvSpPr>
            <a:spLocks noGrp="1"/>
          </p:cNvSpPr>
          <p:nvPr>
            <p:ph type="dt" idx="1"/>
          </p:nvPr>
        </p:nvSpPr>
        <p:spPr>
          <a:xfrm>
            <a:off x="609480" y="6245280"/>
            <a:ext cx="2831760" cy="4633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ftr" idx="2"/>
          </p:nvPr>
        </p:nvSpPr>
        <p:spPr>
          <a:xfrm>
            <a:off x="4165560" y="6245280"/>
            <a:ext cx="3847680" cy="4633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3"/>
          <p:cNvSpPr>
            <a:spLocks noGrp="1"/>
          </p:cNvSpPr>
          <p:nvPr>
            <p:ph type="sldNum" idx="3"/>
          </p:nvPr>
        </p:nvSpPr>
        <p:spPr>
          <a:xfrm>
            <a:off x="8737560" y="6245280"/>
            <a:ext cx="2831760" cy="4633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79160" cy="684504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8839080" y="190440"/>
            <a:ext cx="2730240" cy="5924160"/>
          </a:xfrm>
          <a:prstGeom prst="rect">
            <a:avLst/>
          </a:prstGeom>
          <a:noFill/>
          <a:ln w="9360">
            <a:noFill/>
          </a:ln>
        </p:spPr>
        <p:txBody>
          <a:bodyPr lIns="45000" rIns="45000" tIns="90000" bIns="90000" anchor="ctr" vert="eaVer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609480" y="190440"/>
            <a:ext cx="8013600" cy="5924160"/>
          </a:xfrm>
          <a:prstGeom prst="rect">
            <a:avLst/>
          </a:prstGeom>
          <a:noFill/>
          <a:ln w="9360">
            <a:noFill/>
          </a:ln>
        </p:spPr>
        <p:txBody>
          <a:bodyPr lIns="45000" rIns="45000" tIns="90000" bIns="90000" anchor="t" vert="eaVer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609480" y="6245280"/>
            <a:ext cx="2831760" cy="4633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4165560" y="6245280"/>
            <a:ext cx="3847680" cy="4633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8737560" y="6245280"/>
            <a:ext cx="2831760" cy="4633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79160" cy="684504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840240" y="457200"/>
            <a:ext cx="3919680" cy="158724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b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5183640" y="987480"/>
            <a:ext cx="6159240" cy="486072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 type="body"/>
          </p:nvPr>
        </p:nvSpPr>
        <p:spPr>
          <a:xfrm>
            <a:off x="840240" y="2057400"/>
            <a:ext cx="3919680" cy="379872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indent="0">
              <a:lnSpc>
                <a:spcPct val="100000"/>
              </a:lnSpc>
              <a:spcBef>
                <a:spcPts val="320"/>
              </a:spcBef>
              <a:buNone/>
              <a:tabLst>
                <a:tab algn="l" pos="0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4"/>
          <p:cNvSpPr>
            <a:spLocks noGrp="1"/>
          </p:cNvSpPr>
          <p:nvPr>
            <p:ph type="dt" idx="7"/>
          </p:nvPr>
        </p:nvSpPr>
        <p:spPr>
          <a:xfrm>
            <a:off x="609480" y="6245280"/>
            <a:ext cx="2831760" cy="4633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5"/>
          <p:cNvSpPr>
            <a:spLocks noGrp="1"/>
          </p:cNvSpPr>
          <p:nvPr>
            <p:ph type="ftr" idx="8"/>
          </p:nvPr>
        </p:nvSpPr>
        <p:spPr>
          <a:xfrm>
            <a:off x="4165560" y="6245280"/>
            <a:ext cx="3847680" cy="4633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6"/>
          <p:cNvSpPr>
            <a:spLocks noGrp="1"/>
          </p:cNvSpPr>
          <p:nvPr>
            <p:ph type="sldNum" idx="9"/>
          </p:nvPr>
        </p:nvSpPr>
        <p:spPr>
          <a:xfrm>
            <a:off x="8737560" y="6245280"/>
            <a:ext cx="2831760" cy="4633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79160" cy="684504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840240" y="457200"/>
            <a:ext cx="3919680" cy="158724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b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body"/>
          </p:nvPr>
        </p:nvSpPr>
        <p:spPr>
          <a:xfrm>
            <a:off x="5183640" y="987480"/>
            <a:ext cx="6159240" cy="48607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marL="431640" indent="-324000">
              <a:lnSpc>
                <a:spcPct val="100000"/>
              </a:lnSpc>
              <a:spcBef>
                <a:spcPts val="141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36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36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360" lvl="4" indent="-216000">
              <a:lnSpc>
                <a:spcPct val="100000"/>
              </a:lnSpc>
              <a:spcBef>
                <a:spcPts val="286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6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6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body"/>
          </p:nvPr>
        </p:nvSpPr>
        <p:spPr>
          <a:xfrm>
            <a:off x="840240" y="2057400"/>
            <a:ext cx="3919680" cy="379872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indent="0">
              <a:lnSpc>
                <a:spcPct val="100000"/>
              </a:lnSpc>
              <a:spcBef>
                <a:spcPts val="320"/>
              </a:spcBef>
              <a:buNone/>
              <a:tabLst>
                <a:tab algn="l" pos="0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 type="dt" idx="10"/>
          </p:nvPr>
        </p:nvSpPr>
        <p:spPr>
          <a:xfrm>
            <a:off x="609480" y="6245280"/>
            <a:ext cx="2831760" cy="4633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5"/>
          <p:cNvSpPr>
            <a:spLocks noGrp="1"/>
          </p:cNvSpPr>
          <p:nvPr>
            <p:ph type="ftr" idx="11"/>
          </p:nvPr>
        </p:nvSpPr>
        <p:spPr>
          <a:xfrm>
            <a:off x="4165560" y="6245280"/>
            <a:ext cx="3847680" cy="4633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6"/>
          <p:cNvSpPr>
            <a:spLocks noGrp="1"/>
          </p:cNvSpPr>
          <p:nvPr>
            <p:ph type="sldNum" idx="12"/>
          </p:nvPr>
        </p:nvSpPr>
        <p:spPr>
          <a:xfrm>
            <a:off x="8737560" y="6245280"/>
            <a:ext cx="2831760" cy="4633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10" hidden="1"/>
          <p:cNvPicPr/>
          <p:nvPr/>
        </p:nvPicPr>
        <p:blipFill>
          <a:blip r:embed="rId2"/>
          <a:stretch/>
        </p:blipFill>
        <p:spPr>
          <a:xfrm>
            <a:off x="0" y="0"/>
            <a:ext cx="12179160" cy="6845040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27" name="Picture 3"/>
          <p:cNvPicPr/>
          <p:nvPr/>
        </p:nvPicPr>
        <p:blipFill>
          <a:blip r:embed="rId3"/>
          <a:stretch/>
        </p:blipFill>
        <p:spPr>
          <a:xfrm>
            <a:off x="0" y="0"/>
            <a:ext cx="12179160" cy="684504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624240" y="3718080"/>
            <a:ext cx="10930320" cy="106956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ctr">
            <a:noAutofit/>
          </a:bodyPr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dt" idx="13"/>
          </p:nvPr>
        </p:nvSpPr>
        <p:spPr>
          <a:xfrm>
            <a:off x="609480" y="6245280"/>
            <a:ext cx="2831760" cy="4633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ftr" idx="14"/>
          </p:nvPr>
        </p:nvSpPr>
        <p:spPr>
          <a:xfrm>
            <a:off x="4165560" y="6245280"/>
            <a:ext cx="3847680" cy="4633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sldNum" idx="15"/>
          </p:nvPr>
        </p:nvSpPr>
        <p:spPr>
          <a:xfrm>
            <a:off x="8737560" y="6245280"/>
            <a:ext cx="2831760" cy="4633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79160" cy="684504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609480" y="190440"/>
            <a:ext cx="10959840" cy="56952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609480" y="1174680"/>
            <a:ext cx="10959840" cy="4939920"/>
          </a:xfrm>
          <a:prstGeom prst="rect">
            <a:avLst/>
          </a:prstGeom>
          <a:noFill/>
          <a:ln w="9360">
            <a:noFill/>
          </a:ln>
        </p:spPr>
        <p:txBody>
          <a:bodyPr lIns="45000" rIns="45000" tIns="90000" bIns="90000" anchor="t" vert="eaVer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dt" idx="16"/>
          </p:nvPr>
        </p:nvSpPr>
        <p:spPr>
          <a:xfrm>
            <a:off x="609480" y="6245280"/>
            <a:ext cx="2831760" cy="4633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ftr" idx="17"/>
          </p:nvPr>
        </p:nvSpPr>
        <p:spPr>
          <a:xfrm>
            <a:off x="4165560" y="6245280"/>
            <a:ext cx="3847680" cy="4633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sldNum" idx="18"/>
          </p:nvPr>
        </p:nvSpPr>
        <p:spPr>
          <a:xfrm>
            <a:off x="8737560" y="6245280"/>
            <a:ext cx="2831760" cy="4633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79160" cy="684504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609480" y="190440"/>
            <a:ext cx="10959840" cy="56952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body"/>
          </p:nvPr>
        </p:nvSpPr>
        <p:spPr>
          <a:xfrm>
            <a:off x="609480" y="1174680"/>
            <a:ext cx="10959840" cy="493992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dt" idx="19"/>
          </p:nvPr>
        </p:nvSpPr>
        <p:spPr>
          <a:xfrm>
            <a:off x="609480" y="6245280"/>
            <a:ext cx="2831760" cy="4633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4"/>
          <p:cNvSpPr>
            <a:spLocks noGrp="1"/>
          </p:cNvSpPr>
          <p:nvPr>
            <p:ph type="ftr" idx="20"/>
          </p:nvPr>
        </p:nvSpPr>
        <p:spPr>
          <a:xfrm>
            <a:off x="4165560" y="6245280"/>
            <a:ext cx="3847680" cy="4633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5"/>
          <p:cNvSpPr>
            <a:spLocks noGrp="1"/>
          </p:cNvSpPr>
          <p:nvPr>
            <p:ph type="sldNum" idx="21"/>
          </p:nvPr>
        </p:nvSpPr>
        <p:spPr>
          <a:xfrm>
            <a:off x="8737560" y="6245280"/>
            <a:ext cx="2831760" cy="4633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79160" cy="684504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02640" cy="283968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b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6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02640" cy="148716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indent="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dt" idx="22"/>
          </p:nvPr>
        </p:nvSpPr>
        <p:spPr>
          <a:xfrm>
            <a:off x="609480" y="6245280"/>
            <a:ext cx="2831760" cy="4633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ftr" idx="23"/>
          </p:nvPr>
        </p:nvSpPr>
        <p:spPr>
          <a:xfrm>
            <a:off x="4165560" y="6245280"/>
            <a:ext cx="3847680" cy="4633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5"/>
          <p:cNvSpPr>
            <a:spLocks noGrp="1"/>
          </p:cNvSpPr>
          <p:nvPr>
            <p:ph type="sldNum" idx="24"/>
          </p:nvPr>
        </p:nvSpPr>
        <p:spPr>
          <a:xfrm>
            <a:off x="8737560" y="6245280"/>
            <a:ext cx="2831760" cy="4633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79160" cy="684504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609480" y="190440"/>
            <a:ext cx="10959840" cy="56952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dt" idx="25"/>
          </p:nvPr>
        </p:nvSpPr>
        <p:spPr>
          <a:xfrm>
            <a:off x="609480" y="6245280"/>
            <a:ext cx="2831760" cy="4633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 type="ftr" idx="26"/>
          </p:nvPr>
        </p:nvSpPr>
        <p:spPr>
          <a:xfrm>
            <a:off x="4165560" y="6245280"/>
            <a:ext cx="3847680" cy="4633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4"/>
          <p:cNvSpPr>
            <a:spLocks noGrp="1"/>
          </p:cNvSpPr>
          <p:nvPr>
            <p:ph type="sldNum" idx="27"/>
          </p:nvPr>
        </p:nvSpPr>
        <p:spPr>
          <a:xfrm>
            <a:off x="8737560" y="6245280"/>
            <a:ext cx="2831760" cy="4633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79160" cy="684504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609480" y="190440"/>
            <a:ext cx="10959840" cy="56952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body"/>
          </p:nvPr>
        </p:nvSpPr>
        <p:spPr>
          <a:xfrm>
            <a:off x="609480" y="1174680"/>
            <a:ext cx="5371920" cy="493992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body"/>
          </p:nvPr>
        </p:nvSpPr>
        <p:spPr>
          <a:xfrm>
            <a:off x="6197760" y="1174680"/>
            <a:ext cx="5371920" cy="493992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PlaceHolder 4"/>
          <p:cNvSpPr>
            <a:spLocks noGrp="1"/>
          </p:cNvSpPr>
          <p:nvPr>
            <p:ph type="dt" idx="28"/>
          </p:nvPr>
        </p:nvSpPr>
        <p:spPr>
          <a:xfrm>
            <a:off x="609480" y="6245280"/>
            <a:ext cx="2831760" cy="4633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5"/>
          <p:cNvSpPr>
            <a:spLocks noGrp="1"/>
          </p:cNvSpPr>
          <p:nvPr>
            <p:ph type="ftr" idx="29"/>
          </p:nvPr>
        </p:nvSpPr>
        <p:spPr>
          <a:xfrm>
            <a:off x="4165560" y="6245280"/>
            <a:ext cx="3847680" cy="4633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" name="PlaceHolder 6"/>
          <p:cNvSpPr>
            <a:spLocks noGrp="1"/>
          </p:cNvSpPr>
          <p:nvPr>
            <p:ph type="sldNum" idx="30"/>
          </p:nvPr>
        </p:nvSpPr>
        <p:spPr>
          <a:xfrm>
            <a:off x="8737560" y="6245280"/>
            <a:ext cx="2831760" cy="4633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79160" cy="684504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840240" y="365040"/>
            <a:ext cx="10502640" cy="131256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 type="body"/>
          </p:nvPr>
        </p:nvSpPr>
        <p:spPr>
          <a:xfrm>
            <a:off x="840240" y="1681200"/>
            <a:ext cx="5145480" cy="81108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b">
            <a:noAutofit/>
          </a:bodyPr>
          <a:p>
            <a:pPr indent="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 type="body"/>
          </p:nvPr>
        </p:nvSpPr>
        <p:spPr>
          <a:xfrm>
            <a:off x="840240" y="2505240"/>
            <a:ext cx="5145480" cy="367164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70680" cy="81108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b">
            <a:noAutofit/>
          </a:bodyPr>
          <a:p>
            <a:pPr indent="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70680" cy="367164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PlaceHolder 6"/>
          <p:cNvSpPr>
            <a:spLocks noGrp="1"/>
          </p:cNvSpPr>
          <p:nvPr>
            <p:ph type="dt" idx="31"/>
          </p:nvPr>
        </p:nvSpPr>
        <p:spPr>
          <a:xfrm>
            <a:off x="609480" y="6245280"/>
            <a:ext cx="2831760" cy="4633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" name="PlaceHolder 7"/>
          <p:cNvSpPr>
            <a:spLocks noGrp="1"/>
          </p:cNvSpPr>
          <p:nvPr>
            <p:ph type="ftr" idx="32"/>
          </p:nvPr>
        </p:nvSpPr>
        <p:spPr>
          <a:xfrm>
            <a:off x="4165560" y="6245280"/>
            <a:ext cx="3847680" cy="4633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" name="PlaceHolder 8"/>
          <p:cNvSpPr>
            <a:spLocks noGrp="1"/>
          </p:cNvSpPr>
          <p:nvPr>
            <p:ph type="sldNum" idx="33"/>
          </p:nvPr>
        </p:nvSpPr>
        <p:spPr>
          <a:xfrm>
            <a:off x="8737560" y="6245280"/>
            <a:ext cx="2831760" cy="4633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7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5.wmf"/><Relationship Id="rId2" Type="http://schemas.openxmlformats.org/officeDocument/2006/relationships/image" Target="../media/image6.wmf"/><Relationship Id="rId3" Type="http://schemas.openxmlformats.org/officeDocument/2006/relationships/slideLayout" Target="../slideLayouts/slideLayout7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8.png"/><Relationship Id="rId3" Type="http://schemas.openxmlformats.org/officeDocument/2006/relationships/slideLayout" Target="../slideLayouts/slideLayout7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0.png"/><Relationship Id="rId3" Type="http://schemas.openxmlformats.org/officeDocument/2006/relationships/slideLayout" Target="../slideLayouts/slideLayout7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12.png"/><Relationship Id="rId3" Type="http://schemas.openxmlformats.org/officeDocument/2006/relationships/slideLayout" Target="../slideLayouts/slideLayout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image" Target="../media/image14.png"/><Relationship Id="rId3" Type="http://schemas.openxmlformats.org/officeDocument/2006/relationships/slideLayout" Target="../slideLayouts/slideLayout7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5.wmf"/><Relationship Id="rId2" Type="http://schemas.openxmlformats.org/officeDocument/2006/relationships/image" Target="../media/image6.wmf"/><Relationship Id="rId3" Type="http://schemas.openxmlformats.org/officeDocument/2006/relationships/slideLayout" Target="../slideLayouts/slideLayout7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png"/><Relationship Id="rId3" Type="http://schemas.openxmlformats.org/officeDocument/2006/relationships/slideLayout" Target="../slideLayouts/slideLayout7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image" Target="../media/image18.png"/><Relationship Id="rId3" Type="http://schemas.openxmlformats.org/officeDocument/2006/relationships/slideLayout" Target="../slideLayouts/slideLayout7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image" Target="../media/image20.png"/><Relationship Id="rId3" Type="http://schemas.openxmlformats.org/officeDocument/2006/relationships/slideLayout" Target="../slideLayouts/slideLayout7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slideLayout" Target="../slideLayouts/slideLayout7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png"/><Relationship Id="rId3" Type="http://schemas.openxmlformats.org/officeDocument/2006/relationships/image" Target="../media/image18.png"/><Relationship Id="rId4" Type="http://schemas.openxmlformats.org/officeDocument/2006/relationships/image" Target="../media/image17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Relationship Id="rId9" Type="http://schemas.openxmlformats.org/officeDocument/2006/relationships/slideLayout" Target="../slideLayouts/slideLayout7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image" Target="../media/image16.png"/><Relationship Id="rId3" Type="http://schemas.openxmlformats.org/officeDocument/2006/relationships/image" Target="../media/image23.png"/><Relationship Id="rId4" Type="http://schemas.openxmlformats.org/officeDocument/2006/relationships/image" Target="../media/image8.png"/><Relationship Id="rId5" Type="http://schemas.openxmlformats.org/officeDocument/2006/relationships/image" Target="../media/image24.png"/><Relationship Id="rId6" Type="http://schemas.openxmlformats.org/officeDocument/2006/relationships/slideLayout" Target="../slideLayouts/slideLayout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subTitle"/>
          </p:nvPr>
        </p:nvSpPr>
        <p:spPr>
          <a:xfrm>
            <a:off x="734760" y="1720800"/>
            <a:ext cx="10325520" cy="2887560"/>
          </a:xfrm>
          <a:prstGeom prst="rect">
            <a:avLst/>
          </a:prstGeom>
          <a:noFill/>
          <a:ln w="9360">
            <a:noFill/>
          </a:ln>
        </p:spPr>
        <p:txBody>
          <a:bodyPr lIns="91440" rIns="91440" tIns="45720" bIns="45720" anchor="t">
            <a:noAutofit/>
          </a:bodyPr>
          <a:p>
            <a:pPr algn="ctr">
              <a:lnSpc>
                <a:spcPct val="100000"/>
              </a:lnSpc>
              <a:spcBef>
                <a:spcPts val="859"/>
              </a:spcBef>
              <a:tabLst>
                <a:tab algn="l" pos="0"/>
              </a:tabLst>
            </a:pPr>
            <a:r>
              <a:rPr lang="en-US" sz="4300" b="1" i="1" u="none" strike="noStrike">
                <a:solidFill>
                  <a:srgbClr val="c00000"/>
                </a:solidFill>
                <a:effectLst/>
                <a:uFillTx/>
                <a:latin typeface="Arial"/>
                <a:ea typeface="SimSun"/>
              </a:rPr>
              <a:t>3D Image Segmentation and Quantification of Lysosomes</a:t>
            </a:r>
            <a:endParaRPr lang="en-US" sz="4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859"/>
              </a:spcBef>
              <a:tabLst>
                <a:tab algn="l" pos="0"/>
              </a:tabLst>
            </a:pPr>
            <a:r>
              <a:rPr lang="en-US" sz="4300" b="1" i="1" u="none" strike="noStrike">
                <a:solidFill>
                  <a:srgbClr val="c00000"/>
                </a:solidFill>
                <a:effectLst/>
                <a:uFillTx/>
                <a:latin typeface="Arial"/>
                <a:ea typeface="SimSun"/>
              </a:rPr>
              <a:t>16/4/2025</a:t>
            </a:r>
            <a:endParaRPr lang="en-US" sz="4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859"/>
              </a:spcBef>
              <a:tabLst>
                <a:tab algn="l" pos="0"/>
              </a:tabLst>
            </a:pPr>
            <a:endParaRPr lang="en-US" sz="4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9"/>
          <p:cNvSpPr/>
          <p:nvPr/>
        </p:nvSpPr>
        <p:spPr>
          <a:xfrm>
            <a:off x="1143000" y="2743560"/>
            <a:ext cx="10959840" cy="74916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6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L3 1 SCRIPT WITHOUT SPOTIFLOW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609480" y="135720"/>
            <a:ext cx="2584080" cy="679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 L3 1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Rectangles 7"/>
          <p:cNvSpPr/>
          <p:nvPr/>
        </p:nvSpPr>
        <p:spPr>
          <a:xfrm>
            <a:off x="1440" y="914400"/>
            <a:ext cx="2282400" cy="524772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Erosion = 8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Thresholding = 0.0025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margin um = 1.2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overlap alpha = 0.6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viz min voxels = 12000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5" name=""/>
          <p:cNvPicPr/>
          <p:nvPr/>
        </p:nvPicPr>
        <p:blipFill>
          <a:blip r:embed="rId1"/>
          <a:stretch/>
        </p:blipFill>
        <p:spPr>
          <a:xfrm>
            <a:off x="2142360" y="1363680"/>
            <a:ext cx="4833720" cy="4122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6" name=""/>
          <p:cNvPicPr/>
          <p:nvPr/>
        </p:nvPicPr>
        <p:blipFill>
          <a:blip r:embed="rId2"/>
          <a:stretch/>
        </p:blipFill>
        <p:spPr>
          <a:xfrm>
            <a:off x="7011360" y="1321200"/>
            <a:ext cx="4883400" cy="41648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/>
          <p:cNvSpPr>
            <a:spLocks noGrp="1"/>
          </p:cNvSpPr>
          <p:nvPr>
            <p:ph type="title"/>
          </p:nvPr>
        </p:nvSpPr>
        <p:spPr>
          <a:xfrm>
            <a:off x="609480" y="135720"/>
            <a:ext cx="2584080" cy="679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L3 1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8" name="Picture 88"/>
          <p:cNvPicPr/>
          <p:nvPr/>
        </p:nvPicPr>
        <p:blipFill>
          <a:blip r:embed="rId1"/>
          <a:stretch/>
        </p:blipFill>
        <p:spPr>
          <a:xfrm>
            <a:off x="0" y="1595880"/>
            <a:ext cx="4816080" cy="41169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9" name="Picture 89"/>
          <p:cNvPicPr/>
          <p:nvPr/>
        </p:nvPicPr>
        <p:blipFill>
          <a:blip r:embed="rId2"/>
          <a:stretch/>
        </p:blipFill>
        <p:spPr>
          <a:xfrm>
            <a:off x="5715000" y="1582920"/>
            <a:ext cx="4829040" cy="4129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2"/>
          <p:cNvSpPr/>
          <p:nvPr/>
        </p:nvSpPr>
        <p:spPr>
          <a:xfrm>
            <a:off x="609480" y="-193680"/>
            <a:ext cx="3503160" cy="133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L3 1 CELLS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1" name=""/>
          <p:cNvPicPr/>
          <p:nvPr/>
        </p:nvPicPr>
        <p:blipFill>
          <a:blip r:embed="rId1"/>
          <a:stretch/>
        </p:blipFill>
        <p:spPr>
          <a:xfrm>
            <a:off x="37440" y="906480"/>
            <a:ext cx="5905800" cy="5036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2" name=""/>
          <p:cNvPicPr/>
          <p:nvPr/>
        </p:nvPicPr>
        <p:blipFill>
          <a:blip r:embed="rId2"/>
          <a:stretch/>
        </p:blipFill>
        <p:spPr>
          <a:xfrm>
            <a:off x="6167880" y="914400"/>
            <a:ext cx="5947560" cy="50724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laceHolder 4"/>
          <p:cNvSpPr/>
          <p:nvPr/>
        </p:nvSpPr>
        <p:spPr>
          <a:xfrm>
            <a:off x="609480" y="-193680"/>
            <a:ext cx="3503160" cy="133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L3 1 CELLS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4" name=""/>
          <p:cNvPicPr/>
          <p:nvPr/>
        </p:nvPicPr>
        <p:blipFill>
          <a:blip r:embed="rId1"/>
          <a:stretch/>
        </p:blipFill>
        <p:spPr>
          <a:xfrm>
            <a:off x="46440" y="1143000"/>
            <a:ext cx="5896800" cy="5028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5" name=""/>
          <p:cNvPicPr/>
          <p:nvPr/>
        </p:nvPicPr>
        <p:blipFill>
          <a:blip r:embed="rId2"/>
          <a:stretch/>
        </p:blipFill>
        <p:spPr>
          <a:xfrm>
            <a:off x="6099120" y="1135080"/>
            <a:ext cx="5906160" cy="50367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PlaceHolder 14"/>
          <p:cNvSpPr/>
          <p:nvPr/>
        </p:nvSpPr>
        <p:spPr>
          <a:xfrm>
            <a:off x="468000" y="239400"/>
            <a:ext cx="10959840" cy="66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DATASETS L3-1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7" name=""/>
          <p:cNvPicPr/>
          <p:nvPr/>
        </p:nvPicPr>
        <p:blipFill>
          <a:blip r:embed="rId1"/>
          <a:stretch/>
        </p:blipFill>
        <p:spPr>
          <a:xfrm>
            <a:off x="5976000" y="228600"/>
            <a:ext cx="4768200" cy="6400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8" name=""/>
          <p:cNvPicPr/>
          <p:nvPr/>
        </p:nvPicPr>
        <p:blipFill>
          <a:blip r:embed="rId2"/>
          <a:stretch/>
        </p:blipFill>
        <p:spPr>
          <a:xfrm>
            <a:off x="1572120" y="2229120"/>
            <a:ext cx="2824920" cy="2342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3"/>
          <p:cNvSpPr/>
          <p:nvPr/>
        </p:nvSpPr>
        <p:spPr>
          <a:xfrm>
            <a:off x="1143000" y="2743560"/>
            <a:ext cx="10959840" cy="74916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6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L3 1 WITH SPOTIFLOW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PlaceHolder 1"/>
          <p:cNvSpPr>
            <a:spLocks noGrp="1"/>
          </p:cNvSpPr>
          <p:nvPr>
            <p:ph type="title"/>
          </p:nvPr>
        </p:nvSpPr>
        <p:spPr>
          <a:xfrm>
            <a:off x="609480" y="135720"/>
            <a:ext cx="2584080" cy="679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 L3 1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Rectangles 2"/>
          <p:cNvSpPr/>
          <p:nvPr/>
        </p:nvSpPr>
        <p:spPr>
          <a:xfrm>
            <a:off x="1440" y="914400"/>
            <a:ext cx="2282400" cy="524772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Erosion = 8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Thresholding = 0.0025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margin um = 1.2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overlap alpha = 0.6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viz min voxels = 12000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2" name=""/>
          <p:cNvPicPr/>
          <p:nvPr/>
        </p:nvPicPr>
        <p:blipFill>
          <a:blip r:embed="rId1"/>
          <a:stretch/>
        </p:blipFill>
        <p:spPr>
          <a:xfrm>
            <a:off x="2057400" y="1143000"/>
            <a:ext cx="4572000" cy="4800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3" name=""/>
          <p:cNvPicPr/>
          <p:nvPr/>
        </p:nvPicPr>
        <p:blipFill>
          <a:blip r:embed="rId2"/>
          <a:stretch/>
        </p:blipFill>
        <p:spPr>
          <a:xfrm>
            <a:off x="6813000" y="1143000"/>
            <a:ext cx="5302800" cy="4800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609480" y="135720"/>
            <a:ext cx="2584080" cy="679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L3 1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5" name="Picture 3"/>
          <p:cNvPicPr/>
          <p:nvPr/>
        </p:nvPicPr>
        <p:blipFill>
          <a:blip r:embed="rId1"/>
          <a:stretch/>
        </p:blipFill>
        <p:spPr>
          <a:xfrm>
            <a:off x="0" y="1595880"/>
            <a:ext cx="4816080" cy="41169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6" name="Picture 4"/>
          <p:cNvPicPr/>
          <p:nvPr/>
        </p:nvPicPr>
        <p:blipFill>
          <a:blip r:embed="rId2"/>
          <a:stretch/>
        </p:blipFill>
        <p:spPr>
          <a:xfrm>
            <a:off x="5715000" y="1582920"/>
            <a:ext cx="4829040" cy="4129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PlaceHolder 8"/>
          <p:cNvSpPr/>
          <p:nvPr/>
        </p:nvSpPr>
        <p:spPr>
          <a:xfrm>
            <a:off x="609480" y="140400"/>
            <a:ext cx="3503160" cy="67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L3 1 CELLS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8" name=""/>
          <p:cNvPicPr/>
          <p:nvPr/>
        </p:nvPicPr>
        <p:blipFill>
          <a:blip r:embed="rId1"/>
          <a:stretch/>
        </p:blipFill>
        <p:spPr>
          <a:xfrm>
            <a:off x="217080" y="1600200"/>
            <a:ext cx="5337360" cy="4114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9" name=""/>
          <p:cNvPicPr/>
          <p:nvPr/>
        </p:nvPicPr>
        <p:blipFill>
          <a:blip r:embed="rId2"/>
          <a:stretch/>
        </p:blipFill>
        <p:spPr>
          <a:xfrm>
            <a:off x="5675040" y="1600200"/>
            <a:ext cx="5297760" cy="4084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0"/>
          <p:cNvSpPr/>
          <p:nvPr/>
        </p:nvSpPr>
        <p:spPr>
          <a:xfrm>
            <a:off x="609480" y="140400"/>
            <a:ext cx="3503160" cy="67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L3 1 CELLS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1" name=""/>
          <p:cNvPicPr/>
          <p:nvPr/>
        </p:nvPicPr>
        <p:blipFill>
          <a:blip r:embed="rId1"/>
          <a:stretch/>
        </p:blipFill>
        <p:spPr>
          <a:xfrm>
            <a:off x="6172200" y="1537560"/>
            <a:ext cx="5715000" cy="4406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2" name=""/>
          <p:cNvPicPr/>
          <p:nvPr/>
        </p:nvPicPr>
        <p:blipFill>
          <a:blip r:embed="rId2"/>
          <a:stretch/>
        </p:blipFill>
        <p:spPr>
          <a:xfrm>
            <a:off x="188640" y="1506600"/>
            <a:ext cx="5754960" cy="4437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PlaceHolder 11"/>
          <p:cNvSpPr/>
          <p:nvPr/>
        </p:nvSpPr>
        <p:spPr>
          <a:xfrm>
            <a:off x="468000" y="239400"/>
            <a:ext cx="10959840" cy="66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DATASETS L3-1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4" name=""/>
          <p:cNvPicPr/>
          <p:nvPr/>
        </p:nvPicPr>
        <p:blipFill>
          <a:blip r:embed="rId1"/>
          <a:stretch/>
        </p:blipFill>
        <p:spPr>
          <a:xfrm>
            <a:off x="7172640" y="0"/>
            <a:ext cx="2885760" cy="6916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5" name=""/>
          <p:cNvPicPr/>
          <p:nvPr/>
        </p:nvPicPr>
        <p:blipFill>
          <a:blip r:embed="rId2"/>
          <a:stretch/>
        </p:blipFill>
        <p:spPr>
          <a:xfrm>
            <a:off x="2286000" y="2286000"/>
            <a:ext cx="2900880" cy="2286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PlaceHolder 6"/>
          <p:cNvSpPr/>
          <p:nvPr/>
        </p:nvSpPr>
        <p:spPr>
          <a:xfrm>
            <a:off x="609480" y="137520"/>
            <a:ext cx="10959840" cy="67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L3 1(manual analysis)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7" name="Picture 101"/>
          <p:cNvPicPr/>
          <p:nvPr/>
        </p:nvPicPr>
        <p:blipFill>
          <a:blip r:embed="rId1"/>
          <a:stretch/>
        </p:blipFill>
        <p:spPr>
          <a:xfrm>
            <a:off x="2057400" y="1143000"/>
            <a:ext cx="7852680" cy="5484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5"/>
          <p:cNvSpPr/>
          <p:nvPr/>
        </p:nvSpPr>
        <p:spPr>
          <a:xfrm>
            <a:off x="470160" y="75600"/>
            <a:ext cx="10959840" cy="54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6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L3 1(CELL IMAGES, SAME PARAMETERS GUI)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PlaceHolder 7"/>
          <p:cNvSpPr/>
          <p:nvPr/>
        </p:nvSpPr>
        <p:spPr>
          <a:xfrm>
            <a:off x="228600" y="685800"/>
            <a:ext cx="4572000" cy="749160"/>
          </a:xfrm>
          <a:prstGeom prst="rect">
            <a:avLst/>
          </a:prstGeom>
          <a:noFill/>
          <a:ln w="9360">
            <a:solidFill>
              <a:srgbClr val="2a60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6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WITH SPOTIFLOW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PlaceHolder 12"/>
          <p:cNvSpPr/>
          <p:nvPr/>
        </p:nvSpPr>
        <p:spPr>
          <a:xfrm>
            <a:off x="6629400" y="685800"/>
            <a:ext cx="5257800" cy="749160"/>
          </a:xfrm>
          <a:prstGeom prst="rect">
            <a:avLst/>
          </a:prstGeom>
          <a:noFill/>
          <a:ln w="9360">
            <a:solidFill>
              <a:srgbClr val="2a60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6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WITHOUT SPOTIFLOW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1" name=""/>
          <p:cNvPicPr/>
          <p:nvPr/>
        </p:nvPicPr>
        <p:blipFill>
          <a:blip r:embed="rId1"/>
          <a:stretch/>
        </p:blipFill>
        <p:spPr>
          <a:xfrm>
            <a:off x="0" y="1828800"/>
            <a:ext cx="2965680" cy="2286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2" name=""/>
          <p:cNvPicPr/>
          <p:nvPr/>
        </p:nvPicPr>
        <p:blipFill>
          <a:blip r:embed="rId2"/>
          <a:stretch/>
        </p:blipFill>
        <p:spPr>
          <a:xfrm>
            <a:off x="2971800" y="1828800"/>
            <a:ext cx="2964600" cy="2286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3" name=""/>
          <p:cNvPicPr/>
          <p:nvPr/>
        </p:nvPicPr>
        <p:blipFill>
          <a:blip r:embed="rId3"/>
          <a:stretch/>
        </p:blipFill>
        <p:spPr>
          <a:xfrm>
            <a:off x="0" y="4572000"/>
            <a:ext cx="2965320" cy="2286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4" name=""/>
          <p:cNvPicPr/>
          <p:nvPr/>
        </p:nvPicPr>
        <p:blipFill>
          <a:blip r:embed="rId4"/>
          <a:stretch/>
        </p:blipFill>
        <p:spPr>
          <a:xfrm>
            <a:off x="2971800" y="4572000"/>
            <a:ext cx="2978280" cy="2296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5" name=""/>
          <p:cNvPicPr/>
          <p:nvPr/>
        </p:nvPicPr>
        <p:blipFill>
          <a:blip r:embed="rId5"/>
          <a:stretch/>
        </p:blipFill>
        <p:spPr>
          <a:xfrm>
            <a:off x="6172200" y="1828800"/>
            <a:ext cx="2798640" cy="2386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6" name=""/>
          <p:cNvSpPr/>
          <p:nvPr/>
        </p:nvSpPr>
        <p:spPr>
          <a:xfrm>
            <a:off x="5943600" y="685800"/>
            <a:ext cx="6480" cy="6182280"/>
          </a:xfrm>
          <a:prstGeom prst="line">
            <a:avLst/>
          </a:prstGeom>
          <a:ln w="91440">
            <a:solidFill>
              <a:srgbClr val="00a9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7" name=""/>
          <p:cNvPicPr/>
          <p:nvPr/>
        </p:nvPicPr>
        <p:blipFill>
          <a:blip r:embed="rId6"/>
          <a:stretch/>
        </p:blipFill>
        <p:spPr>
          <a:xfrm>
            <a:off x="9372600" y="1775160"/>
            <a:ext cx="2743200" cy="2339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8" name=""/>
          <p:cNvPicPr/>
          <p:nvPr/>
        </p:nvPicPr>
        <p:blipFill>
          <a:blip r:embed="rId7"/>
          <a:stretch/>
        </p:blipFill>
        <p:spPr>
          <a:xfrm>
            <a:off x="6195240" y="4353480"/>
            <a:ext cx="2948760" cy="2514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9" name=""/>
          <p:cNvPicPr/>
          <p:nvPr/>
        </p:nvPicPr>
        <p:blipFill>
          <a:blip r:embed="rId8"/>
          <a:stretch/>
        </p:blipFill>
        <p:spPr>
          <a:xfrm>
            <a:off x="9243360" y="4343400"/>
            <a:ext cx="2948760" cy="2514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laceHolder 16"/>
          <p:cNvSpPr/>
          <p:nvPr/>
        </p:nvSpPr>
        <p:spPr>
          <a:xfrm>
            <a:off x="457200" y="228600"/>
            <a:ext cx="10959840" cy="133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L3 1(manual.VS.aut spotiflow, not spotiflow)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1" name=""/>
          <p:cNvPicPr/>
          <p:nvPr/>
        </p:nvPicPr>
        <p:blipFill>
          <a:blip r:embed="rId1"/>
          <a:stretch/>
        </p:blipFill>
        <p:spPr>
          <a:xfrm>
            <a:off x="457200" y="1600200"/>
            <a:ext cx="4444560" cy="1161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2" name=""/>
          <p:cNvPicPr/>
          <p:nvPr/>
        </p:nvPicPr>
        <p:blipFill>
          <a:blip r:embed="rId2"/>
          <a:stretch/>
        </p:blipFill>
        <p:spPr>
          <a:xfrm>
            <a:off x="1143000" y="2743200"/>
            <a:ext cx="2964600" cy="2286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3" name=""/>
          <p:cNvPicPr/>
          <p:nvPr/>
        </p:nvPicPr>
        <p:blipFill>
          <a:blip r:embed="rId3"/>
          <a:stretch/>
        </p:blipFill>
        <p:spPr>
          <a:xfrm>
            <a:off x="5991480" y="1591200"/>
            <a:ext cx="4469040" cy="1152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4" name=""/>
          <p:cNvPicPr/>
          <p:nvPr/>
        </p:nvPicPr>
        <p:blipFill>
          <a:blip r:embed="rId4"/>
          <a:stretch/>
        </p:blipFill>
        <p:spPr>
          <a:xfrm>
            <a:off x="7020000" y="2743200"/>
            <a:ext cx="2809800" cy="2396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5" name=""/>
          <p:cNvPicPr/>
          <p:nvPr/>
        </p:nvPicPr>
        <p:blipFill>
          <a:blip r:embed="rId5"/>
          <a:stretch/>
        </p:blipFill>
        <p:spPr>
          <a:xfrm>
            <a:off x="3610080" y="5257800"/>
            <a:ext cx="3699000" cy="1371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1_Green Color">
  <a:themeElements>
    <a:clrScheme name="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009900"/>
      </a:accent1>
      <a:accent2>
        <a:srgbClr val="99cc00"/>
      </a:accent2>
      <a:accent3>
        <a:srgbClr val="ffffff"/>
      </a:accent3>
      <a:accent4>
        <a:srgbClr val="000000"/>
      </a:accent4>
      <a:accent5>
        <a:srgbClr val="aacaaa"/>
      </a:accent5>
      <a:accent6>
        <a:srgbClr val="8ab900"/>
      </a:accent6>
      <a:hlink>
        <a:srgbClr val="002060"/>
      </a:hlink>
      <a:folHlink>
        <a:srgbClr val="996600"/>
      </a:folHlink>
    </a:clrScheme>
    <a:fontScheme name="Green Color">
      <a:majorFont>
        <a:latin typeface="Arial" pitchFamily="0" charset="1"/>
        <a:ea typeface="SimSun" pitchFamily="0" charset="1"/>
        <a:cs typeface=""/>
      </a:majorFont>
      <a:minorFont>
        <a:latin typeface="Arial" pitchFamily="0" charset="1"/>
        <a:ea typeface="SimSun" pitchFamily="0" charset="1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296</TotalTime>
  <Application>LibreOffice/25.8.5.2$Windows_X86_64 LibreOffice_project/9c8b85f387cc00a89945a79c9e6239f32e450ac2</Application>
  <AppVersion>15.0000</AppVersion>
  <Words>254</Words>
  <Paragraphs>44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2024-11-18T13:41:00Z</dcterms:created>
  <dc:creator>Nahuel-Hernan Ramos</dc:creator>
  <dc:description/>
  <dc:language>en-US</dc:language>
  <cp:lastModifiedBy/>
  <dcterms:modified xsi:type="dcterms:W3CDTF">2026-04-15T17:16:39Z</dcterms:modified>
  <cp:revision>1098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01A98073925847589F8FCE52CF4D9B10_13</vt:lpwstr>
  </property>
  <property fmtid="{D5CDD505-2E9C-101B-9397-08002B2CF9AE}" pid="3" name="KSOProductBuildVer">
    <vt:lpwstr>2057-12.9.0.21549</vt:lpwstr>
  </property>
  <property fmtid="{D5CDD505-2E9C-101B-9397-08002B2CF9AE}" pid="4" name="PresentationFormat">
    <vt:lpwstr>Panorámica</vt:lpwstr>
  </property>
  <property fmtid="{D5CDD505-2E9C-101B-9397-08002B2CF9AE}" pid="5" name="Slides">
    <vt:i4>9</vt:i4>
  </property>
</Properties>
</file>