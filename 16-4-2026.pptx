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5.wmf" ContentType="image/x-wmf"/>
  <Override PartName="/ppt/media/image6.wmf" ContentType="image/x-wmf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9120" cy="568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9120" cy="49392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9120" cy="568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9120" cy="4939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1920" cy="2838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1920" cy="1486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9120" cy="568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9120" cy="568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1200" cy="4939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1200" cy="4939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1920" cy="1311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4760" cy="810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4760" cy="3670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69960" cy="810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69960" cy="3670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29520" cy="592344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2880" cy="592344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8960" cy="1586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8520" cy="4860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8960" cy="3798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8960" cy="1586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8520" cy="486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8960" cy="3798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78440" cy="684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29600" cy="1068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696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1040" cy="46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0.png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4800" cy="288684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16/4/2025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9"/>
          <p:cNvSpPr/>
          <p:nvPr/>
        </p:nvSpPr>
        <p:spPr>
          <a:xfrm>
            <a:off x="1143000" y="2743560"/>
            <a:ext cx="10959120" cy="7484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SCRIPT WITHOUT SPOTIFLOW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135000"/>
            <a:ext cx="2583360" cy="68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s 7"/>
          <p:cNvSpPr/>
          <p:nvPr/>
        </p:nvSpPr>
        <p:spPr>
          <a:xfrm>
            <a:off x="1440" y="914400"/>
            <a:ext cx="2281680" cy="5247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2142360" y="1363680"/>
            <a:ext cx="4833000" cy="412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7011360" y="1321200"/>
            <a:ext cx="4882680" cy="416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135000"/>
            <a:ext cx="2583360" cy="68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88"/>
          <p:cNvPicPr/>
          <p:nvPr/>
        </p:nvPicPr>
        <p:blipFill>
          <a:blip r:embed="rId1"/>
          <a:stretch/>
        </p:blipFill>
        <p:spPr>
          <a:xfrm>
            <a:off x="0" y="1595880"/>
            <a:ext cx="4815360" cy="411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89"/>
          <p:cNvPicPr/>
          <p:nvPr/>
        </p:nvPicPr>
        <p:blipFill>
          <a:blip r:embed="rId2"/>
          <a:stretch/>
        </p:blipFill>
        <p:spPr>
          <a:xfrm>
            <a:off x="5715000" y="1582920"/>
            <a:ext cx="4828320" cy="412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2"/>
          <p:cNvSpPr/>
          <p:nvPr/>
        </p:nvSpPr>
        <p:spPr>
          <a:xfrm>
            <a:off x="609480" y="-193680"/>
            <a:ext cx="350244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37440" y="906480"/>
            <a:ext cx="5905080" cy="503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2"/>
          <a:stretch/>
        </p:blipFill>
        <p:spPr>
          <a:xfrm>
            <a:off x="6167880" y="914400"/>
            <a:ext cx="5946840" cy="507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4"/>
          <p:cNvSpPr/>
          <p:nvPr/>
        </p:nvSpPr>
        <p:spPr>
          <a:xfrm>
            <a:off x="609480" y="-193680"/>
            <a:ext cx="350244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46440" y="1143000"/>
            <a:ext cx="5896080" cy="502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/>
          <p:cNvPicPr/>
          <p:nvPr/>
        </p:nvPicPr>
        <p:blipFill>
          <a:blip r:embed="rId2"/>
          <a:stretch/>
        </p:blipFill>
        <p:spPr>
          <a:xfrm>
            <a:off x="6099120" y="1135080"/>
            <a:ext cx="5905440" cy="50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4"/>
          <p:cNvSpPr/>
          <p:nvPr/>
        </p:nvSpPr>
        <p:spPr>
          <a:xfrm>
            <a:off x="468000" y="239400"/>
            <a:ext cx="1095912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5976000" y="228600"/>
            <a:ext cx="4767480" cy="64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2"/>
          <a:stretch/>
        </p:blipFill>
        <p:spPr>
          <a:xfrm>
            <a:off x="1572120" y="2229120"/>
            <a:ext cx="2824200" cy="234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3"/>
          <p:cNvSpPr/>
          <p:nvPr/>
        </p:nvSpPr>
        <p:spPr>
          <a:xfrm>
            <a:off x="1143000" y="2743560"/>
            <a:ext cx="10959120" cy="7484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WITH SPOTIFLOW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3"/>
          <p:cNvSpPr/>
          <p:nvPr/>
        </p:nvSpPr>
        <p:spPr>
          <a:xfrm>
            <a:off x="228600" y="0"/>
            <a:ext cx="10959120" cy="7484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SPOTIFLOW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465840" y="4591440"/>
            <a:ext cx="7077600" cy="112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"/>
          <p:cNvSpPr/>
          <p:nvPr/>
        </p:nvSpPr>
        <p:spPr>
          <a:xfrm>
            <a:off x="228600" y="703080"/>
            <a:ext cx="11201040" cy="26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computes one global intensity threshold from the smoothed channel 2 image using Otsu’s method.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creates a binary mask: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True where channel 2 is brighter than the threshold.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False where it is darker.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this is your rough “inside cell” mask.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2"/>
          <a:stretch/>
        </p:blipFill>
        <p:spPr>
          <a:xfrm>
            <a:off x="3657600" y="1095840"/>
            <a:ext cx="3628800" cy="50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/>
          <p:cNvPicPr/>
          <p:nvPr/>
        </p:nvPicPr>
        <p:blipFill>
          <a:blip r:embed="rId3"/>
          <a:stretch/>
        </p:blipFill>
        <p:spPr>
          <a:xfrm>
            <a:off x="1600200" y="2971800"/>
            <a:ext cx="590580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/>
          <p:cNvPicPr/>
          <p:nvPr/>
        </p:nvPicPr>
        <p:blipFill>
          <a:blip r:embed="rId4"/>
          <a:stretch/>
        </p:blipFill>
        <p:spPr>
          <a:xfrm>
            <a:off x="1600200" y="3657600"/>
            <a:ext cx="59374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7772400" y="1143000"/>
            <a:ext cx="4343040" cy="5257440"/>
          </a:xfrm>
          <a:prstGeom prst="rect">
            <a:avLst/>
          </a:prstGeom>
          <a:noFill/>
          <a:ln w="0">
            <a:solidFill>
              <a:srgbClr val="00a9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Otsu’s method?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Otsu’s method is an automatic thresholding method.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tries to split image pixels into two groups: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background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foreground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choosing a threshold that best separates their intensity distributions.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Simply way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Imagine a histogram of image intensities: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one peak for dark background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one peak for brighter objects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Otsu searches for the threshold between those peaks.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It picks the threshold that gives the best separation between the two classes.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35000"/>
            <a:ext cx="2583360" cy="68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s 2"/>
          <p:cNvSpPr/>
          <p:nvPr/>
        </p:nvSpPr>
        <p:spPr>
          <a:xfrm>
            <a:off x="1440" y="914400"/>
            <a:ext cx="2281680" cy="5247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2057400" y="1143000"/>
            <a:ext cx="4571280" cy="47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2"/>
          <a:stretch/>
        </p:blipFill>
        <p:spPr>
          <a:xfrm>
            <a:off x="6813000" y="1143000"/>
            <a:ext cx="5302080" cy="479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35000"/>
            <a:ext cx="2583360" cy="68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3"/>
          <p:cNvPicPr/>
          <p:nvPr/>
        </p:nvPicPr>
        <p:blipFill>
          <a:blip r:embed="rId1"/>
          <a:stretch/>
        </p:blipFill>
        <p:spPr>
          <a:xfrm>
            <a:off x="0" y="1595880"/>
            <a:ext cx="4815360" cy="411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4"/>
          <p:cNvPicPr/>
          <p:nvPr/>
        </p:nvPicPr>
        <p:blipFill>
          <a:blip r:embed="rId2"/>
          <a:stretch/>
        </p:blipFill>
        <p:spPr>
          <a:xfrm>
            <a:off x="5715000" y="1582920"/>
            <a:ext cx="4828320" cy="412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8"/>
          <p:cNvSpPr/>
          <p:nvPr/>
        </p:nvSpPr>
        <p:spPr>
          <a:xfrm>
            <a:off x="609480" y="140400"/>
            <a:ext cx="35024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217080" y="1600200"/>
            <a:ext cx="5336640" cy="41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/>
          <p:cNvPicPr/>
          <p:nvPr/>
        </p:nvPicPr>
        <p:blipFill>
          <a:blip r:embed="rId2"/>
          <a:stretch/>
        </p:blipFill>
        <p:spPr>
          <a:xfrm>
            <a:off x="5675040" y="1600200"/>
            <a:ext cx="5297040" cy="408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0"/>
          <p:cNvSpPr/>
          <p:nvPr/>
        </p:nvSpPr>
        <p:spPr>
          <a:xfrm>
            <a:off x="609480" y="140400"/>
            <a:ext cx="35024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/>
          <p:cNvPicPr/>
          <p:nvPr/>
        </p:nvPicPr>
        <p:blipFill>
          <a:blip r:embed="rId1"/>
          <a:stretch/>
        </p:blipFill>
        <p:spPr>
          <a:xfrm>
            <a:off x="6172200" y="1537560"/>
            <a:ext cx="5714280" cy="440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/>
          <p:cNvPicPr/>
          <p:nvPr/>
        </p:nvPicPr>
        <p:blipFill>
          <a:blip r:embed="rId2"/>
          <a:stretch/>
        </p:blipFill>
        <p:spPr>
          <a:xfrm>
            <a:off x="188640" y="1506600"/>
            <a:ext cx="5754240" cy="443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1"/>
          <p:cNvSpPr/>
          <p:nvPr/>
        </p:nvSpPr>
        <p:spPr>
          <a:xfrm>
            <a:off x="468000" y="239400"/>
            <a:ext cx="1095912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7172640" y="0"/>
            <a:ext cx="2885040" cy="691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/>
          <p:cNvPicPr/>
          <p:nvPr/>
        </p:nvPicPr>
        <p:blipFill>
          <a:blip r:embed="rId2"/>
          <a:stretch/>
        </p:blipFill>
        <p:spPr>
          <a:xfrm>
            <a:off x="2286000" y="2286000"/>
            <a:ext cx="2900160" cy="228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6"/>
          <p:cNvSpPr/>
          <p:nvPr/>
        </p:nvSpPr>
        <p:spPr>
          <a:xfrm>
            <a:off x="609480" y="137520"/>
            <a:ext cx="109591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1(manual analysis)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101"/>
          <p:cNvPicPr/>
          <p:nvPr/>
        </p:nvPicPr>
        <p:blipFill>
          <a:blip r:embed="rId1"/>
          <a:stretch/>
        </p:blipFill>
        <p:spPr>
          <a:xfrm>
            <a:off x="2057400" y="1143000"/>
            <a:ext cx="7851960" cy="548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5"/>
          <p:cNvSpPr/>
          <p:nvPr/>
        </p:nvSpPr>
        <p:spPr>
          <a:xfrm>
            <a:off x="470160" y="75600"/>
            <a:ext cx="109591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1(CELL IMAGES, SAME PARAMETERS GUI)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7"/>
          <p:cNvSpPr/>
          <p:nvPr/>
        </p:nvSpPr>
        <p:spPr>
          <a:xfrm>
            <a:off x="228600" y="685800"/>
            <a:ext cx="4571280" cy="748440"/>
          </a:xfrm>
          <a:prstGeom prst="rect">
            <a:avLst/>
          </a:prstGeom>
          <a:noFill/>
          <a:ln w="936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WITH SPOTIFLOW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2"/>
          <p:cNvSpPr/>
          <p:nvPr/>
        </p:nvSpPr>
        <p:spPr>
          <a:xfrm>
            <a:off x="6629400" y="685800"/>
            <a:ext cx="5257080" cy="748440"/>
          </a:xfrm>
          <a:prstGeom prst="rect">
            <a:avLst/>
          </a:prstGeom>
          <a:noFill/>
          <a:ln w="936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WITHOUT SPOTIFLOW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/>
          <p:cNvPicPr/>
          <p:nvPr/>
        </p:nvPicPr>
        <p:blipFill>
          <a:blip r:embed="rId1"/>
          <a:stretch/>
        </p:blipFill>
        <p:spPr>
          <a:xfrm>
            <a:off x="0" y="1828800"/>
            <a:ext cx="2964960" cy="22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/>
          <p:cNvPicPr/>
          <p:nvPr/>
        </p:nvPicPr>
        <p:blipFill>
          <a:blip r:embed="rId2"/>
          <a:stretch/>
        </p:blipFill>
        <p:spPr>
          <a:xfrm>
            <a:off x="2971800" y="1828800"/>
            <a:ext cx="2963880" cy="22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"/>
          <p:cNvPicPr/>
          <p:nvPr/>
        </p:nvPicPr>
        <p:blipFill>
          <a:blip r:embed="rId3"/>
          <a:stretch/>
        </p:blipFill>
        <p:spPr>
          <a:xfrm>
            <a:off x="0" y="4572000"/>
            <a:ext cx="2964600" cy="22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4"/>
          <a:stretch/>
        </p:blipFill>
        <p:spPr>
          <a:xfrm>
            <a:off x="2971800" y="4572000"/>
            <a:ext cx="2977560" cy="229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/>
          <p:cNvPicPr/>
          <p:nvPr/>
        </p:nvPicPr>
        <p:blipFill>
          <a:blip r:embed="rId5"/>
          <a:stretch/>
        </p:blipFill>
        <p:spPr>
          <a:xfrm>
            <a:off x="6172200" y="1828800"/>
            <a:ext cx="2797920" cy="23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"/>
          <p:cNvSpPr/>
          <p:nvPr/>
        </p:nvSpPr>
        <p:spPr>
          <a:xfrm>
            <a:off x="5943600" y="685800"/>
            <a:ext cx="6480" cy="618228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pic>
        <p:nvPicPr>
          <p:cNvPr id="124" name=""/>
          <p:cNvPicPr/>
          <p:nvPr/>
        </p:nvPicPr>
        <p:blipFill>
          <a:blip r:embed="rId6"/>
          <a:stretch/>
        </p:blipFill>
        <p:spPr>
          <a:xfrm>
            <a:off x="9372600" y="1775160"/>
            <a:ext cx="2742480" cy="23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7"/>
          <a:stretch/>
        </p:blipFill>
        <p:spPr>
          <a:xfrm>
            <a:off x="6195240" y="4353480"/>
            <a:ext cx="2948040" cy="25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/>
          <p:cNvPicPr/>
          <p:nvPr/>
        </p:nvPicPr>
        <p:blipFill>
          <a:blip r:embed="rId8"/>
          <a:stretch/>
        </p:blipFill>
        <p:spPr>
          <a:xfrm>
            <a:off x="9243360" y="4343400"/>
            <a:ext cx="2948040" cy="251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6"/>
          <p:cNvSpPr/>
          <p:nvPr/>
        </p:nvSpPr>
        <p:spPr>
          <a:xfrm>
            <a:off x="457200" y="228600"/>
            <a:ext cx="10959120" cy="13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1(manual.VS.aut spotiflow, not spotiflow)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4443840" cy="116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"/>
          <p:cNvPicPr/>
          <p:nvPr/>
        </p:nvPicPr>
        <p:blipFill>
          <a:blip r:embed="rId2"/>
          <a:stretch/>
        </p:blipFill>
        <p:spPr>
          <a:xfrm>
            <a:off x="1143000" y="2743200"/>
            <a:ext cx="2963880" cy="22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"/>
          <p:cNvPicPr/>
          <p:nvPr/>
        </p:nvPicPr>
        <p:blipFill>
          <a:blip r:embed="rId3"/>
          <a:stretch/>
        </p:blipFill>
        <p:spPr>
          <a:xfrm>
            <a:off x="5991480" y="1591200"/>
            <a:ext cx="4468320" cy="115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"/>
          <p:cNvPicPr/>
          <p:nvPr/>
        </p:nvPicPr>
        <p:blipFill>
          <a:blip r:embed="rId4"/>
          <a:stretch/>
        </p:blipFill>
        <p:spPr>
          <a:xfrm>
            <a:off x="7020000" y="2743200"/>
            <a:ext cx="2809080" cy="239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"/>
          <p:cNvPicPr/>
          <p:nvPr/>
        </p:nvPicPr>
        <p:blipFill>
          <a:blip r:embed="rId5"/>
          <a:stretch/>
        </p:blipFill>
        <p:spPr>
          <a:xfrm>
            <a:off x="3610080" y="5257800"/>
            <a:ext cx="3698280" cy="137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242280" y="0"/>
            <a:ext cx="10959120" cy="39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TRACING</a:t>
            </a:r>
            <a:endParaRPr lang="en-US" sz="28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228600" y="402840"/>
            <a:ext cx="11430000" cy="828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ImageJ/Fiji tools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 Neurite Tracer (SNT) – semi-automatic 2D/3D tracing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NeuronJ – manual/semi-manual 2D tracing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3D neuron reconstruction platforms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Vaa3D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-APP2 (automatic tracing)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-SmartTracing / Neutube plugins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Machine learning approaches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ilastik – pixel classification (segmentation before tracing)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DeepNeuron (Vaa3D) – deep learning tracing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U-Net pipelines – custom deep learning segmentation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Python-based workflows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scikit-image – segmentation + skeletonization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networkx – graph reconstruction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Kimimaro – skeletonization (large volumes)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Navis – neuron analysis &amp; visualization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Commercial software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Imaris (Filament Tracer) – user-friendly semi-automatic tracing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Neurolucida – high-end neuron reconstruction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Common output / analysis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SWC format (standard neuron morphology file)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Analysis tools: L-Measure, Navis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Application>LibreOffice/25.8.5.2$Windows_X86_64 LibreOffice_project/9c8b85f387cc00a89945a79c9e6239f32e450ac2</Application>
  <AppVersion>15.0000</AppVersion>
  <Words>254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2026-04-15T18:49:52Z</dcterms:modified>
  <cp:revision>1102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9</vt:i4>
  </property>
</Properties>
</file>