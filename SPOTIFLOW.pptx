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media/image7.emf" ContentType="image/x-emf"/>
  <Override PartName="/ppt/media/image6.emf" ContentType="image/x-emf"/>
  <Override PartName="/ppt/media/image11.emf" ContentType="image/x-emf"/>
  <Override PartName="/ppt/media/image8.emf" ContentType="image/x-emf"/>
  <Override PartName="/ppt/media/image10.emf" ContentType="image/x-emf"/>
  <Override PartName="/ppt/media/image9.emf" ContentType="image/x-em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200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4800" cy="2841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4800" cy="1489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408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4080" cy="4942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4800" cy="1314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7640" cy="813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7640" cy="367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2840" cy="813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2840" cy="367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840" cy="1589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1400" cy="4862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840" cy="3800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1840" cy="1589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1400" cy="48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1840" cy="3800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2400" cy="5926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5760" cy="5926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2480" cy="1071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1320" cy="68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2000" cy="571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2000" cy="49420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984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3920" cy="46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7.emf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7680" cy="28897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26/3/2025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2000" cy="7513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Deep Learning Spot Detection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" y="685800"/>
            <a:ext cx="11652120" cy="100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 </a:t>
            </a: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</a:t>
            </a: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Features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AI for microscopy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Spot detection = identifying single molecules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Use Pretrained Models in 2D and 3D.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Critical for quantitative biology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Problems or challenges of the biology detection: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High noise levels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Overlapping / dense spots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Low signal-to-noise ratio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Manual parameter tuning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5720" y="-358560"/>
            <a:ext cx="8828280" cy="20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4400"/>
            </a:b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Classical Methods</a:t>
            </a:r>
            <a:br>
              <a:rPr sz="44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28600" y="685800"/>
            <a:ext cx="11652120" cy="63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Thresholding + filtering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Gaussian fitting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Blob detection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Limitations in generalization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-443160"/>
            <a:ext cx="10962000" cy="146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Deep Learning Shift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35080" y="228600"/>
            <a:ext cx="11652120" cy="908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CNN-based detection(Convolutional Neural Network):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Model learns what a lysosome looks like and finds it directly.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Spotiflow is already a CNN, but only predicts centers (not size)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It’s a type of AI model that learns patterns in images automatically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Learns features from data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Reduces manual tuning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Improves robustness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Spotiflow Overview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28600" y="685800"/>
            <a:ext cx="11652120" cy="9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Predicts two outputs: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1. Heatmap (probability of spot)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2. Flow field (direction vectors)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Combines both for detection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Deep learning (heatmap + flow)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Flow Concept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Each pixel predicts direction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Vectors point toward nearest spot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Intersection → spot center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57200" y="4800600"/>
            <a:ext cx="16002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429000" y="4572000"/>
            <a:ext cx="1600200" cy="8582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Neural networking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400800" y="4572000"/>
            <a:ext cx="16002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Heatmap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400800" y="5257800"/>
            <a:ext cx="16002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372600" y="4884120"/>
            <a:ext cx="1600200" cy="6022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 coordinates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 flipV="1">
            <a:off x="2057400" y="5028840"/>
            <a:ext cx="1371600" cy="2286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5029200" y="4571640"/>
            <a:ext cx="1371600" cy="2286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 flipV="1">
            <a:off x="5029200" y="5257440"/>
            <a:ext cx="1371600" cy="2286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V="1" rot="496200">
            <a:off x="7991640" y="4702680"/>
            <a:ext cx="1371600" cy="2286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8001000" y="5257440"/>
            <a:ext cx="1371600" cy="2286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Python Frameworks Used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28600" y="685800"/>
            <a:ext cx="11652120" cy="71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PyTorch (deep learning)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NumPy (data handling)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SciPy (image processing)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scikit-image (analysis)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Matplotlib (visualization)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35080" y="914400"/>
            <a:ext cx="11652120" cy="69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Supervised learning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Ground truth spot annotations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Loss combines heatmap + flow accuracy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Data augmentation improves robustness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/>
          <p:nvPr/>
        </p:nvSpPr>
        <p:spPr>
          <a:xfrm>
            <a:off x="609840" y="350280"/>
            <a:ext cx="109620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Training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228600" y="685800"/>
            <a:ext cx="11652120" cy="56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Run trained model on new images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Predict flow vectors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Cluster convergence points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Extract precise spot positions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/>
          <p:nvPr/>
        </p:nvSpPr>
        <p:spPr>
          <a:xfrm>
            <a:off x="609840" y="44280"/>
            <a:ext cx="1096200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Inference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Mathematical Formulation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28600" y="685800"/>
            <a:ext cx="11652120" cy="58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Heatmap: probability density of spot centers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Flow: vector field v(x,y) → center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Optimization: minimize L = L_heatmap + L_flow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Subpixel localization via convergence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-4320"/>
            <a:ext cx="10962000" cy="5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Post-processing Algorithm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28600" y="685800"/>
            <a:ext cx="11652120" cy="64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Initialize pixels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Follow flow vectors iteratively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Cluster convergence points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58466"/>
              </a:buClr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Extract final coordinates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Interface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324000" y="904680"/>
            <a:ext cx="3593880" cy="57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 txBox="1"/>
          <p:nvPr/>
        </p:nvSpPr>
        <p:spPr>
          <a:xfrm>
            <a:off x="4343400" y="228600"/>
            <a:ext cx="75438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ch2 raw(puncta), ch1 raw(cells)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Axes order: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ZYX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data is interpreted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 = depth (slices)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 = height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 = width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detects spots in full 3D volume, not slice-by-slice.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considers spatial continuity across Z.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type: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Pre-trained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 ready-made neural network.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Pre-trained model (3D):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synth_3d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model trained on synthetic 3D spot-like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Works well for: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Spherical/compact bright spots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Isotropic-ish objects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6"/>
          <p:cNvSpPr txBox="1"/>
          <p:nvPr/>
        </p:nvSpPr>
        <p:spPr>
          <a:xfrm>
            <a:off x="156960" y="82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Interface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28600" y="685800"/>
            <a:ext cx="1165896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Normalize image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Applies intensity normalization across the 3D stack.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Helps compensate for:depth attenuation and uneven illumination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Normalization percentiles low: 1.0%(Removes very dark background noise)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High: 99.8%(Caps very bright pixels)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3D, this is especially useful because intensity often varies with depth.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7"/>
          <p:cNvSpPr txBox="1"/>
          <p:nvPr/>
        </p:nvSpPr>
        <p:spPr>
          <a:xfrm>
            <a:off x="156960" y="82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Interface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28600" y="685800"/>
            <a:ext cx="1165896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Subpixel prediction 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Outputs spot coordinates with fractional precision (x.y, y.z, z.t).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for: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accurate spatial measurements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downstream quantification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🔹 Postprocessing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optimized probability threshold 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 determines detection cutoff.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3D, this is very helpful since manual tuning is harder.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Minimum distance: 2.0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Minimum spacing between detected spots (in pixels).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⚠️ In 3D, this applies in XYZ space, not just XY.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Interpretation: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two detections are closer than 2 pixels → merged or suppressed.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👉 Important: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your Z spacing is larger than XY (common!), this value may need adjustment.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8"/>
          <p:cNvSpPr txBox="1"/>
          <p:nvPr/>
        </p:nvSpPr>
        <p:spPr>
          <a:xfrm>
            <a:off x="156960" y="82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Interface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28600" y="686160"/>
            <a:ext cx="11658960" cy="572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🔹 Advanced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 infer tiling 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Splits volume into smaller blocks during inference.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Prevents memory crashes with large stacks.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👉 Highly recommended for 3D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CNN output 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Disabled.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enabled, would show: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probability maps (where the model “thinks” spots are)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Visualize channels separately 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relevant here since: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selected a single channel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🔹 Detect spots (button)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full pipeline: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Apply 3D CNN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Postprocess detections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points layer in napari with (Z, Y, X) coordinates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s 7"/>
          <p:cNvSpPr/>
          <p:nvPr/>
        </p:nvSpPr>
        <p:spPr>
          <a:xfrm>
            <a:off x="1440" y="914400"/>
            <a:ext cx="2284560" cy="5249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2057400" y="1600200"/>
            <a:ext cx="4825080" cy="411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/>
          <p:cNvPicPr/>
          <p:nvPr/>
        </p:nvPicPr>
        <p:blipFill>
          <a:blip r:embed="rId2"/>
          <a:stretch/>
        </p:blipFill>
        <p:spPr>
          <a:xfrm>
            <a:off x="6882480" y="1600200"/>
            <a:ext cx="4824720" cy="411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37880"/>
            <a:ext cx="258624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0" y="1595880"/>
            <a:ext cx="481824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/>
          <p:cNvPicPr/>
          <p:nvPr/>
        </p:nvPicPr>
        <p:blipFill>
          <a:blip r:embed="rId2"/>
          <a:stretch/>
        </p:blipFill>
        <p:spPr>
          <a:xfrm>
            <a:off x="5715000" y="1582920"/>
            <a:ext cx="4831200" cy="41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2"/>
          <p:cNvSpPr txBox="1"/>
          <p:nvPr/>
        </p:nvSpPr>
        <p:spPr>
          <a:xfrm>
            <a:off x="609480" y="-193680"/>
            <a:ext cx="35053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1"/>
          <a:stretch/>
        </p:blipFill>
        <p:spPr>
          <a:xfrm>
            <a:off x="3020400" y="1115640"/>
            <a:ext cx="6185520" cy="464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4"/>
          <p:cNvSpPr txBox="1"/>
          <p:nvPr/>
        </p:nvSpPr>
        <p:spPr>
          <a:xfrm>
            <a:off x="609480" y="-193680"/>
            <a:ext cx="35053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317320" y="818280"/>
            <a:ext cx="7591680" cy="523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37160"/>
            <a:ext cx="10962000" cy="67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7086600" y="815760"/>
            <a:ext cx="3231360" cy="551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/>
          <p:cNvPicPr/>
          <p:nvPr/>
        </p:nvPicPr>
        <p:blipFill>
          <a:blip r:embed="rId2"/>
          <a:stretch/>
        </p:blipFill>
        <p:spPr>
          <a:xfrm>
            <a:off x="1143000" y="1600200"/>
            <a:ext cx="2786400" cy="212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1939</TotalTime>
  <Application>LibreOffice/25.8.5.1$Windows_X86_64 LibreOffice_project/cde5f182e321816108385dd3739c4295be919062</Application>
  <AppVersion>15.0000</AppVersion>
  <Words>3518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2026-03-25T19:20:45Z</dcterms:modified>
  <cp:revision>1062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15</vt:i4>
  </property>
</Properties>
</file>