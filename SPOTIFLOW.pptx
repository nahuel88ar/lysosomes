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2000" cy="571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2000" cy="4942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04800" cy="2841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04800" cy="1489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2000" cy="571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2000" cy="571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74080" cy="4942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74080" cy="49420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504800" cy="1314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7640" cy="813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7640" cy="3673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72840" cy="8132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72840" cy="36738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7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8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" name="PlaceHolder 1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1840" cy="1589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1400" cy="4862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1840" cy="3800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21840" cy="1589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61400" cy="4862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21840" cy="38008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32400" cy="59263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5760" cy="59263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0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32480" cy="10717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81320" cy="6847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62000" cy="571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62000" cy="49420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984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33920" cy="465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7680" cy="28897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26/3/2025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2743200"/>
            <a:ext cx="10962000" cy="7513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SPOTIFLOW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-4320"/>
            <a:ext cx="10962000" cy="5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Deep Learning Spot Detection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228600" y="685800"/>
            <a:ext cx="11652120" cy="10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3000" b="0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  </a:t>
            </a:r>
            <a:r>
              <a:rPr lang="en-US" sz="3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  </a:t>
            </a:r>
            <a:r>
              <a:rPr lang="en-US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Features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AI for microscopy analysis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 detection = identifying single molecules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Use Pretrained Models in 2D and 3D.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Critical for quantitative biology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1" u="none" strike="noStrike">
                <a:solidFill>
                  <a:srgbClr val="2a6099"/>
                </a:solidFill>
                <a:effectLst/>
                <a:uFillTx/>
                <a:latin typeface="Arial"/>
                <a:ea typeface="SimSun"/>
              </a:rPr>
              <a:t>Problems or challenges of the biology detection: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High noise levels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Overlapping / dense spots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Low signal-to-noise ratio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Manual parameter tuning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15720" y="-358560"/>
            <a:ext cx="8828280" cy="2011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4400"/>
            </a:b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la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si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c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al 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M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et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h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o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d</a:t>
            </a: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</a:t>
            </a:r>
            <a:br>
              <a:rPr sz="4400"/>
            </a:b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28600" y="685800"/>
            <a:ext cx="11652120" cy="633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Thresholding + filtering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Gaussian fitting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Blob detection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Limitations in generalization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-443160"/>
            <a:ext cx="10962000" cy="146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br>
              <a:rPr sz="3200"/>
            </a:b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Deep Learning Shift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235080" y="228600"/>
            <a:ext cx="11652120" cy="908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CNN-based detection(Convolutional Neural Network):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Model learns what a lysosome looks like and finds it directly.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Spotiflow is already a CNN, but only predicts centers (not size)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It’s a type of AI model that learns patterns in images automatically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Learns features from data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Reduces manual tuning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Improves robustness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609480" y="-4320"/>
            <a:ext cx="10962000" cy="5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Spotiflow Overview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228600" y="685800"/>
            <a:ext cx="11652120" cy="9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Predicts two outputs: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1. Heatmap (probability of spot)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2. Flow field (direction vectors)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Combines both for detection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Deep learning (heatmap + flow)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Flow Concept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Each pixel predicts direction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Vectors point toward nearest spot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Intersection → spot center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57200" y="4800600"/>
            <a:ext cx="1600200" cy="457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3429000" y="4572000"/>
            <a:ext cx="1600200" cy="85824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networking processing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400800" y="4572000"/>
            <a:ext cx="1600200" cy="457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Heatmap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400800" y="5257800"/>
            <a:ext cx="1600200" cy="45720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9372600" y="4884120"/>
            <a:ext cx="1600200" cy="602280"/>
          </a:xfrm>
          <a:prstGeom prst="rect">
            <a:avLst/>
          </a:prstGeom>
          <a:solidFill>
            <a:srgbClr val="729fcf"/>
          </a:solidFill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 coordinates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 flipV="1">
            <a:off x="2057400" y="5028840"/>
            <a:ext cx="1371600" cy="228600"/>
          </a:xfrm>
          <a:prstGeom prst="rightArrow">
            <a:avLst>
              <a:gd name="adj1" fmla="val 50000"/>
              <a:gd name="adj2" fmla="val 150000"/>
            </a:avLst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 flipV="1">
            <a:off x="5029200" y="4571640"/>
            <a:ext cx="1371600" cy="228600"/>
          </a:xfrm>
          <a:prstGeom prst="rightArrow">
            <a:avLst>
              <a:gd name="adj1" fmla="val 50000"/>
              <a:gd name="adj2" fmla="val 150000"/>
            </a:avLst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 flipV="1">
            <a:off x="5029200" y="5257440"/>
            <a:ext cx="1371600" cy="228600"/>
          </a:xfrm>
          <a:prstGeom prst="rightArrow">
            <a:avLst>
              <a:gd name="adj1" fmla="val 50000"/>
              <a:gd name="adj2" fmla="val 150000"/>
            </a:avLst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 flipV="1" rot="496200">
            <a:off x="7991640" y="4702680"/>
            <a:ext cx="1371600" cy="228600"/>
          </a:xfrm>
          <a:prstGeom prst="rightArrow">
            <a:avLst>
              <a:gd name="adj1" fmla="val 50000"/>
              <a:gd name="adj2" fmla="val 150000"/>
            </a:avLst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 flipV="1">
            <a:off x="8001000" y="5257440"/>
            <a:ext cx="1371600" cy="228600"/>
          </a:xfrm>
          <a:prstGeom prst="rightArrow">
            <a:avLst>
              <a:gd name="adj1" fmla="val 50000"/>
              <a:gd name="adj2" fmla="val 150000"/>
            </a:avLst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-4320"/>
            <a:ext cx="10962000" cy="5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Python Frameworks Used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228600" y="685800"/>
            <a:ext cx="11652120" cy="71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PyTorch (deep learning)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NumPy (data handling)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SciPy (image processing)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scikit-image (analysis)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158466"/>
              </a:buClr>
              <a:buFont typeface="Wingdings" charset="2"/>
              <a:buChar char=""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Matplotlib (visualization)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235080" y="914400"/>
            <a:ext cx="11652120" cy="69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Supervised learning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Ground truth spot annotations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Loss combines heatmap + flow accuracy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Data augmentation improves robustness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/>
          <p:nvPr/>
        </p:nvSpPr>
        <p:spPr>
          <a:xfrm>
            <a:off x="609840" y="350280"/>
            <a:ext cx="1096200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40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Training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228600" y="685800"/>
            <a:ext cx="11652120" cy="56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Run trained model on new images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Predict flow vectors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Cluster convergence points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Extract precise spot positions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5"/>
          <p:cNvSpPr/>
          <p:nvPr/>
        </p:nvSpPr>
        <p:spPr>
          <a:xfrm>
            <a:off x="609840" y="44280"/>
            <a:ext cx="1096200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Inference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4"/>
          <p:cNvSpPr/>
          <p:nvPr/>
        </p:nvSpPr>
        <p:spPr>
          <a:xfrm>
            <a:off x="609840" y="45720"/>
            <a:ext cx="1096200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Threshold block size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"/>
          <p:cNvGraphicFramePr/>
          <p:nvPr/>
        </p:nvGraphicFramePr>
        <p:xfrm>
          <a:off x="1827000" y="733680"/>
          <a:ext cx="8457840" cy="5825160"/>
        </p:xfrm>
        <a:graphic>
          <a:graphicData uri="http://schemas.openxmlformats.org/drawingml/2006/table">
            <a:tbl>
              <a:tblPr/>
              <a:tblGrid>
                <a:gridCol w="2113560"/>
                <a:gridCol w="1047600"/>
                <a:gridCol w="3818880"/>
                <a:gridCol w="14781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MEANING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869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&gt;201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Threshold changes slowly across image.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smooth illumination.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Good for thick neurites.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May miss very thin branches.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Can create small gaps in thin areas.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large region.”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Smooth, conservative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697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&lt;91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Detects thin neurites better.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Adapts quickly to local changes.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More sensitive to noise.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16000" indent="-216000" algn="ctr">
                        <a:lnSpc>
                          <a:spcPct val="100000"/>
                        </a:lnSpc>
                        <a:buClr>
                          <a:srgbClr val="000000"/>
                        </a:buClr>
                        <a:buSzPct val="45000"/>
                        <a:buFont typeface="Wingdings" charset="2"/>
                        <a:buChar char=""/>
                      </a:pPr>
                      <a:r>
                        <a:rPr lang="en-US" sz="14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 Mask may look patchy.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“You judge brightness compared to a tiny neighborhood.”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Sensitive, detailed mask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609480" y="-4320"/>
            <a:ext cx="10962000" cy="5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28600" y="685800"/>
            <a:ext cx="11652120" cy="38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strict are we?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This controls how much we lower the threshold so this value decides how easy it is for a pixel to be considered neurite.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" name=""/>
          <p:cNvGraphicFramePr/>
          <p:nvPr/>
        </p:nvGraphicFramePr>
        <p:xfrm>
          <a:off x="1626840" y="1883520"/>
          <a:ext cx="5846760" cy="4822920"/>
        </p:xfrm>
        <a:graphic>
          <a:graphicData uri="http://schemas.openxmlformats.org/drawingml/2006/table">
            <a:tbl>
              <a:tblPr/>
              <a:tblGrid>
                <a:gridCol w="1770480"/>
                <a:gridCol w="877680"/>
                <a:gridCol w="3198960"/>
              </a:tblGrid>
              <a:tr h="272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VALUE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DESCRIPTION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701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BIG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&gt;0.20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-Dim neurites kept.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-Fewer gaps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-More noise included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“Even slightly bright pixels are allowed.”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8705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SMALL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&lt;0.10 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-Strict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-Only bright neurites kept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rial"/>
                        </a:rPr>
                        <a:t>-Dim neurites may disappear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simply words: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“Only clearly bright pixels count.”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-4320"/>
            <a:ext cx="10962000" cy="5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Threshold block size and Threshold offset std multiplier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28600" y="685800"/>
            <a:ext cx="11652120" cy="275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58466"/>
                </a:solidFill>
                <a:effectLst/>
                <a:uFillTx/>
                <a:latin typeface="Arial"/>
                <a:ea typeface="SimSun"/>
              </a:rPr>
              <a:t>Comparison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4" name=""/>
          <p:cNvGraphicFramePr/>
          <p:nvPr/>
        </p:nvGraphicFramePr>
        <p:xfrm>
          <a:off x="2107080" y="713520"/>
          <a:ext cx="6070680" cy="1040040"/>
        </p:xfrm>
        <a:graphic>
          <a:graphicData uri="http://schemas.openxmlformats.org/drawingml/2006/table">
            <a:tbl>
              <a:tblPr/>
              <a:tblGrid>
                <a:gridCol w="2894760"/>
                <a:gridCol w="3176280"/>
              </a:tblGrid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What it controls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block_size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LOCAL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offset_std_mult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How STRICT the decision is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>
            <a:off x="140400" y="2057400"/>
            <a:ext cx="9915480" cy="53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How They Work Together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Large block + small offset: Very conservative mask → possible broken branches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Small block + large offset: 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Very permissive mask → noise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block_size =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“How big is the area I compare each pixel to?”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offset_std_mult =</a:t>
            </a: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“How easy do I allow pixels to pass the threshold?”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If you see broken branches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Increase offset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40"/>
              </a:spcBef>
              <a:spcAft>
                <a:spcPts val="142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Or decrease block_size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If you see too much noise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Decrease offset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→ Or increase block_size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6" name=""/>
          <p:cNvGraphicFramePr/>
          <p:nvPr/>
        </p:nvGraphicFramePr>
        <p:xfrm>
          <a:off x="6841800" y="2035080"/>
          <a:ext cx="5075280" cy="17334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Situation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 COMBINATIONS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Thick bright axons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151–201 + 0.12–0.15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Thin dim neurites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91–151 + 0.18–0.22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Very noisy image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201 + 0.08–0.12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Highly fragmented mask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101 + 0.18–0.22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7" name=""/>
          <p:cNvGraphicFramePr/>
          <p:nvPr/>
        </p:nvGraphicFramePr>
        <p:xfrm>
          <a:off x="6944760" y="4153680"/>
          <a:ext cx="5075280" cy="17334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You want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 this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continuity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Increase offset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Less noise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Decrease offset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sensitivity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Decrease block 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More smooth mask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Increase block size 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137880"/>
            <a:ext cx="2586240" cy="67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s 104"/>
          <p:cNvSpPr/>
          <p:nvPr/>
        </p:nvSpPr>
        <p:spPr>
          <a:xfrm>
            <a:off x="0" y="1143000"/>
            <a:ext cx="2284560" cy="52498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Closing=8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 =0.7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Intesity_min_frac =0.45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thres_block_ size=101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thres_offset_mult=0.2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tretch/>
        </p:blipFill>
        <p:spPr>
          <a:xfrm>
            <a:off x="2286000" y="1371600"/>
            <a:ext cx="5356800" cy="456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"/>
          <p:cNvPicPr/>
          <p:nvPr/>
        </p:nvPicPr>
        <p:blipFill>
          <a:blip r:embed="rId2"/>
          <a:stretch/>
        </p:blipFill>
        <p:spPr>
          <a:xfrm>
            <a:off x="6629400" y="1371600"/>
            <a:ext cx="5359320" cy="457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137880"/>
            <a:ext cx="2586240" cy="67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s 4"/>
          <p:cNvSpPr/>
          <p:nvPr/>
        </p:nvSpPr>
        <p:spPr>
          <a:xfrm>
            <a:off x="0" y="1143000"/>
            <a:ext cx="2284560" cy="52498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Closing=8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 =0.7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Intesity_min_frac =0.45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thres_block_ size=101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thres_offset_mult=0.2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"/>
          <p:cNvPicPr/>
          <p:nvPr/>
        </p:nvPicPr>
        <p:blipFill>
          <a:blip r:embed="rId1"/>
          <a:stretch/>
        </p:blipFill>
        <p:spPr>
          <a:xfrm>
            <a:off x="2286000" y="1371600"/>
            <a:ext cx="5359320" cy="457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2"/>
          <a:stretch/>
        </p:blipFill>
        <p:spPr>
          <a:xfrm>
            <a:off x="6629400" y="1371600"/>
            <a:ext cx="5359680" cy="457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480" y="137880"/>
            <a:ext cx="2586240" cy="67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s 7"/>
          <p:cNvSpPr/>
          <p:nvPr/>
        </p:nvSpPr>
        <p:spPr>
          <a:xfrm>
            <a:off x="229320" y="914400"/>
            <a:ext cx="2284560" cy="52498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2800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Closing=8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 =0.7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Intesity_min_frac =0.45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thres_block_ size=151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thres_offset_mult=0.15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tretch/>
        </p:blipFill>
        <p:spPr>
          <a:xfrm>
            <a:off x="2286000" y="1143000"/>
            <a:ext cx="5297040" cy="451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2"/>
          <a:stretch/>
        </p:blipFill>
        <p:spPr>
          <a:xfrm>
            <a:off x="6794640" y="1143360"/>
            <a:ext cx="536004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137880"/>
            <a:ext cx="2586240" cy="67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s 3"/>
          <p:cNvSpPr/>
          <p:nvPr/>
        </p:nvSpPr>
        <p:spPr>
          <a:xfrm>
            <a:off x="0" y="1143000"/>
            <a:ext cx="2284560" cy="52498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0.8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2800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max_gap_UM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Closing=8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Cos_min =0.7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Intesity_min_frac =0.45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thres_block_ size=101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thres_offset_mult=0.2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"/>
          <p:cNvPicPr/>
          <p:nvPr/>
        </p:nvPicPr>
        <p:blipFill>
          <a:blip r:embed="rId1"/>
          <a:stretch/>
        </p:blipFill>
        <p:spPr>
          <a:xfrm>
            <a:off x="2057400" y="1371600"/>
            <a:ext cx="5359320" cy="457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"/>
          <p:cNvPicPr/>
          <p:nvPr/>
        </p:nvPicPr>
        <p:blipFill>
          <a:blip r:embed="rId2"/>
          <a:stretch/>
        </p:blipFill>
        <p:spPr>
          <a:xfrm>
            <a:off x="6599880" y="1239120"/>
            <a:ext cx="5514480" cy="470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137160"/>
            <a:ext cx="10962000" cy="67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0H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108"/>
          <p:cNvPicPr/>
          <p:nvPr/>
        </p:nvPicPr>
        <p:blipFill>
          <a:blip r:embed="rId1"/>
          <a:stretch/>
        </p:blipFill>
        <p:spPr>
          <a:xfrm>
            <a:off x="457200" y="914400"/>
            <a:ext cx="4956480" cy="525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Picture 109"/>
          <p:cNvPicPr/>
          <p:nvPr/>
        </p:nvPicPr>
        <p:blipFill>
          <a:blip r:embed="rId2"/>
          <a:stretch/>
        </p:blipFill>
        <p:spPr>
          <a:xfrm>
            <a:off x="5718600" y="951840"/>
            <a:ext cx="4335480" cy="522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1664</TotalTime>
  <Application>LibreOffice/25.8.5.1$Windows_X86_64 LibreOffice_project/cde5f182e321816108385dd3739c4295be919062</Application>
  <AppVersion>15.0000</AppVersion>
  <Words>3518</Words>
  <Paragraphs>166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2026-03-25T14:03:09Z</dcterms:modified>
  <cp:revision>1057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15</vt:i4>
  </property>
</Properties>
</file>