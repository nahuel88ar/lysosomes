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media/image12.wmf" ContentType="image/x-wmf"/>
  <Override PartName="/ppt/media/image11.wmf" ContentType="image/x-wmf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28160" cy="1067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4552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7680" cy="567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57680" cy="49377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4552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7680" cy="567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57680" cy="4937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4552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00480" cy="28375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00480" cy="14850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4552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7680" cy="567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4552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7680" cy="567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69760" cy="4937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69760" cy="4937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4552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00480" cy="1310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43320" cy="808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43320" cy="36694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68520" cy="808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68520" cy="36694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4552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4552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28080" cy="59220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1440" cy="59220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4552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17520" cy="1585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57080" cy="4858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17520" cy="3796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4552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7000" cy="684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17520" cy="1585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57080" cy="4858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17520" cy="3796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4552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29600" cy="4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1.wmf"/><Relationship Id="rId2" Type="http://schemas.openxmlformats.org/officeDocument/2006/relationships/image" Target="../media/image12.wmf"/><Relationship Id="rId3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1.wmf"/><Relationship Id="rId2" Type="http://schemas.openxmlformats.org/officeDocument/2006/relationships/image" Target="../media/image12.wmf"/><Relationship Id="rId3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7.png"/><Relationship Id="rId6" Type="http://schemas.openxmlformats.org/officeDocument/2006/relationships/image" Target="../media/image13.png"/><Relationship Id="rId7" Type="http://schemas.openxmlformats.org/officeDocument/2006/relationships/image" Target="../media/image19.png"/><Relationship Id="rId8" Type="http://schemas.openxmlformats.org/officeDocument/2006/relationships/image" Target="../media/image15.png"/><Relationship Id="rId9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23360" cy="28854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16/4/2025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242280" y="-16200"/>
            <a:ext cx="10957680" cy="427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SPOTIFLOW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228600" y="402840"/>
            <a:ext cx="11428560" cy="697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DOCUMENTATION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https://www.nature.com/articles/s41592-025-02662-x</a:t>
            </a:r>
            <a:r>
              <a:rPr lang="en-US" sz="36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(PAPER)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https://weigertlab.org/spotiflow/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https://pypi.org/project/napari-spotiflow/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https://forum.image.sc/t/qupath-extension-spotiflow-is-now-available/115646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242280" y="-16200"/>
            <a:ext cx="10957680" cy="427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MY SCRIPT AND SPOTIFLOW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228600" y="402840"/>
            <a:ext cx="11428560" cy="493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Difference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"/>
          <p:cNvGraphicFramePr/>
          <p:nvPr/>
        </p:nvGraphicFramePr>
        <p:xfrm>
          <a:off x="1600200" y="1600200"/>
          <a:ext cx="8457840" cy="4082400"/>
        </p:xfrm>
        <a:graphic>
          <a:graphicData uri="http://schemas.openxmlformats.org/drawingml/2006/table">
            <a:tbl>
              <a:tblPr/>
              <a:tblGrid>
                <a:gridCol w="2818800"/>
                <a:gridCol w="2818800"/>
                <a:gridCol w="2820600"/>
              </a:tblGrid>
              <a:tr h="97092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2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MY SCRIPT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2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SPOTIFLOW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709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DETECTION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classical image processing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deep learning model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709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METHOD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 (blob_log) + Gaussian fit + radial refinement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trained neural network → spot prediction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734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ASSUMPTION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blobs are roughly Gaussian + symmetric + intensity-driven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model has learned what a lysosome looks like (shape + context)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242280" y="-16200"/>
            <a:ext cx="10957680" cy="427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MY SCRIPT AND </a:t>
            </a: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SPOTIFLOW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228600" y="402840"/>
            <a:ext cx="11428560" cy="48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2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Pipeline logic comparison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9" name=""/>
          <p:cNvGraphicFramePr/>
          <p:nvPr/>
        </p:nvGraphicFramePr>
        <p:xfrm>
          <a:off x="1515240" y="1183680"/>
          <a:ext cx="9914400" cy="4082400"/>
        </p:xfrm>
        <a:graphic>
          <a:graphicData uri="http://schemas.openxmlformats.org/drawingml/2006/table">
            <a:tbl>
              <a:tblPr/>
              <a:tblGrid>
                <a:gridCol w="3304080"/>
                <a:gridCol w="3304080"/>
                <a:gridCol w="3306600"/>
              </a:tblGrid>
              <a:tr h="9709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STAGES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2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MY SCRIPT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2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SPOTIFLOW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709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CHANNEL 1(LYSOSOMES)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detect blobs → refine radii 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Ch2 → segment cells (FIRST)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→ build mask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709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CHANNEL 2(CELLS)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segment cells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Ch1 → detect ONLY inside mask (Spotiflow)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734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classify lysosomes into cells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→ refine radii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→ classify lysosomes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0" name=""/>
          <p:cNvSpPr/>
          <p:nvPr/>
        </p:nvSpPr>
        <p:spPr>
          <a:xfrm>
            <a:off x="3429000" y="5292000"/>
            <a:ext cx="6400440" cy="132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Spotiflow uses biology (cell mask) to guide detection.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My script is blind detection everywhere.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242280" y="-16200"/>
            <a:ext cx="10957680" cy="427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MY SCRIPT AND SPOTIFLOW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228600" y="228600"/>
            <a:ext cx="11428560" cy="48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2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Detection strategy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3" name=""/>
          <p:cNvGraphicFramePr/>
          <p:nvPr/>
        </p:nvGraphicFramePr>
        <p:xfrm>
          <a:off x="1429920" y="745920"/>
          <a:ext cx="9771480" cy="5883480"/>
        </p:xfrm>
        <a:graphic>
          <a:graphicData uri="http://schemas.openxmlformats.org/drawingml/2006/table">
            <a:tbl>
              <a:tblPr/>
              <a:tblGrid>
                <a:gridCol w="3256560"/>
                <a:gridCol w="3256560"/>
                <a:gridCol w="3258360"/>
              </a:tblGrid>
              <a:tr h="49932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2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MY SCRIPT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2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SPOTIFLOW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219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Strengths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lnSpc>
                          <a:spcPct val="100000"/>
                        </a:lnSpc>
                        <a:spcBef>
                          <a:spcPts val="340"/>
                        </a:spcBef>
                        <a:spcAft>
                          <a:spcPts val="142"/>
                        </a:spcAft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spcBef>
                          <a:spcPts val="340"/>
                        </a:spcBef>
                        <a:spcAft>
                          <a:spcPts val="142"/>
                        </a:spcAft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 training dependency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Good when: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2-Spots are round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3-Background is relatively uniform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Learned features: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1-shape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2-intensity patterns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3-local context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Much more robust to: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1-variable illumination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2-heterogeneous background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3-structured noise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Built-in suppression: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1-prob_thresh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2-min_distance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341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Weaknesses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Sensitive to: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1-background gradients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2-illumination changes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3-noise spikes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Requires tuning: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1-BLOB_THRESHOLD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2-sigma ranges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Produces: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1-false positives in noisy regions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2-missed dim lysosomes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Model: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trained on smFISH, not lysosomes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May: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1-miss unusual morphologies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2-over-detect in textures similar to training data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Less interpretable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242280" y="-16200"/>
            <a:ext cx="10957680" cy="427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MY SCRIPT AND SPOTIFLOW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228600" y="402840"/>
            <a:ext cx="11428560" cy="46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Advantages vs Disadvantages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"/>
          <p:cNvGraphicFramePr/>
          <p:nvPr/>
        </p:nvGraphicFramePr>
        <p:xfrm>
          <a:off x="1584360" y="729360"/>
          <a:ext cx="10323720" cy="6019200"/>
        </p:xfrm>
        <a:graphic>
          <a:graphicData uri="http://schemas.openxmlformats.org/drawingml/2006/table">
            <a:tbl>
              <a:tblPr/>
              <a:tblGrid>
                <a:gridCol w="2172600"/>
                <a:gridCol w="4182120"/>
                <a:gridCol w="3969360"/>
              </a:tblGrid>
              <a:tr h="46872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2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MY SCRIPT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2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SPOTIFLOW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879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1" u="none" strike="noStrik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  <a:ea typeface="SimSun"/>
                        </a:rPr>
                        <a:t>Advantages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Simple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Transparent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Fully controllable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 dependency on pretrained model .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Works well on clean data.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Robust to noise and illumination.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Uses biological mask → fewer false positives.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Better detection of weak signals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Less parameter tuning needed.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More consistent across datasets.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319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1" u="none" strike="noStrike">
                          <a:solidFill>
                            <a:srgbClr val="2a6099"/>
                          </a:solidFill>
                          <a:effectLst/>
                          <a:uFillTx/>
                          <a:latin typeface="Arial"/>
                          <a:ea typeface="SimSun"/>
                        </a:rPr>
                        <a:t>Disadvantages 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Very sensitive to noise.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Needs manual tuning per dataset.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 robust to illumination variation.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Detects outside cells → wasted detections.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Struggles with dim or irregular lysosomes.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Depends on pretrained model.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Harder to debug.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May miss atypical lysosomes.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Slightly heavier computationally.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242280" y="-16200"/>
            <a:ext cx="10957680" cy="427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CONCLUSION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228600" y="402840"/>
            <a:ext cx="11428560" cy="854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SPOTIFLOW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According to the Spotiflow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documentation I can research, 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works best with images that have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illumination variation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and a lot of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noise. However, the training model I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use, called Sm Fish 3D, is not yet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able to detect the correct geometry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of lysosomes, which leads to over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detection and many false positives.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can't capture the center of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spots or their shape, giving me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incorrect radii. Its weakness is that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it's not based on lysosomes, and I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would have to research how to train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 new model from scratch, which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would take more time.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MY 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Regarding my script, when dealing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with noisy images and illumination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variation, it needs to define more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parameters, making it less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automated and adaptable to other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types of images, although it does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manage to better capture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geometry and location of the centers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of each lysosomes.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On the other hand, I could try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improve the preprocessing before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detection and try to automate more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parameters.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SOLUTION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What I propose is, in order not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delay the project any further, while I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process the new images, I will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improve the preprocessing of my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script to eliminate as much noise as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possible and look for ways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automate more parameters.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3"/>
          <p:cNvSpPr/>
          <p:nvPr/>
        </p:nvSpPr>
        <p:spPr>
          <a:xfrm>
            <a:off x="1143000" y="2743560"/>
            <a:ext cx="10957680" cy="7470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WITH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3"/>
          <p:cNvSpPr/>
          <p:nvPr/>
        </p:nvSpPr>
        <p:spPr>
          <a:xfrm>
            <a:off x="228600" y="0"/>
            <a:ext cx="10957680" cy="7470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228600" y="703080"/>
            <a:ext cx="11199600" cy="73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 managed to get the model to run only on the mask I generated earlier, so I no longer detect thousands of spots, but I still have false positives within the cells.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Remove some sections to obtain the cleanest possible mask during preprocessing before applying Spotiflow. Use 2 parameters in the Spotiflow model.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6"/>
          <p:cNvSpPr/>
          <p:nvPr/>
        </p:nvSpPr>
        <p:spPr>
          <a:xfrm>
            <a:off x="228600" y="0"/>
            <a:ext cx="10957680" cy="7470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SPOTIFLOW PARAMETERS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28600" y="703080"/>
            <a:ext cx="11199600" cy="83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parameters in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Spotiflow: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1)Probability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model assigns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probability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(confidence) to each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 spot. Only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detections above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threshold are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kept.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value (e.g.,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0.3–0.5) → more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sensitive→ detects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spots, but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increases false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Higher value (e.g.,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0.6–0.8) → more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strict→ fewer false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positives, but may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 weak/low-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intensity spots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2)Minimum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distance: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controls how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 two detected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spots are allowed to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enforces a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distance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(in pixels/voxels)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between detected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 centers.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two detections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are closer than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this, typically only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is kept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(usually the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stronger one).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0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Effect: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Smaller value →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allows tightly packed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spots→ risk of over-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segmentation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(multiple detections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one object)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Larger value →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enforces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separation→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prevents duplicates,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but may merge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nearby distinct spots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9"/>
          <p:cNvSpPr/>
          <p:nvPr/>
        </p:nvSpPr>
        <p:spPr>
          <a:xfrm>
            <a:off x="228600" y="0"/>
            <a:ext cx="10957680" cy="7470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L3-1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"/>
          <p:cNvPicPr/>
          <p:nvPr/>
        </p:nvPicPr>
        <p:blipFill>
          <a:blip r:embed="rId1"/>
          <a:stretch/>
        </p:blipFill>
        <p:spPr>
          <a:xfrm>
            <a:off x="228600" y="1371600"/>
            <a:ext cx="6147000" cy="473940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96" name=""/>
          <p:cNvPicPr/>
          <p:nvPr/>
        </p:nvPicPr>
        <p:blipFill>
          <a:blip r:embed="rId2"/>
          <a:stretch/>
        </p:blipFill>
        <p:spPr>
          <a:xfrm>
            <a:off x="6400800" y="506160"/>
            <a:ext cx="5572440" cy="209520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97" name=""/>
          <p:cNvPicPr/>
          <p:nvPr/>
        </p:nvPicPr>
        <p:blipFill>
          <a:blip r:embed="rId3"/>
          <a:stretch/>
        </p:blipFill>
        <p:spPr>
          <a:xfrm>
            <a:off x="7178760" y="2971800"/>
            <a:ext cx="4479840" cy="3211560"/>
          </a:xfrm>
          <a:prstGeom prst="rect">
            <a:avLst/>
          </a:prstGeom>
          <a:noFill/>
          <a:ln w="36720">
            <a:noFill/>
          </a:ln>
        </p:spPr>
      </p:pic>
      <p:sp>
        <p:nvSpPr>
          <p:cNvPr id="98" name=""/>
          <p:cNvSpPr txBox="1"/>
          <p:nvPr/>
        </p:nvSpPr>
        <p:spPr>
          <a:xfrm>
            <a:off x="9372600" y="159840"/>
            <a:ext cx="2743200" cy="34632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SPOTS DETECTED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 flipV="1">
            <a:off x="10287000" y="506160"/>
            <a:ext cx="685800" cy="408240"/>
          </a:xfrm>
          <a:prstGeom prst="line">
            <a:avLst/>
          </a:prstGeom>
          <a:ln w="1836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2"/>
          <p:cNvSpPr/>
          <p:nvPr/>
        </p:nvSpPr>
        <p:spPr>
          <a:xfrm>
            <a:off x="228600" y="0"/>
            <a:ext cx="10957680" cy="7470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L3-1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228600" y="1778760"/>
            <a:ext cx="11199600" cy="45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 the GUI set an interval of 0.2–0.6, based on the histogram of diameters I obtained from L3–1 with my script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, not SPOTIFLOW.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"/>
          <p:cNvPicPr/>
          <p:nvPr/>
        </p:nvPicPr>
        <p:blipFill>
          <a:blip r:embed="rId1"/>
          <a:stretch/>
        </p:blipFill>
        <p:spPr>
          <a:xfrm>
            <a:off x="1600200" y="457200"/>
            <a:ext cx="4517640" cy="365760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03" name=""/>
          <p:cNvPicPr/>
          <p:nvPr/>
        </p:nvPicPr>
        <p:blipFill>
          <a:blip r:embed="rId2"/>
          <a:stretch/>
        </p:blipFill>
        <p:spPr>
          <a:xfrm>
            <a:off x="6267240" y="457200"/>
            <a:ext cx="5160960" cy="3668040"/>
          </a:xfrm>
          <a:prstGeom prst="rect">
            <a:avLst/>
          </a:prstGeom>
          <a:noFill/>
          <a:ln w="36720">
            <a:noFill/>
          </a:ln>
        </p:spPr>
      </p:pic>
      <p:sp>
        <p:nvSpPr>
          <p:cNvPr id="104" name=""/>
          <p:cNvSpPr txBox="1"/>
          <p:nvPr/>
        </p:nvSpPr>
        <p:spPr>
          <a:xfrm>
            <a:off x="0" y="1828800"/>
            <a:ext cx="1600200" cy="914400"/>
          </a:xfrm>
          <a:prstGeom prst="rect">
            <a:avLst/>
          </a:prstGeom>
          <a:noFill/>
          <a:ln w="3672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SPOTIFLOW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>
            <a:off x="199800" y="1600200"/>
            <a:ext cx="4372200" cy="457200"/>
          </a:xfrm>
          <a:prstGeom prst="rect">
            <a:avLst/>
          </a:prstGeom>
          <a:solidFill>
            <a:srgbClr val="ffffff"/>
          </a:solidFill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4"/>
          <p:cNvSpPr/>
          <p:nvPr/>
        </p:nvSpPr>
        <p:spPr>
          <a:xfrm>
            <a:off x="228600" y="0"/>
            <a:ext cx="10957680" cy="7470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L3-1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"/>
          <p:cNvPicPr/>
          <p:nvPr/>
        </p:nvPicPr>
        <p:blipFill>
          <a:blip r:embed="rId1"/>
          <a:stretch/>
        </p:blipFill>
        <p:spPr>
          <a:xfrm>
            <a:off x="199800" y="1208160"/>
            <a:ext cx="4600800" cy="176364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08" name=""/>
          <p:cNvPicPr/>
          <p:nvPr/>
        </p:nvPicPr>
        <p:blipFill>
          <a:blip r:embed="rId2"/>
          <a:stretch/>
        </p:blipFill>
        <p:spPr>
          <a:xfrm>
            <a:off x="5029200" y="685800"/>
            <a:ext cx="7116120" cy="5486400"/>
          </a:xfrm>
          <a:prstGeom prst="rect">
            <a:avLst/>
          </a:prstGeom>
          <a:noFill/>
          <a:ln w="36720">
            <a:noFill/>
          </a:ln>
        </p:spPr>
      </p:pic>
      <p:sp>
        <p:nvSpPr>
          <p:cNvPr id="109" name=""/>
          <p:cNvSpPr txBox="1"/>
          <p:nvPr/>
        </p:nvSpPr>
        <p:spPr>
          <a:xfrm>
            <a:off x="262800" y="3657600"/>
            <a:ext cx="4309200" cy="1762920"/>
          </a:xfrm>
          <a:prstGeom prst="rect">
            <a:avLst/>
          </a:prstGeom>
          <a:noFill/>
          <a:ln w="3672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Finally, in the Napari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interface, I filtered out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SPOTS outside of cells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and detected them in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regions that are not cells,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just background noise.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 flipV="1">
            <a:off x="3886200" y="457200"/>
            <a:ext cx="685800" cy="1143000"/>
          </a:xfrm>
          <a:prstGeom prst="line">
            <a:avLst/>
          </a:prstGeom>
          <a:ln w="1836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572000" y="228600"/>
            <a:ext cx="3886200" cy="34632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SPOTS DETECTED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133560"/>
            <a:ext cx="2581920" cy="68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s 2"/>
          <p:cNvSpPr/>
          <p:nvPr/>
        </p:nvSpPr>
        <p:spPr>
          <a:xfrm>
            <a:off x="1440" y="914400"/>
            <a:ext cx="2280240" cy="52455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13000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SPOTIFLOW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PROB THRES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MIN_DIST=4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"/>
          <p:cNvPicPr/>
          <p:nvPr/>
        </p:nvPicPr>
        <p:blipFill>
          <a:blip r:embed="rId1"/>
          <a:stretch/>
        </p:blipFill>
        <p:spPr>
          <a:xfrm>
            <a:off x="2057400" y="1600200"/>
            <a:ext cx="4800600" cy="370116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15" name=""/>
          <p:cNvPicPr/>
          <p:nvPr/>
        </p:nvPicPr>
        <p:blipFill>
          <a:blip r:embed="rId2"/>
          <a:stretch/>
        </p:blipFill>
        <p:spPr>
          <a:xfrm>
            <a:off x="7154640" y="1609200"/>
            <a:ext cx="4732560" cy="3648600"/>
          </a:xfrm>
          <a:prstGeom prst="rect">
            <a:avLst/>
          </a:prstGeom>
          <a:noFill/>
          <a:ln w="3672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609480" y="133560"/>
            <a:ext cx="2581920" cy="68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Picture 3"/>
          <p:cNvPicPr/>
          <p:nvPr/>
        </p:nvPicPr>
        <p:blipFill>
          <a:blip r:embed="rId1"/>
          <a:stretch/>
        </p:blipFill>
        <p:spPr>
          <a:xfrm>
            <a:off x="0" y="1595880"/>
            <a:ext cx="4813920" cy="411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Picture 4"/>
          <p:cNvPicPr/>
          <p:nvPr/>
        </p:nvPicPr>
        <p:blipFill>
          <a:blip r:embed="rId2"/>
          <a:stretch/>
        </p:blipFill>
        <p:spPr>
          <a:xfrm>
            <a:off x="5715000" y="1582920"/>
            <a:ext cx="4826880" cy="412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8"/>
          <p:cNvSpPr/>
          <p:nvPr/>
        </p:nvSpPr>
        <p:spPr>
          <a:xfrm>
            <a:off x="609480" y="140400"/>
            <a:ext cx="35010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"/>
          <p:cNvPicPr/>
          <p:nvPr/>
        </p:nvPicPr>
        <p:blipFill>
          <a:blip r:embed="rId1"/>
          <a:stretch/>
        </p:blipFill>
        <p:spPr>
          <a:xfrm>
            <a:off x="1143000" y="914400"/>
            <a:ext cx="3429000" cy="264348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21" name=""/>
          <p:cNvPicPr/>
          <p:nvPr/>
        </p:nvPicPr>
        <p:blipFill>
          <a:blip r:embed="rId2"/>
          <a:stretch/>
        </p:blipFill>
        <p:spPr>
          <a:xfrm>
            <a:off x="5766840" y="914400"/>
            <a:ext cx="3377160" cy="260352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22" name=""/>
          <p:cNvPicPr/>
          <p:nvPr/>
        </p:nvPicPr>
        <p:blipFill>
          <a:blip r:embed="rId3"/>
          <a:stretch/>
        </p:blipFill>
        <p:spPr>
          <a:xfrm>
            <a:off x="1034280" y="3657600"/>
            <a:ext cx="3766320" cy="290376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23" name=""/>
          <p:cNvPicPr/>
          <p:nvPr/>
        </p:nvPicPr>
        <p:blipFill>
          <a:blip r:embed="rId4"/>
          <a:stretch/>
        </p:blipFill>
        <p:spPr>
          <a:xfrm>
            <a:off x="5715000" y="3722760"/>
            <a:ext cx="3474000" cy="2678040"/>
          </a:xfrm>
          <a:prstGeom prst="rect">
            <a:avLst/>
          </a:prstGeom>
          <a:noFill/>
          <a:ln w="3672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0"/>
          <p:cNvSpPr/>
          <p:nvPr/>
        </p:nvSpPr>
        <p:spPr>
          <a:xfrm>
            <a:off x="609480" y="140400"/>
            <a:ext cx="35010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"/>
          <p:cNvPicPr/>
          <p:nvPr/>
        </p:nvPicPr>
        <p:blipFill>
          <a:blip r:embed="rId1"/>
          <a:stretch/>
        </p:blipFill>
        <p:spPr>
          <a:xfrm>
            <a:off x="1371600" y="914400"/>
            <a:ext cx="3429000" cy="264348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26" name=""/>
          <p:cNvPicPr/>
          <p:nvPr/>
        </p:nvPicPr>
        <p:blipFill>
          <a:blip r:embed="rId2"/>
          <a:stretch/>
        </p:blipFill>
        <p:spPr>
          <a:xfrm>
            <a:off x="6147360" y="923400"/>
            <a:ext cx="3453840" cy="266256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27" name=""/>
          <p:cNvPicPr/>
          <p:nvPr/>
        </p:nvPicPr>
        <p:blipFill>
          <a:blip r:embed="rId3"/>
          <a:stretch/>
        </p:blipFill>
        <p:spPr>
          <a:xfrm>
            <a:off x="1414800" y="3886200"/>
            <a:ext cx="3639240" cy="280584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28" name=""/>
          <p:cNvPicPr/>
          <p:nvPr/>
        </p:nvPicPr>
        <p:blipFill>
          <a:blip r:embed="rId4"/>
          <a:stretch/>
        </p:blipFill>
        <p:spPr>
          <a:xfrm>
            <a:off x="5943600" y="3886200"/>
            <a:ext cx="3270240" cy="2521080"/>
          </a:xfrm>
          <a:prstGeom prst="rect">
            <a:avLst/>
          </a:prstGeom>
          <a:noFill/>
          <a:ln w="3672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1"/>
          <p:cNvSpPr/>
          <p:nvPr/>
        </p:nvSpPr>
        <p:spPr>
          <a:xfrm>
            <a:off x="243720" y="197280"/>
            <a:ext cx="1095768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L3-1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"/>
          <p:cNvPicPr/>
          <p:nvPr/>
        </p:nvPicPr>
        <p:blipFill>
          <a:blip r:embed="rId1"/>
          <a:stretch/>
        </p:blipFill>
        <p:spPr>
          <a:xfrm>
            <a:off x="76320" y="685800"/>
            <a:ext cx="3581280" cy="619164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31" name=""/>
          <p:cNvPicPr/>
          <p:nvPr/>
        </p:nvPicPr>
        <p:blipFill>
          <a:blip r:embed="rId2"/>
          <a:stretch/>
        </p:blipFill>
        <p:spPr>
          <a:xfrm>
            <a:off x="3886200" y="685800"/>
            <a:ext cx="3571920" cy="535320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32" name=""/>
          <p:cNvPicPr/>
          <p:nvPr/>
        </p:nvPicPr>
        <p:blipFill>
          <a:blip r:embed="rId3"/>
          <a:stretch/>
        </p:blipFill>
        <p:spPr>
          <a:xfrm>
            <a:off x="8001000" y="943560"/>
            <a:ext cx="3855240" cy="1342440"/>
          </a:xfrm>
          <a:prstGeom prst="rect">
            <a:avLst/>
          </a:prstGeom>
          <a:noFill/>
          <a:ln w="3672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21"/>
          <p:cNvSpPr/>
          <p:nvPr/>
        </p:nvSpPr>
        <p:spPr>
          <a:xfrm>
            <a:off x="1143000" y="2743560"/>
            <a:ext cx="10957680" cy="7470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SCRIPT WITHOUT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09480" y="133560"/>
            <a:ext cx="2581920" cy="68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s 3"/>
          <p:cNvSpPr/>
          <p:nvPr/>
        </p:nvSpPr>
        <p:spPr>
          <a:xfrm>
            <a:off x="1440" y="914400"/>
            <a:ext cx="2280240" cy="52455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"/>
          <p:cNvPicPr/>
          <p:nvPr/>
        </p:nvPicPr>
        <p:blipFill>
          <a:blip r:embed="rId1"/>
          <a:stretch/>
        </p:blipFill>
        <p:spPr>
          <a:xfrm>
            <a:off x="2142360" y="1363680"/>
            <a:ext cx="4831560" cy="412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7" name=""/>
          <p:cNvPicPr/>
          <p:nvPr/>
        </p:nvPicPr>
        <p:blipFill>
          <a:blip r:embed="rId2"/>
          <a:stretch/>
        </p:blipFill>
        <p:spPr>
          <a:xfrm>
            <a:off x="7011360" y="1321200"/>
            <a:ext cx="4881240" cy="4162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09480" y="133560"/>
            <a:ext cx="2581920" cy="68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9" name="Picture 5"/>
          <p:cNvPicPr/>
          <p:nvPr/>
        </p:nvPicPr>
        <p:blipFill>
          <a:blip r:embed="rId1"/>
          <a:stretch/>
        </p:blipFill>
        <p:spPr>
          <a:xfrm>
            <a:off x="0" y="1595880"/>
            <a:ext cx="4813920" cy="411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0" name="Picture 6"/>
          <p:cNvPicPr/>
          <p:nvPr/>
        </p:nvPicPr>
        <p:blipFill>
          <a:blip r:embed="rId2"/>
          <a:stretch/>
        </p:blipFill>
        <p:spPr>
          <a:xfrm>
            <a:off x="5715000" y="1582920"/>
            <a:ext cx="4826880" cy="412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25"/>
          <p:cNvSpPr/>
          <p:nvPr/>
        </p:nvSpPr>
        <p:spPr>
          <a:xfrm>
            <a:off x="609480" y="139320"/>
            <a:ext cx="350100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"/>
          <p:cNvPicPr/>
          <p:nvPr/>
        </p:nvPicPr>
        <p:blipFill>
          <a:blip r:embed="rId1"/>
          <a:stretch/>
        </p:blipFill>
        <p:spPr>
          <a:xfrm>
            <a:off x="37440" y="906480"/>
            <a:ext cx="5903640" cy="503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3" name=""/>
          <p:cNvPicPr/>
          <p:nvPr/>
        </p:nvPicPr>
        <p:blipFill>
          <a:blip r:embed="rId2"/>
          <a:stretch/>
        </p:blipFill>
        <p:spPr>
          <a:xfrm>
            <a:off x="6167880" y="914400"/>
            <a:ext cx="5945400" cy="5070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26"/>
          <p:cNvSpPr/>
          <p:nvPr/>
        </p:nvSpPr>
        <p:spPr>
          <a:xfrm>
            <a:off x="609480" y="139320"/>
            <a:ext cx="350100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"/>
          <p:cNvPicPr/>
          <p:nvPr/>
        </p:nvPicPr>
        <p:blipFill>
          <a:blip r:embed="rId1"/>
          <a:stretch/>
        </p:blipFill>
        <p:spPr>
          <a:xfrm>
            <a:off x="46440" y="1143000"/>
            <a:ext cx="5894640" cy="502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6" name=""/>
          <p:cNvPicPr/>
          <p:nvPr/>
        </p:nvPicPr>
        <p:blipFill>
          <a:blip r:embed="rId2"/>
          <a:stretch/>
        </p:blipFill>
        <p:spPr>
          <a:xfrm>
            <a:off x="6099120" y="1135080"/>
            <a:ext cx="5904000" cy="503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27"/>
          <p:cNvSpPr/>
          <p:nvPr/>
        </p:nvSpPr>
        <p:spPr>
          <a:xfrm>
            <a:off x="468000" y="239400"/>
            <a:ext cx="1095768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L3-1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"/>
          <p:cNvPicPr/>
          <p:nvPr/>
        </p:nvPicPr>
        <p:blipFill>
          <a:blip r:embed="rId1"/>
          <a:stretch/>
        </p:blipFill>
        <p:spPr>
          <a:xfrm>
            <a:off x="5976000" y="228600"/>
            <a:ext cx="4766040" cy="639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"/>
          <p:cNvPicPr/>
          <p:nvPr/>
        </p:nvPicPr>
        <p:blipFill>
          <a:blip r:embed="rId2"/>
          <a:stretch/>
        </p:blipFill>
        <p:spPr>
          <a:xfrm>
            <a:off x="1572120" y="2229120"/>
            <a:ext cx="2822760" cy="234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5"/>
          <p:cNvSpPr/>
          <p:nvPr/>
        </p:nvSpPr>
        <p:spPr>
          <a:xfrm>
            <a:off x="470160" y="75600"/>
            <a:ext cx="109576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1(CELL IMAGES, SAME PARAMETERS GUI)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7"/>
          <p:cNvSpPr/>
          <p:nvPr/>
        </p:nvSpPr>
        <p:spPr>
          <a:xfrm>
            <a:off x="228600" y="685800"/>
            <a:ext cx="4569840" cy="747000"/>
          </a:xfrm>
          <a:prstGeom prst="rect">
            <a:avLst/>
          </a:prstGeom>
          <a:noFill/>
          <a:ln w="936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WITH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12"/>
          <p:cNvSpPr/>
          <p:nvPr/>
        </p:nvSpPr>
        <p:spPr>
          <a:xfrm>
            <a:off x="6629400" y="685800"/>
            <a:ext cx="5255640" cy="747000"/>
          </a:xfrm>
          <a:prstGeom prst="rect">
            <a:avLst/>
          </a:prstGeom>
          <a:noFill/>
          <a:ln w="936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WITHOUT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"/>
          <p:cNvPicPr/>
          <p:nvPr/>
        </p:nvPicPr>
        <p:blipFill>
          <a:blip r:embed="rId1"/>
          <a:stretch/>
        </p:blipFill>
        <p:spPr>
          <a:xfrm>
            <a:off x="6172200" y="1828800"/>
            <a:ext cx="2796480" cy="238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"/>
          <p:cNvSpPr/>
          <p:nvPr/>
        </p:nvSpPr>
        <p:spPr>
          <a:xfrm>
            <a:off x="6165720" y="675720"/>
            <a:ext cx="6480" cy="618228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pic>
        <p:nvPicPr>
          <p:cNvPr id="155" name=""/>
          <p:cNvPicPr/>
          <p:nvPr/>
        </p:nvPicPr>
        <p:blipFill>
          <a:blip r:embed="rId2"/>
          <a:stretch/>
        </p:blipFill>
        <p:spPr>
          <a:xfrm>
            <a:off x="9372600" y="1775160"/>
            <a:ext cx="2741040" cy="2337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6" name=""/>
          <p:cNvPicPr/>
          <p:nvPr/>
        </p:nvPicPr>
        <p:blipFill>
          <a:blip r:embed="rId3"/>
          <a:stretch/>
        </p:blipFill>
        <p:spPr>
          <a:xfrm>
            <a:off x="6195240" y="4353480"/>
            <a:ext cx="2946600" cy="251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"/>
          <p:cNvPicPr/>
          <p:nvPr/>
        </p:nvPicPr>
        <p:blipFill>
          <a:blip r:embed="rId4"/>
          <a:stretch/>
        </p:blipFill>
        <p:spPr>
          <a:xfrm>
            <a:off x="9243360" y="4343400"/>
            <a:ext cx="2946600" cy="251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8" name=""/>
          <p:cNvPicPr/>
          <p:nvPr/>
        </p:nvPicPr>
        <p:blipFill>
          <a:blip r:embed="rId5"/>
          <a:stretch/>
        </p:blipFill>
        <p:spPr>
          <a:xfrm>
            <a:off x="228600" y="1699920"/>
            <a:ext cx="2539440" cy="195768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59" name=""/>
          <p:cNvPicPr/>
          <p:nvPr/>
        </p:nvPicPr>
        <p:blipFill>
          <a:blip r:embed="rId6"/>
          <a:stretch/>
        </p:blipFill>
        <p:spPr>
          <a:xfrm>
            <a:off x="135720" y="4114800"/>
            <a:ext cx="2836080" cy="218628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60" name=""/>
          <p:cNvPicPr/>
          <p:nvPr/>
        </p:nvPicPr>
        <p:blipFill>
          <a:blip r:embed="rId7"/>
          <a:stretch/>
        </p:blipFill>
        <p:spPr>
          <a:xfrm>
            <a:off x="2971800" y="1537560"/>
            <a:ext cx="2749680" cy="2120040"/>
          </a:xfrm>
          <a:prstGeom prst="rect">
            <a:avLst/>
          </a:prstGeom>
          <a:noFill/>
          <a:ln w="36720">
            <a:noFill/>
          </a:ln>
        </p:spPr>
      </p:pic>
      <p:pic>
        <p:nvPicPr>
          <p:cNvPr id="161" name=""/>
          <p:cNvPicPr/>
          <p:nvPr/>
        </p:nvPicPr>
        <p:blipFill>
          <a:blip r:embed="rId8"/>
          <a:stretch/>
        </p:blipFill>
        <p:spPr>
          <a:xfrm>
            <a:off x="3066840" y="4114800"/>
            <a:ext cx="2876760" cy="2217960"/>
          </a:xfrm>
          <a:prstGeom prst="rect">
            <a:avLst/>
          </a:prstGeom>
          <a:noFill/>
          <a:ln w="3672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660</TotalTime>
  <Application>LibreOffice/25.8.5.2$Windows_X86_64 LibreOffice_project/9c8b85f387cc00a89945a79c9e6239f32e450ac2</Application>
  <AppVersion>15.0000</AppVersion>
  <Words>254</Words>
  <Paragraphs>44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2026-04-29T22:10:06Z</dcterms:modified>
  <cp:revision>1136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9</vt:i4>
  </property>
</Properties>
</file>