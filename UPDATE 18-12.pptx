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3" r:id="rId3"/>
    <p:sldId id="816" r:id="rId5"/>
    <p:sldId id="519" r:id="rId6"/>
    <p:sldId id="834" r:id="rId7"/>
    <p:sldId id="836" r:id="rId8"/>
    <p:sldId id="838" r:id="rId9"/>
    <p:sldId id="840" r:id="rId10"/>
    <p:sldId id="842" r:id="rId11"/>
    <p:sldId id="844" r:id="rId12"/>
    <p:sldId id="846" r:id="rId13"/>
    <p:sldId id="848" r:id="rId14"/>
    <p:sldId id="850" r:id="rId15"/>
    <p:sldId id="852" r:id="rId16"/>
    <p:sldId id="690" r:id="rId17"/>
    <p:sldId id="692" r:id="rId18"/>
    <p:sldId id="694" r:id="rId19"/>
    <p:sldId id="699" r:id="rId20"/>
    <p:sldId id="700" r:id="rId21"/>
    <p:sldId id="702" r:id="rId22"/>
    <p:sldId id="724" r:id="rId23"/>
    <p:sldId id="701" r:id="rId24"/>
    <p:sldId id="854" r:id="rId25"/>
    <p:sldId id="85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image" Target="../media/image13.png"/><Relationship Id="rId5" Type="http://schemas.openxmlformats.org/officeDocument/2006/relationships/tags" Target="../tags/tag7.xml"/><Relationship Id="rId4" Type="http://schemas.openxmlformats.org/officeDocument/2006/relationships/image" Target="../media/image12.png"/><Relationship Id="rId3" Type="http://schemas.openxmlformats.org/officeDocument/2006/relationships/tags" Target="../tags/tag6.xml"/><Relationship Id="rId2" Type="http://schemas.openxmlformats.org/officeDocument/2006/relationships/image" Target="../media/image1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60.png"/><Relationship Id="rId22" Type="http://schemas.openxmlformats.org/officeDocument/2006/relationships/image" Target="../media/image59.png"/><Relationship Id="rId21" Type="http://schemas.openxmlformats.org/officeDocument/2006/relationships/image" Target="../media/image58.png"/><Relationship Id="rId20" Type="http://schemas.openxmlformats.org/officeDocument/2006/relationships/image" Target="../media/image57.png"/><Relationship Id="rId2" Type="http://schemas.openxmlformats.org/officeDocument/2006/relationships/image" Target="../media/image39.png"/><Relationship Id="rId19" Type="http://schemas.openxmlformats.org/officeDocument/2006/relationships/image" Target="../media/image56.png"/><Relationship Id="rId18" Type="http://schemas.openxmlformats.org/officeDocument/2006/relationships/image" Target="../media/image55.png"/><Relationship Id="rId17" Type="http://schemas.openxmlformats.org/officeDocument/2006/relationships/image" Target="../media/image54.png"/><Relationship Id="rId16" Type="http://schemas.openxmlformats.org/officeDocument/2006/relationships/image" Target="../media/image53.png"/><Relationship Id="rId15" Type="http://schemas.openxmlformats.org/officeDocument/2006/relationships/image" Target="../media/image52.png"/><Relationship Id="rId14" Type="http://schemas.openxmlformats.org/officeDocument/2006/relationships/image" Target="../media/image51.png"/><Relationship Id="rId13" Type="http://schemas.openxmlformats.org/officeDocument/2006/relationships/image" Target="../media/image50.png"/><Relationship Id="rId12" Type="http://schemas.openxmlformats.org/officeDocument/2006/relationships/image" Target="../media/image49.png"/><Relationship Id="rId11" Type="http://schemas.openxmlformats.org/officeDocument/2006/relationships/image" Target="../media/image48.png"/><Relationship Id="rId10" Type="http://schemas.openxmlformats.org/officeDocument/2006/relationships/image" Target="../media/image47.png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6.png"/><Relationship Id="rId3" Type="http://schemas.openxmlformats.org/officeDocument/2006/relationships/tags" Target="../tags/tag11.xml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96.png"/><Relationship Id="rId15" Type="http://schemas.openxmlformats.org/officeDocument/2006/relationships/image" Target="../media/image95.png"/><Relationship Id="rId14" Type="http://schemas.openxmlformats.org/officeDocument/2006/relationships/image" Target="../media/image94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91.png"/><Relationship Id="rId10" Type="http://schemas.openxmlformats.org/officeDocument/2006/relationships/image" Target="../media/image90.png"/><Relationship Id="rId1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4695" y="1720850"/>
            <a:ext cx="10338435" cy="2900680"/>
          </a:xfrm>
        </p:spPr>
        <p:txBody>
          <a:bodyPr lIns="91440" tIns="45720" rIns="91440" bIns="45720" anchor="t">
            <a:noAutofit/>
          </a:bodyPr>
          <a:lstStyle/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3D Image Segmentation and Quantification of Lysosomes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18/12/2025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4435"/>
            <a:ext cx="10972800" cy="4065905"/>
          </a:xfrm>
        </p:spPr>
        <p:txBody>
          <a:bodyPr/>
          <a:p>
            <a:pPr marL="0" indent="0">
              <a:buNone/>
            </a:pPr>
            <a:r>
              <a:rPr lang="en-US" altLang="en-GB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Preview script</a:t>
            </a:r>
            <a:endParaRPr lang="en-US" altLang="en-GB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GB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GB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GB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GB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update script</a:t>
            </a:r>
            <a:endParaRPr lang="en-US" altLang="en-GB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GB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345" y="4693285"/>
            <a:ext cx="6793865" cy="8108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170" y="2098675"/>
            <a:ext cx="7265035" cy="1442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4455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93725"/>
            <a:ext cx="10972800" cy="4953000"/>
          </a:xfrm>
        </p:spPr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GB" sz="4400">
                <a:effectLst/>
                <a:sym typeface="+mn-ea"/>
              </a:rPr>
              <a:t>40A_UAS-TMEM1923x-HA x 71G10 40A MARCM_L3_1_Airy_010724</a:t>
            </a:r>
            <a:endParaRPr lang="en-US" altLang="en-GB" sz="4400">
              <a:effectLst/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endParaRPr lang="en-US" altLang="en-GB" sz="4400">
              <a:effectLst/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4400">
                <a:sym typeface="+mn-ea"/>
              </a:rPr>
              <a:t>Airy scan_40A_UAS-TMEM-HA_CB_0h_1_051222</a:t>
            </a:r>
            <a:endParaRPr lang="en-US" altLang="en-GB" sz="4400"/>
          </a:p>
          <a:p>
            <a:pPr marL="0" indent="0">
              <a:buFont typeface="Wingdings" panose="05000000000000000000" charset="0"/>
              <a:buNone/>
            </a:pPr>
            <a:endParaRPr lang="en-US" altLang="en-GB" sz="440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92480" y="30480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40A_UAS-TMEM1923x-HA x 71G10 40A MARCM_L3_1_Airy_010724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DETECTION VIDEO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6240" y="878205"/>
            <a:ext cx="11399520" cy="5699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952500"/>
            <a:ext cx="9229090" cy="5357495"/>
          </a:xfrm>
          <a:prstGeom prst="rect">
            <a:avLst/>
          </a:prstGeom>
        </p:spPr>
      </p:pic>
      <p:sp>
        <p:nvSpPr>
          <p:cNvPr id="8" name="Rectangles 7"/>
          <p:cNvSpPr/>
          <p:nvPr>
            <p:custDataLst>
              <p:tags r:id="rId2"/>
            </p:custDataLst>
          </p:nvPr>
        </p:nvSpPr>
        <p:spPr>
          <a:xfrm>
            <a:off x="4217670" y="2343785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en-GB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Rectangles 3"/>
          <p:cNvSpPr/>
          <p:nvPr>
            <p:custDataLst>
              <p:tags r:id="rId3"/>
            </p:custDataLst>
          </p:nvPr>
        </p:nvSpPr>
        <p:spPr>
          <a:xfrm>
            <a:off x="2788920" y="571246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ectangles 4"/>
          <p:cNvSpPr/>
          <p:nvPr>
            <p:custDataLst>
              <p:tags r:id="rId4"/>
            </p:custDataLst>
          </p:nvPr>
        </p:nvSpPr>
        <p:spPr>
          <a:xfrm>
            <a:off x="7272655" y="581660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en-GB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641975" y="4966970"/>
            <a:ext cx="2999740" cy="285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860" y="4067175"/>
            <a:ext cx="2447925" cy="628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25" y="4157980"/>
            <a:ext cx="2390775" cy="6667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715" y="4578985"/>
            <a:ext cx="2276475" cy="647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010" y="3529330"/>
            <a:ext cx="2352675" cy="62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MANUAL.vs.AUTOMATIC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69530" y="953135"/>
            <a:ext cx="3128010" cy="33000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6550" y="953135"/>
            <a:ext cx="3078480" cy="3300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3090" y="952500"/>
            <a:ext cx="3058160" cy="3300730"/>
          </a:xfrm>
          <a:prstGeom prst="rect">
            <a:avLst/>
          </a:prstGeom>
        </p:spPr>
      </p:pic>
      <p:sp>
        <p:nvSpPr>
          <p:cNvPr id="6" name="Rectangles 5"/>
          <p:cNvSpPr/>
          <p:nvPr>
            <p:custDataLst>
              <p:tags r:id="rId7"/>
            </p:custDataLst>
          </p:nvPr>
        </p:nvSpPr>
        <p:spPr>
          <a:xfrm>
            <a:off x="1504950" y="455676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en-GB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ectangles 6"/>
          <p:cNvSpPr/>
          <p:nvPr>
            <p:custDataLst>
              <p:tags r:id="rId8"/>
            </p:custDataLst>
          </p:nvPr>
        </p:nvSpPr>
        <p:spPr>
          <a:xfrm>
            <a:off x="8728075" y="455676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GB" altLang="zh-CN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s 7"/>
          <p:cNvSpPr/>
          <p:nvPr>
            <p:custDataLst>
              <p:tags r:id="rId9"/>
            </p:custDataLst>
          </p:nvPr>
        </p:nvSpPr>
        <p:spPr>
          <a:xfrm>
            <a:off x="5040630" y="455676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055" y="2270760"/>
            <a:ext cx="2459355" cy="253936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GB" altLang="en-US" b="1" dirty="0">
                <a:solidFill>
                  <a:srgbClr val="FF0000"/>
                </a:solidFill>
                <a:cs typeface="Arial" panose="020B0604020202020204"/>
              </a:rPr>
              <a:t>MANUAL.vs.AUTOMATIC</a:t>
            </a:r>
            <a:endParaRPr lang="en-GB" altLang="en-US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525" y="3496310"/>
            <a:ext cx="3376930" cy="345503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0" y="105283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en-GB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758680" y="381571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344910" y="606171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0579100" y="425704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065895" y="431292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492740" y="584581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281170" y="1790065"/>
            <a:ext cx="273685" cy="143065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573905" y="4441190"/>
            <a:ext cx="393065" cy="94107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623425" y="491426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8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758680" y="662368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905" y="5394960"/>
            <a:ext cx="2286000" cy="6191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435" y="4143375"/>
            <a:ext cx="246697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855" y="2539365"/>
            <a:ext cx="2295525" cy="6477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8485" y="4498340"/>
            <a:ext cx="2371725" cy="6381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460" y="3355975"/>
            <a:ext cx="2371725" cy="6191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985" y="1142365"/>
            <a:ext cx="2362200" cy="6477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8485" y="2454275"/>
            <a:ext cx="2286000" cy="6477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2895" y="3599815"/>
            <a:ext cx="2447925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33" name="Straight Arrow Connector 32"/>
          <p:cNvCxnSpPr/>
          <p:nvPr/>
        </p:nvCxnSpPr>
        <p:spPr>
          <a:xfrm flipH="1">
            <a:off x="8256905" y="6069330"/>
            <a:ext cx="1363345" cy="17081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4" name="Oval 33"/>
          <p:cNvSpPr/>
          <p:nvPr/>
        </p:nvSpPr>
        <p:spPr>
          <a:xfrm>
            <a:off x="7785100" y="6119495"/>
            <a:ext cx="451485" cy="3810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GB" altLang="en-US" b="1" dirty="0">
                <a:solidFill>
                  <a:srgbClr val="FF0000"/>
                </a:solidFill>
                <a:cs typeface="Arial" panose="020B0604020202020204"/>
              </a:rPr>
              <a:t>MANUAL.vs.AUTOMATIC</a:t>
            </a:r>
            <a:endParaRPr lang="en-GB" altLang="en-US" b="1" dirty="0">
              <a:solidFill>
                <a:srgbClr val="FF0000"/>
              </a:solidFill>
              <a:cs typeface="Arial" panose="020B0604020202020204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-174625" y="349631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215" y="3207385"/>
            <a:ext cx="3574415" cy="29171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0735"/>
            <a:ext cx="3952875" cy="2695575"/>
          </a:xfrm>
          <a:prstGeom prst="rect">
            <a:avLst/>
          </a:prstGeom>
        </p:spPr>
      </p:pic>
      <p:cxnSp>
        <p:nvCxnSpPr>
          <p:cNvPr id="30" name="Straight Arrow Connector 29"/>
          <p:cNvCxnSpPr/>
          <p:nvPr/>
        </p:nvCxnSpPr>
        <p:spPr>
          <a:xfrm>
            <a:off x="3999230" y="1706880"/>
            <a:ext cx="655955" cy="33210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515360" y="1723390"/>
            <a:ext cx="1130300" cy="434848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105025" y="3369310"/>
            <a:ext cx="873760" cy="249174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1111250" y="3005455"/>
            <a:ext cx="534670" cy="246253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023475" y="349631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476865" y="443166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9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0281920" y="492760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10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9828530" y="525526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9570085" y="392938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12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250045" y="458470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8872855" y="535813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974965" y="619633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8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8204200" y="5255260"/>
            <a:ext cx="166370" cy="9410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606155" y="490283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8428355" y="437007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11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917180" y="425704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606155" y="373380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465" y="2726690"/>
            <a:ext cx="237172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045" y="5019040"/>
            <a:ext cx="2343150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880" y="5861050"/>
            <a:ext cx="2343150" cy="5905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3315" y="3238500"/>
            <a:ext cx="1583690" cy="58674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09345" y="1706880"/>
            <a:ext cx="2400300" cy="6286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98525" y="5495925"/>
            <a:ext cx="2466975" cy="6286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1275" y="1347470"/>
            <a:ext cx="2390775" cy="6096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275" y="2032635"/>
            <a:ext cx="2276475" cy="6191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5025" y="2004060"/>
            <a:ext cx="1377950" cy="6477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6785" y="747395"/>
            <a:ext cx="1960880" cy="5905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6930" y="5904865"/>
            <a:ext cx="2476500" cy="6762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6470" y="671830"/>
            <a:ext cx="2457450" cy="6000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645" y="1493520"/>
            <a:ext cx="2428875" cy="600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10" y="2209800"/>
            <a:ext cx="2438400" cy="6286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660" y="6023610"/>
            <a:ext cx="2362200" cy="6096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MANUAL.vs.AUTOMATIC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8740" y="848360"/>
            <a:ext cx="1234440" cy="9353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en-GB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420" y="233045"/>
            <a:ext cx="4066540" cy="26676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285" y="1887855"/>
            <a:ext cx="3743325" cy="2762885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>
            <a:off x="4566920" y="3956685"/>
            <a:ext cx="3154680" cy="133921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566920" y="4172585"/>
            <a:ext cx="1995805" cy="14395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010660" y="3956685"/>
            <a:ext cx="742950" cy="206692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2357755" y="3975735"/>
            <a:ext cx="1064260" cy="18307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1623695" y="3677285"/>
            <a:ext cx="1755140" cy="17164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1476375" y="3868420"/>
            <a:ext cx="1562735" cy="97091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4219575" y="2527935"/>
            <a:ext cx="1491615" cy="603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747770" y="3342005"/>
            <a:ext cx="2193925" cy="303593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422015" y="3351530"/>
            <a:ext cx="219075" cy="31896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662045" y="1397635"/>
            <a:ext cx="2317750" cy="17145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55" idx="3"/>
          </p:cNvCxnSpPr>
          <p:nvPr/>
        </p:nvCxnSpPr>
        <p:spPr>
          <a:xfrm flipH="1" flipV="1">
            <a:off x="1151255" y="3757295"/>
            <a:ext cx="855345" cy="190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Diamond 57"/>
          <p:cNvSpPr/>
          <p:nvPr/>
        </p:nvSpPr>
        <p:spPr>
          <a:xfrm>
            <a:off x="2600325" y="3225800"/>
            <a:ext cx="231140" cy="241300"/>
          </a:xfrm>
          <a:prstGeom prst="diamond">
            <a:avLst/>
          </a:prstGeom>
          <a:solidFill>
            <a:srgbClr val="FFC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9" name="Diamond 58"/>
          <p:cNvSpPr/>
          <p:nvPr/>
        </p:nvSpPr>
        <p:spPr>
          <a:xfrm>
            <a:off x="9093835" y="3323590"/>
            <a:ext cx="231140" cy="241300"/>
          </a:xfrm>
          <a:prstGeom prst="diamond">
            <a:avLst/>
          </a:prstGeom>
          <a:solidFill>
            <a:srgbClr val="FFC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0" name="Diamond 59"/>
          <p:cNvSpPr/>
          <p:nvPr/>
        </p:nvSpPr>
        <p:spPr>
          <a:xfrm>
            <a:off x="3043555" y="3314065"/>
            <a:ext cx="231140" cy="241300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1" name="Diamond 60"/>
          <p:cNvSpPr/>
          <p:nvPr/>
        </p:nvSpPr>
        <p:spPr>
          <a:xfrm>
            <a:off x="9093835" y="4098925"/>
            <a:ext cx="231140" cy="241300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1291570" y="186245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13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1388090" y="242125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9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10189210" y="236855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12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0424160" y="106045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11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0022205" y="1290320"/>
            <a:ext cx="401955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9460230" y="1388110"/>
            <a:ext cx="318135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9627870" y="76898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8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8640445" y="62484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10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9627870" y="209359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18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006840" y="249110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19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7678420" y="76898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16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 flipH="1" flipV="1">
            <a:off x="7918450" y="1096645"/>
            <a:ext cx="1271905" cy="76073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 flipV="1">
            <a:off x="7990840" y="358775"/>
            <a:ext cx="1477010" cy="14503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537450" y="23304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17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7898130" y="257302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8131810" y="1783715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7817485" y="1290320"/>
            <a:ext cx="453390" cy="32766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15" y="5534025"/>
            <a:ext cx="2447925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8045" y="2818765"/>
            <a:ext cx="1136650" cy="42926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6815" y="768985"/>
            <a:ext cx="2371725" cy="5905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10820" y="2838450"/>
            <a:ext cx="2286000" cy="6286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786765" y="4028440"/>
            <a:ext cx="239077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5765" y="2143760"/>
            <a:ext cx="2409825" cy="5524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3080" y="1455420"/>
            <a:ext cx="2409825" cy="6381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8420" y="4839335"/>
            <a:ext cx="2381250" cy="6000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1335" y="3956685"/>
            <a:ext cx="2333625" cy="5810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872490" y="4651375"/>
            <a:ext cx="239077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1335" y="3119120"/>
            <a:ext cx="2352675" cy="6381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87020" y="5394960"/>
            <a:ext cx="2362200" cy="6286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296670" y="3422650"/>
            <a:ext cx="2447925" cy="676275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5" name="Straight Arrow Connector 4"/>
          <p:cNvCxnSpPr>
            <a:endCxn id="4" idx="1"/>
          </p:cNvCxnSpPr>
          <p:nvPr/>
        </p:nvCxnSpPr>
        <p:spPr>
          <a:xfrm flipV="1">
            <a:off x="3924935" y="1793875"/>
            <a:ext cx="1997710" cy="1230630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106045" y="2111375"/>
            <a:ext cx="2390775" cy="62865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6675" y="3077210"/>
            <a:ext cx="2390775" cy="6000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04010" y="6541135"/>
            <a:ext cx="2362200" cy="619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50560" y="3776345"/>
            <a:ext cx="2381250" cy="59055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15" name="Straight Arrow Connector 14"/>
          <p:cNvCxnSpPr>
            <a:endCxn id="13" idx="1"/>
          </p:cNvCxnSpPr>
          <p:nvPr/>
        </p:nvCxnSpPr>
        <p:spPr>
          <a:xfrm>
            <a:off x="4992370" y="3848100"/>
            <a:ext cx="758190" cy="2235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8955" y="5806440"/>
            <a:ext cx="2514600" cy="666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460" y="0"/>
            <a:ext cx="10972800" cy="582613"/>
          </a:xfrm>
        </p:spPr>
        <p:txBody>
          <a:bodyPr/>
          <a:p>
            <a:r>
              <a:rPr lang="en-GB" altLang="en-US" b="1" dirty="0">
                <a:solidFill>
                  <a:srgbClr val="FF0000"/>
                </a:solidFill>
                <a:cs typeface="Arial" panose="020B0604020202020204"/>
                <a:sym typeface="+mn-ea"/>
              </a:rPr>
              <a:t>MANUAL.vs.AUTOMATIC</a:t>
            </a:r>
            <a:endParaRPr lang="en-GB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460" y="504825"/>
            <a:ext cx="2466975" cy="632460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26365" y="2275840"/>
            <a:ext cx="1493520" cy="6451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PREVIOUS DATA</a:t>
            </a:r>
            <a:endParaRPr lang="en-GB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4738370" y="2402840"/>
            <a:ext cx="1493520" cy="3683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NEW DATA</a:t>
            </a:r>
            <a:endParaRPr lang="en-GB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870" y="0"/>
            <a:ext cx="2303145" cy="2117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870" y="2275840"/>
            <a:ext cx="1934845" cy="13214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7530" y="1644015"/>
            <a:ext cx="1474470" cy="1127125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9453880" y="1571625"/>
            <a:ext cx="1797050" cy="55372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870" y="4588510"/>
            <a:ext cx="2747645" cy="18840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3820" y="415925"/>
            <a:ext cx="2219325" cy="6276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sym typeface="+mn-ea"/>
              </a:rPr>
              <a:t>DATASET LYSOSOMES(ORDER FOR CELL ID)</a:t>
            </a:r>
            <a:endParaRPr lang="en-GB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2465"/>
            <a:ext cx="4171950" cy="5724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672465"/>
            <a:ext cx="2181225" cy="771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580" y="3237865"/>
            <a:ext cx="1752600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585" y="5073650"/>
            <a:ext cx="1924050" cy="6667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171950" y="1443990"/>
            <a:ext cx="1493520" cy="6451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PREVIOUS DATA</a:t>
            </a:r>
            <a:endParaRPr lang="en-GB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10" y="672465"/>
            <a:ext cx="4339590" cy="580009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982710" y="6489700"/>
            <a:ext cx="1493520" cy="3683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NEW DATA</a:t>
            </a:r>
            <a:endParaRPr lang="en-GB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8500" y="2355215"/>
            <a:ext cx="2073910" cy="7378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sym typeface="+mn-ea"/>
              </a:rPr>
              <a:t>DATASET LYSOSOMES</a:t>
            </a:r>
            <a:endParaRPr lang="en-GB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9735" y="3512820"/>
            <a:ext cx="5689600" cy="15817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545" y="1277620"/>
            <a:ext cx="3098165" cy="151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5" y="676275"/>
            <a:ext cx="4067175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92480" y="30480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Airy scan_40A_UAS-TMEM-HA_CB_0h_1_051222</a:t>
            </a:r>
            <a:b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</a:b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DETECTION VIDEO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6240" y="773430"/>
            <a:ext cx="11399520" cy="5699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910" y="885190"/>
            <a:ext cx="9837420" cy="571055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5603875" y="2082800"/>
            <a:ext cx="491490" cy="46291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4897755" y="3052445"/>
            <a:ext cx="491490" cy="46291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5730875" y="4920615"/>
            <a:ext cx="491490" cy="46291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solidFill>
                  <a:srgbClr val="FF0000"/>
                </a:solidFill>
              </a:rPr>
              <a:t>MANUAL.vs.AUTOMATIC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360" y="1319530"/>
            <a:ext cx="3872865" cy="4218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465" y="1318895"/>
            <a:ext cx="3997325" cy="421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19530"/>
            <a:ext cx="3871595" cy="421957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9991725" y="5807075"/>
            <a:ext cx="511810" cy="72961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5683885" y="5807075"/>
            <a:ext cx="511810" cy="72961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832610" y="5807075"/>
            <a:ext cx="511810" cy="72961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solidFill>
                  <a:srgbClr val="FF0000"/>
                </a:solidFill>
              </a:rPr>
              <a:t>MANUAL.vs.AUTOMATIC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915" y="4059555"/>
            <a:ext cx="3591560" cy="261556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45" y="3208655"/>
            <a:ext cx="3850005" cy="3532505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1619885" y="436880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880235" y="5127625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8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2936240" y="4256405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624580" y="449580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3884930" y="5041265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379460" y="461010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996690" y="6009005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3021330" y="583184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235440" y="6166485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8975090" y="398018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94625" y="488061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625" y="909955"/>
            <a:ext cx="1869440" cy="14497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645" y="1345565"/>
            <a:ext cx="2840355" cy="192151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 flipH="1">
            <a:off x="3112135" y="2651760"/>
            <a:ext cx="588645" cy="6902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51" idx="3"/>
          </p:cNvCxnSpPr>
          <p:nvPr/>
        </p:nvCxnSpPr>
        <p:spPr>
          <a:xfrm flipH="1">
            <a:off x="1619885" y="1811655"/>
            <a:ext cx="1134745" cy="1568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407160" y="2179955"/>
            <a:ext cx="1504950" cy="111379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1503045" y="2016125"/>
            <a:ext cx="681355" cy="45402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242695" y="5246370"/>
            <a:ext cx="260350" cy="2413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en-GB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125" y="3332480"/>
            <a:ext cx="2419350" cy="6381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620" y="2582545"/>
            <a:ext cx="2371725" cy="6191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35610" y="3274060"/>
            <a:ext cx="2305050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595630"/>
            <a:ext cx="2276475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0" y="2016125"/>
            <a:ext cx="2381250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810" y="1608455"/>
            <a:ext cx="2390775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3520" y="773430"/>
            <a:ext cx="2333625" cy="6191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3045" y="1863090"/>
            <a:ext cx="2056765" cy="6477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31775" y="1715135"/>
            <a:ext cx="1851660" cy="4648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751840" y="2476500"/>
            <a:ext cx="2371725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15540" y="990600"/>
            <a:ext cx="1143000" cy="6096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94760" y="1017905"/>
            <a:ext cx="2305050" cy="6000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solidFill>
                  <a:srgbClr val="FF0000"/>
                </a:solidFill>
                <a:sym typeface="+mn-ea"/>
              </a:rPr>
              <a:t>MANUAL.vs.AUTOMATIC</a:t>
            </a:r>
            <a:endParaRPr lang="en-GB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885" y="1544955"/>
            <a:ext cx="3895725" cy="433070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9909810" y="2668270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9337675" y="3345180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8600440" y="1798955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37675" y="1544955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542655" y="3771900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544810" y="4050030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512935" y="5145405"/>
            <a:ext cx="396875" cy="36639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7</a:t>
            </a:r>
            <a:endParaRPr kumimoji="0" lang="en-GB" altLang="zh-CN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110" y="1798955"/>
            <a:ext cx="2240915" cy="31305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010" y="2957195"/>
            <a:ext cx="237172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00120"/>
            <a:ext cx="2362200" cy="6381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340" y="3771900"/>
            <a:ext cx="2447925" cy="6858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3225" y="4497070"/>
            <a:ext cx="235267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20" y="1323340"/>
            <a:ext cx="2295525" cy="6667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175" y="1544955"/>
            <a:ext cx="2362200" cy="6858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8050" y="2202815"/>
            <a:ext cx="1343025" cy="6477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 dirty="0">
                <a:solidFill>
                  <a:srgbClr val="FF0000"/>
                </a:solidFill>
                <a:cs typeface="Arial" panose="020B0604020202020204"/>
                <a:sym typeface="+mn-ea"/>
              </a:rPr>
              <a:t>MANUAL.vs.AUTOMATIC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375" y="1049655"/>
            <a:ext cx="3848100" cy="4895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390" y="1049655"/>
            <a:ext cx="3895725" cy="48863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26365" y="2275840"/>
            <a:ext cx="1493520" cy="6451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PREVIOUS DATA</a:t>
            </a:r>
            <a:endParaRPr lang="en-GB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6144895" y="2771140"/>
            <a:ext cx="1493520" cy="3683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NEW DATA</a:t>
            </a:r>
            <a:endParaRPr lang="en-GB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DATASETS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15" y="5181600"/>
            <a:ext cx="2152650" cy="800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610" y="5372735"/>
            <a:ext cx="1752600" cy="1019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460" y="5620385"/>
            <a:ext cx="1752600" cy="52387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468370" y="478790"/>
            <a:ext cx="1493520" cy="6451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PREVIOUS DATA</a:t>
            </a:r>
            <a:endParaRPr lang="en-GB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6663690" y="584200"/>
            <a:ext cx="1493520" cy="3683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GB" altLang="en-US"/>
              <a:t>NEW DATA</a:t>
            </a:r>
            <a:endParaRPr lang="en-GB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5" y="1269365"/>
            <a:ext cx="5683885" cy="3314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700" y="1269365"/>
            <a:ext cx="5702300" cy="3314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975" y="5036820"/>
            <a:ext cx="2257425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sym typeface="+mn-ea"/>
              </a:rPr>
              <a:t>DATASET LYSOSOMES</a:t>
            </a:r>
            <a:endParaRPr lang="en-GB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4920" y="1129030"/>
            <a:ext cx="2352675" cy="1076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165" y="2790190"/>
            <a:ext cx="4381500" cy="10858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" y="1129030"/>
            <a:ext cx="638175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</a:rPr>
              <a:t>PLOT</a:t>
            </a:r>
            <a:endParaRPr lang="en-US" altLang="en-GB" b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040765"/>
            <a:ext cx="2305050" cy="1657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010" y="940435"/>
            <a:ext cx="2362200" cy="1685925"/>
          </a:xfrm>
          <a:prstGeom prst="rect">
            <a:avLst/>
          </a:prstGeom>
        </p:spPr>
      </p:pic>
      <p:pic>
        <p:nvPicPr>
          <p:cNvPr id="7" name="Picture 6" descr="lysosome_count_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810" y="2793365"/>
            <a:ext cx="5375910" cy="3584575"/>
          </a:xfrm>
          <a:prstGeom prst="rect">
            <a:avLst/>
          </a:prstGeom>
        </p:spPr>
      </p:pic>
      <p:pic>
        <p:nvPicPr>
          <p:cNvPr id="9" name="Picture 8" descr="lysosome_volume_fraction_scatter_annotated_title_fix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5" y="2793365"/>
            <a:ext cx="5318760" cy="37992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ags/tag2.xml><?xml version="1.0" encoding="utf-8"?>
<p:tagLst xmlns:p="http://schemas.openxmlformats.org/presentationml/2006/main">
  <p:tag name="KSO_WM_DIAGRAM_VIRTUALLY_FRAME" val="{&quot;height&quot;:357.45,&quot;left&quot;:46.7,&quot;top&quot;:75,&quot;width&quot;:803.5}"/>
</p:tagLst>
</file>

<file path=ppt/tags/tag3.xml><?xml version="1.0" encoding="utf-8"?>
<p:tagLst xmlns:p="http://schemas.openxmlformats.org/presentationml/2006/main">
  <p:tag name="KSO_WM_DIAGRAM_VIRTUALLY_FRAME" val="{&quot;height&quot;:357.45,&quot;left&quot;:46.7,&quot;top&quot;:75,&quot;width&quot;:803.5}"/>
</p:tagLst>
</file>

<file path=ppt/tags/tag4.xml><?xml version="1.0" encoding="utf-8"?>
<p:tagLst xmlns:p="http://schemas.openxmlformats.org/presentationml/2006/main">
  <p:tag name="KSO_WM_DIAGRAM_VIRTUALLY_FRAME" val="{&quot;height&quot;:357.45,&quot;left&quot;:46.7,&quot;top&quot;:75,&quot;width&quot;:803.5}"/>
</p:tagLst>
</file>

<file path=ppt/tags/tag5.xml><?xml version="1.0" encoding="utf-8"?>
<p:tagLst xmlns:p="http://schemas.openxmlformats.org/presentationml/2006/main">
  <p:tag name="KSO_WM_DIAGRAM_VIRTUALLY_FRAME" val="{&quot;height&quot;:440.4,&quot;left&quot;:46.7,&quot;top&quot;:75,&quot;width&quot;:803.5}"/>
</p:tagLst>
</file>

<file path=ppt/tags/tag6.xml><?xml version="1.0" encoding="utf-8"?>
<p:tagLst xmlns:p="http://schemas.openxmlformats.org/presentationml/2006/main">
  <p:tag name="KSO_WM_DIAGRAM_VIRTUALLY_FRAME" val="{&quot;height&quot;:440.4,&quot;left&quot;:46.7,&quot;top&quot;:75,&quot;width&quot;:803.5}"/>
</p:tagLst>
</file>

<file path=ppt/tags/tag7.xml><?xml version="1.0" encoding="utf-8"?>
<p:tagLst xmlns:p="http://schemas.openxmlformats.org/presentationml/2006/main">
  <p:tag name="KSO_WM_DIAGRAM_VIRTUALLY_FRAME" val="{&quot;height&quot;:440.4,&quot;left&quot;:46.7,&quot;top&quot;:75,&quot;width&quot;:803.5}"/>
</p:tagLst>
</file>

<file path=ppt/tags/tag8.xml><?xml version="1.0" encoding="utf-8"?>
<p:tagLst xmlns:p="http://schemas.openxmlformats.org/presentationml/2006/main">
  <p:tag name="KSO_WM_DIAGRAM_VIRTUALLY_FRAME" val="{&quot;height&quot;:440.4,&quot;left&quot;:46.7,&quot;top&quot;:75,&quot;width&quot;:803.5}"/>
</p:tagLst>
</file>

<file path=ppt/tags/tag9.xml><?xml version="1.0" encoding="utf-8"?>
<p:tagLst xmlns:p="http://schemas.openxmlformats.org/presentationml/2006/main">
  <p:tag name="KSO_WM_DIAGRAM_VIRTUALLY_FRAME" val="{&quot;height&quot;:440.4,&quot;left&quot;:46.7,&quot;top&quot;:75,&quot;width&quot;:803.5}"/>
</p:tagLst>
</file>

<file path=ppt/tags/tag10.xml><?xml version="1.0" encoding="utf-8"?>
<p:tagLst xmlns:p="http://schemas.openxmlformats.org/presentationml/2006/main">
  <p:tag name="KSO_WM_DIAGRAM_VIRTUALLY_FRAME" val="{&quot;height&quot;:440.4,&quot;left&quot;:46.7,&quot;top&quot;:75,&quot;width&quot;:803.5}"/>
</p:tagLst>
</file>

<file path=ppt/tags/tag1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Presentation</Application>
  <PresentationFormat>Panorámica</PresentationFormat>
  <Paragraphs>214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Wingdings</vt:lpstr>
      <vt:lpstr>Arial</vt:lpstr>
      <vt:lpstr>Microsoft YaHei</vt:lpstr>
      <vt:lpstr>Arial Unicode MS</vt:lpstr>
      <vt:lpstr>Calibri</vt:lpstr>
      <vt:lpstr>1_Green Color</vt:lpstr>
      <vt:lpstr>PowerPoint 演示文稿</vt:lpstr>
      <vt:lpstr>Script</vt:lpstr>
      <vt:lpstr>FILES</vt:lpstr>
      <vt:lpstr>40A_UAS-TMEM1923x-HA x 71G10 40A MARCM_L3_1_Airy_010724</vt:lpstr>
      <vt:lpstr>DETECTION VIDEO</vt:lpstr>
      <vt:lpstr>SEGMENTATION</vt:lpstr>
      <vt:lpstr>MANUAL.vs.AUTOMATIC</vt:lpstr>
      <vt:lpstr>MANUAL.vs.AUTOMATIC</vt:lpstr>
      <vt:lpstr>MANUAL.vs.AUTOMATIC</vt:lpstr>
      <vt:lpstr>MANUAL.vs.AUTOMATIC</vt:lpstr>
      <vt:lpstr>MANUAL.vs.AUTOMATIC</vt:lpstr>
      <vt:lpstr>DATASET LYSOSOMES(ORDER FOR CELL ID)</vt:lpstr>
      <vt:lpstr>DATASET LYSOSOMES</vt:lpstr>
      <vt:lpstr>Airy scan_40A_UAS-TMEM-HA_CB_0h_1_051222 </vt:lpstr>
      <vt:lpstr>DETECTION VIDEO</vt:lpstr>
      <vt:lpstr>SEGMENTATION</vt:lpstr>
      <vt:lpstr>MANUAL.vs.AUTOMATIC</vt:lpstr>
      <vt:lpstr>MANUAL.vs.AUTOMATIC</vt:lpstr>
      <vt:lpstr>MANUAL.vs.AUTOMATIC</vt:lpstr>
      <vt:lpstr>MANUAL.vs.AUTOMATIC</vt:lpstr>
      <vt:lpstr>DATASETS</vt:lpstr>
      <vt:lpstr>DATASET LYSOSOMES</vt:lpstr>
      <vt:lpstr>PLOT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Nahuel-Hernan Ramos</dc:creator>
  <cp:lastModifiedBy>nahue</cp:lastModifiedBy>
  <cp:revision>862</cp:revision>
  <dcterms:created xsi:type="dcterms:W3CDTF">2024-11-18T13:41:00Z</dcterms:created>
  <dcterms:modified xsi:type="dcterms:W3CDTF">2025-12-28T09:27:00Z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FB4B68C49FE3478E97FAAB33B48954F2_13</vt:lpwstr>
  </property>
  <property fmtid="{D5CDD505-2E9C-101B-9397-08002B2CF9AE}" pid="3" name="KSOProductBuildVer">
    <vt:lpwstr>2057-12.2.0.23196</vt:lpwstr>
  </property>
</Properties>
</file>