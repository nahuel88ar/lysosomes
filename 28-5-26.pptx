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496880" cy="2833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Master title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496880" cy="1481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496880" cy="1306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39720" cy="805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39720" cy="3665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64920" cy="805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64920" cy="3665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8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24480" cy="5918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07840" cy="5918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3920" cy="1581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3480" cy="4854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3920" cy="3792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3920" cy="1581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3480" cy="4854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3920" cy="3792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24560" cy="106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4080" cy="49341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408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6616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6616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19760" cy="288180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D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g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e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g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n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ta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ti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n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n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d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Q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u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n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ti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fi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at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io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n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f 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y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8/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5/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0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</a:t>
            </a: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43"/>
          <p:cNvSpPr/>
          <p:nvPr/>
        </p:nvSpPr>
        <p:spPr>
          <a:xfrm>
            <a:off x="1143000" y="274356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How does my code calculate the </a:t>
            </a: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signal?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35"/>
          <p:cNvSpPr/>
          <p:nvPr/>
        </p:nvSpPr>
        <p:spPr>
          <a:xfrm>
            <a:off x="1143000" y="274356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40A_UAS-TMEM1923x-HA x 71G10 40A MARCM_L3_1_Airy_010724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1"/>
          <p:cNvSpPr/>
          <p:nvPr/>
        </p:nvSpPr>
        <p:spPr>
          <a:xfrm>
            <a:off x="457200" y="22860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STAGE 1: VOXEL INTENSITIES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86160" y="1006920"/>
            <a:ext cx="4343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1)USE CH1 AS THE SIGNAL CHANNEL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5029200" y="914400"/>
            <a:ext cx="3495600" cy="5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2971800" y="3429000"/>
            <a:ext cx="548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OUTCOME: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ARRAY WITH VOXEL INTENSITIES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86160" y="2081880"/>
            <a:ext cx="43430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img_ch1?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This is the lysosome fluorescence channel.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943960" y="2057400"/>
            <a:ext cx="43430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.astype(np.float32)?         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Converts image to decimal numbers and later it subtract background. Also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457200" y="3886200"/>
            <a:ext cx="4515120" cy="28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3"/>
          <a:stretch/>
        </p:blipFill>
        <p:spPr>
          <a:xfrm>
            <a:off x="4676760" y="3915000"/>
            <a:ext cx="309564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4"/>
          <a:stretch/>
        </p:blipFill>
        <p:spPr>
          <a:xfrm>
            <a:off x="8067600" y="3793680"/>
            <a:ext cx="3133800" cy="280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44"/>
          <p:cNvSpPr/>
          <p:nvPr/>
        </p:nvSpPr>
        <p:spPr>
          <a:xfrm>
            <a:off x="457200" y="22860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STAGE 2: BACKGROUND SUBTRACTION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86160" y="1006920"/>
            <a:ext cx="5943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computes the 5th percentile intensity.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86480" y="1371600"/>
            <a:ext cx="7585920" cy="61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it mean?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5% of pixels are darker than this value.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assumption is: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voxels are background/dark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a minority contain bright biological signal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darkest few percent approximate background noise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5th percentile only works well if: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has lots of dark background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 occupies small fraction of volume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becomes problematic when: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is densely fluorescent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lysosomes fill most of the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 diffuse staining exists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the 5th percentile may already contain real biology.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7543800" y="1010160"/>
            <a:ext cx="3133800" cy="36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7115040" y="1467360"/>
            <a:ext cx="385776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7188120" y="2045880"/>
            <a:ext cx="4470480" cy="141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clip?                                                         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subtraction gives negative values, clip makes negatives become 0 and so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 never becomes negative.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3"/>
          <a:stretch/>
        </p:blipFill>
        <p:spPr>
          <a:xfrm>
            <a:off x="8115840" y="2971800"/>
            <a:ext cx="1028160" cy="5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4"/>
          <a:stretch/>
        </p:blipFill>
        <p:spPr>
          <a:xfrm>
            <a:off x="9144000" y="2743200"/>
            <a:ext cx="1123560" cy="93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5"/>
          <a:stretch/>
        </p:blipFill>
        <p:spPr>
          <a:xfrm>
            <a:off x="6858000" y="4011480"/>
            <a:ext cx="5191560" cy="238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30"/>
          <p:cNvSpPr/>
          <p:nvPr/>
        </p:nvSpPr>
        <p:spPr>
          <a:xfrm>
            <a:off x="18720" y="-5760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STAGE 3: GET ALL CELL IDs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60" y="581040"/>
            <a:ext cx="82292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cell_seg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the watershed segmentation image with unique labels.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30120" y="1788120"/>
            <a:ext cx="515628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Removes background. Background label is always 0.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4114440" y="1223640"/>
            <a:ext cx="274356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"/>
          <p:cNvPicPr/>
          <p:nvPr/>
        </p:nvPicPr>
        <p:blipFill>
          <a:blip r:embed="rId2"/>
          <a:stretch/>
        </p:blipFill>
        <p:spPr>
          <a:xfrm>
            <a:off x="5381640" y="1788120"/>
            <a:ext cx="330516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3"/>
          <a:stretch/>
        </p:blipFill>
        <p:spPr>
          <a:xfrm>
            <a:off x="330120" y="2329920"/>
            <a:ext cx="4152960" cy="181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4"/>
          <a:stretch/>
        </p:blipFill>
        <p:spPr>
          <a:xfrm>
            <a:off x="447840" y="4343400"/>
            <a:ext cx="2523960" cy="251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5"/>
          <a:stretch/>
        </p:blipFill>
        <p:spPr>
          <a:xfrm>
            <a:off x="4483080" y="2329920"/>
            <a:ext cx="2971800" cy="299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6"/>
          <a:stretch/>
        </p:blipFill>
        <p:spPr>
          <a:xfrm>
            <a:off x="4572000" y="5785920"/>
            <a:ext cx="6172200" cy="61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7"/>
          <a:stretch/>
        </p:blipFill>
        <p:spPr>
          <a:xfrm>
            <a:off x="4114800" y="976320"/>
            <a:ext cx="5334120" cy="24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58"/>
          <p:cNvSpPr/>
          <p:nvPr/>
        </p:nvSpPr>
        <p:spPr>
          <a:xfrm>
            <a:off x="0" y="-57600"/>
            <a:ext cx="1165860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STAGE 4: COMPUTE SIGNAL PER CELL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28600" y="685800"/>
            <a:ext cx="4800600" cy="18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 over every cell.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Cell_mask: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Creates a boolean mask.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Calculate signal per cell.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Calculate volume per cell.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4505040" y="685800"/>
            <a:ext cx="359136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2"/>
          <a:stretch/>
        </p:blipFill>
        <p:spPr>
          <a:xfrm>
            <a:off x="457200" y="2510640"/>
            <a:ext cx="1428480" cy="13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3"/>
          <a:stretch/>
        </p:blipFill>
        <p:spPr>
          <a:xfrm>
            <a:off x="2286000" y="2514960"/>
            <a:ext cx="200952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4"/>
          <a:stretch/>
        </p:blipFill>
        <p:spPr>
          <a:xfrm>
            <a:off x="603000" y="3886200"/>
            <a:ext cx="694080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5"/>
          <a:stretch/>
        </p:blipFill>
        <p:spPr>
          <a:xfrm>
            <a:off x="685800" y="5257800"/>
            <a:ext cx="565884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53"/>
          <p:cNvSpPr/>
          <p:nvPr/>
        </p:nvSpPr>
        <p:spPr>
          <a:xfrm>
            <a:off x="228600" y="0"/>
            <a:ext cx="1165860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STAGE 5: COMPUTE LYSOSOME SIGNAL PER CELL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28600" y="1143000"/>
            <a:ext cx="4800600" cy="205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Loop over every cell.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Cell_mask: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Creates a boolean mask.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Combined: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Intersection of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voxels AND lysosome voxels.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Lysosome voxels inside this specific cell.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5943600" y="743400"/>
            <a:ext cx="4739400" cy="414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819720" y="3429360"/>
            <a:ext cx="100908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/>
          <p:cNvPicPr/>
          <p:nvPr/>
        </p:nvPicPr>
        <p:blipFill>
          <a:blip r:embed="rId3"/>
          <a:stretch/>
        </p:blipFill>
        <p:spPr>
          <a:xfrm>
            <a:off x="2514600" y="3505680"/>
            <a:ext cx="1066320" cy="106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"/>
          <p:cNvPicPr/>
          <p:nvPr/>
        </p:nvPicPr>
        <p:blipFill>
          <a:blip r:embed="rId4"/>
          <a:stretch/>
        </p:blipFill>
        <p:spPr>
          <a:xfrm>
            <a:off x="4114800" y="3429000"/>
            <a:ext cx="9140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 txBox="1"/>
          <p:nvPr/>
        </p:nvSpPr>
        <p:spPr>
          <a:xfrm>
            <a:off x="228600" y="3657600"/>
            <a:ext cx="591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mask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828800" y="3657600"/>
            <a:ext cx="819720" cy="51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Lysosome mask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829160" y="3657960"/>
            <a:ext cx="819720" cy="51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Lysosome mask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429000" y="3657600"/>
            <a:ext cx="819720" cy="51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Combined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/>
          <p:cNvPicPr/>
          <p:nvPr/>
        </p:nvPicPr>
        <p:blipFill>
          <a:blip r:embed="rId5"/>
          <a:stretch/>
        </p:blipFill>
        <p:spPr>
          <a:xfrm>
            <a:off x="457200" y="5257800"/>
            <a:ext cx="10764000" cy="91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129960"/>
            <a:ext cx="257832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s 10"/>
          <p:cNvSpPr/>
          <p:nvPr/>
        </p:nvSpPr>
        <p:spPr>
          <a:xfrm>
            <a:off x="1440" y="914400"/>
            <a:ext cx="2276640" cy="5241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5000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/>
          <p:cNvPicPr/>
          <p:nvPr/>
        </p:nvPicPr>
        <p:blipFill>
          <a:blip r:embed="rId1"/>
          <a:stretch/>
        </p:blipFill>
        <p:spPr>
          <a:xfrm>
            <a:off x="1993320" y="1143000"/>
            <a:ext cx="5093280" cy="434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/>
          <p:cNvPicPr/>
          <p:nvPr/>
        </p:nvPicPr>
        <p:blipFill>
          <a:blip r:embed="rId2"/>
          <a:stretch/>
        </p:blipFill>
        <p:spPr>
          <a:xfrm>
            <a:off x="7236720" y="1325520"/>
            <a:ext cx="4879080" cy="416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28600" y="129960"/>
            <a:ext cx="257832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37440" y="906480"/>
            <a:ext cx="5905440" cy="503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2"/>
          <a:stretch/>
        </p:blipFill>
        <p:spPr>
          <a:xfrm>
            <a:off x="6172200" y="914400"/>
            <a:ext cx="5905440" cy="503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3"/>
          <p:cNvSpPr/>
          <p:nvPr/>
        </p:nvSpPr>
        <p:spPr>
          <a:xfrm>
            <a:off x="154080" y="138600"/>
            <a:ext cx="46458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L3-1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57200" y="914400"/>
            <a:ext cx="68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488200" y="914400"/>
            <a:ext cx="68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800600" y="3979440"/>
            <a:ext cx="68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tretch/>
        </p:blipFill>
        <p:spPr>
          <a:xfrm>
            <a:off x="914400" y="851040"/>
            <a:ext cx="3558960" cy="303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/>
          <p:cNvPicPr/>
          <p:nvPr/>
        </p:nvPicPr>
        <p:blipFill>
          <a:blip r:embed="rId2"/>
          <a:stretch/>
        </p:blipFill>
        <p:spPr>
          <a:xfrm>
            <a:off x="5943600" y="685800"/>
            <a:ext cx="3206520" cy="273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/>
          <p:cNvPicPr/>
          <p:nvPr/>
        </p:nvPicPr>
        <p:blipFill>
          <a:blip r:embed="rId3"/>
          <a:stretch/>
        </p:blipFill>
        <p:spPr>
          <a:xfrm>
            <a:off x="5416200" y="3657600"/>
            <a:ext cx="3499200" cy="298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22"/>
          <p:cNvSpPr/>
          <p:nvPr/>
        </p:nvSpPr>
        <p:spPr>
          <a:xfrm>
            <a:off x="468000" y="239400"/>
            <a:ext cx="10954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L3-1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228600" y="909000"/>
            <a:ext cx="2142720" cy="44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"/>
          <p:cNvPicPr/>
          <p:nvPr/>
        </p:nvPicPr>
        <p:blipFill>
          <a:blip r:embed="rId2"/>
          <a:stretch/>
        </p:blipFill>
        <p:spPr>
          <a:xfrm>
            <a:off x="2733840" y="909000"/>
            <a:ext cx="2337480" cy="69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"/>
          <p:cNvPicPr/>
          <p:nvPr/>
        </p:nvPicPr>
        <p:blipFill>
          <a:blip r:embed="rId3"/>
          <a:stretch/>
        </p:blipFill>
        <p:spPr>
          <a:xfrm>
            <a:off x="5296320" y="909000"/>
            <a:ext cx="2224440" cy="69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"/>
          <p:cNvPicPr/>
          <p:nvPr/>
        </p:nvPicPr>
        <p:blipFill>
          <a:blip r:embed="rId4"/>
          <a:stretch/>
        </p:blipFill>
        <p:spPr>
          <a:xfrm>
            <a:off x="2743200" y="2057400"/>
            <a:ext cx="9097200" cy="59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"/>
          <p:cNvSpPr txBox="1"/>
          <p:nvPr/>
        </p:nvSpPr>
        <p:spPr>
          <a:xfrm>
            <a:off x="2514600" y="3200400"/>
            <a:ext cx="5486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VOXEL * INTENSITY = SIGNAL</a:t>
            </a:r>
            <a:endParaRPr lang="en-US" sz="18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INTENSITY =SIGNAL/ VOXEL</a:t>
            </a:r>
            <a:endParaRPr lang="en-US" sz="18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5"/>
          <a:stretch/>
        </p:blipFill>
        <p:spPr>
          <a:xfrm>
            <a:off x="2514600" y="4057920"/>
            <a:ext cx="934380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/>
          <p:cNvPicPr/>
          <p:nvPr/>
        </p:nvPicPr>
        <p:blipFill>
          <a:blip r:embed="rId6"/>
          <a:stretch/>
        </p:blipFill>
        <p:spPr>
          <a:xfrm>
            <a:off x="7763040" y="3061800"/>
            <a:ext cx="3666960" cy="80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2620</TotalTime>
  <Application>LibreOffice/25.8.6.2$Windows_X86_64 LibreOffice_project/b4b39682cd9868fa725bc664aff94278d315bd04</Application>
  <AppVersion>15.0000</AppVersion>
  <Words>5669</Words>
  <Paragraphs>351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2026-05-28T00:40:02Z</dcterms:modified>
  <cp:revision>1263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26</vt:i4>
  </property>
</Properties>
</file>