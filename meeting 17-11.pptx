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343" r:id="rId3"/>
    <p:sldId id="526" r:id="rId5"/>
    <p:sldId id="588" r:id="rId6"/>
    <p:sldId id="590" r:id="rId7"/>
    <p:sldId id="519" r:id="rId8"/>
    <p:sldId id="522" r:id="rId9"/>
    <p:sldId id="524" r:id="rId10"/>
    <p:sldId id="562" r:id="rId11"/>
    <p:sldId id="541" r:id="rId12"/>
    <p:sldId id="540" r:id="rId13"/>
    <p:sldId id="565" r:id="rId14"/>
    <p:sldId id="539" r:id="rId15"/>
    <p:sldId id="543" r:id="rId16"/>
    <p:sldId id="580" r:id="rId17"/>
    <p:sldId id="544" r:id="rId18"/>
    <p:sldId id="545" r:id="rId19"/>
    <p:sldId id="591" r:id="rId20"/>
    <p:sldId id="592" r:id="rId21"/>
    <p:sldId id="593" r:id="rId22"/>
    <p:sldId id="549" r:id="rId23"/>
    <p:sldId id="566" r:id="rId24"/>
    <p:sldId id="567" r:id="rId25"/>
    <p:sldId id="571" r:id="rId26"/>
    <p:sldId id="572" r:id="rId27"/>
    <p:sldId id="573" r:id="rId28"/>
    <p:sldId id="574" r:id="rId29"/>
    <p:sldId id="556" r:id="rId30"/>
    <p:sldId id="577" r:id="rId31"/>
    <p:sldId id="578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dmin" initials="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1" d="100"/>
          <a:sy n="151" d="100"/>
        </p:scale>
        <p:origin x="624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6" Type="http://schemas.openxmlformats.org/officeDocument/2006/relationships/commentAuthors" Target="commentAuthors.xml"/><Relationship Id="rId35" Type="http://schemas.openxmlformats.org/officeDocument/2006/relationships/tableStyles" Target="tableStyles.xml"/><Relationship Id="rId34" Type="http://schemas.openxmlformats.org/officeDocument/2006/relationships/viewProps" Target="viewProps.xml"/><Relationship Id="rId33" Type="http://schemas.openxmlformats.org/officeDocument/2006/relationships/presProps" Target="presProps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GB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24417" y="3717925"/>
            <a:ext cx="10943167" cy="1082675"/>
          </a:xfrm>
        </p:spPr>
        <p:txBody>
          <a:bodyPr/>
          <a:lstStyle>
            <a:lvl1pPr algn="r">
              <a:defRPr/>
            </a:lvl1pPr>
          </a:lstStyle>
          <a:p>
            <a:pPr lvl="0"/>
            <a:r>
              <a:rPr lang="en-US" altLang="zh-CN" noProof="0"/>
              <a:t>Click to edit Master title style</a:t>
            </a:r>
            <a:endParaRPr lang="en-US" altLang="zh-CN" noProof="0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626533" y="4940300"/>
            <a:ext cx="10949517" cy="981075"/>
          </a:xfrm>
        </p:spPr>
        <p:txBody>
          <a:bodyPr/>
          <a:lstStyle>
            <a:lvl1pPr marL="0" indent="0" algn="r">
              <a:buFontTx/>
              <a:buNone/>
              <a:defRPr/>
            </a:lvl1pPr>
          </a:lstStyle>
          <a:p>
            <a:pPr lvl="0"/>
            <a:r>
              <a:rPr lang="en-US" altLang="zh-CN" noProof="0"/>
              <a:t>Click to edit Master subtitle style</a:t>
            </a:r>
            <a:endParaRPr lang="en-US" altLang="zh-CN" noProof="0"/>
          </a:p>
        </p:txBody>
      </p:sp>
      <p:sp>
        <p:nvSpPr>
          <p:cNvPr id="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1E351CED-465B-40B5-ADCE-957C918F227B}" type="datetimeFigureOut">
              <a:rPr lang="en-US" smtClean="0"/>
            </a:fld>
            <a:endParaRPr lang="en-US"/>
          </a:p>
        </p:txBody>
      </p:sp>
      <p:sp>
        <p:nvSpPr>
          <p:cNvPr id="1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1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5A33CB2A-1702-4C1D-9CC4-8D472D39F19E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3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174750"/>
            <a:ext cx="5384800" cy="4953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174750"/>
            <a:ext cx="5384800" cy="4953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317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0317" y="2505075"/>
            <a:ext cx="5158316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717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717" y="987425"/>
            <a:ext cx="6172200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190500"/>
            <a:ext cx="2743200" cy="593725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190500"/>
            <a:ext cx="8026400" cy="59372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2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10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7" name="Rectangle 3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582613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lstStyle/>
          <a:p>
            <a:pPr lvl="0"/>
            <a:r>
              <a:rPr lang="en-US" altLang="zh-CN" dirty="0"/>
              <a:t>Click to edit Master title style</a:t>
            </a:r>
            <a:endParaRPr lang="en-US" altLang="zh-CN" dirty="0"/>
          </a:p>
        </p:txBody>
      </p:sp>
      <p:sp>
        <p:nvSpPr>
          <p:cNvPr id="1028" name="Rectangle 4"/>
          <p:cNvSpPr>
            <a:spLocks noGrp="1"/>
          </p:cNvSpPr>
          <p:nvPr>
            <p:ph type="body" idx="1"/>
          </p:nvPr>
        </p:nvSpPr>
        <p:spPr>
          <a:xfrm>
            <a:off x="609600" y="1174750"/>
            <a:ext cx="10972800" cy="4953000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1400"/>
            </a:lvl1pPr>
          </a:lstStyle>
          <a:p>
            <a:fld id="{1E351CED-465B-40B5-ADCE-957C918F227B}" type="datetimeFigureOut">
              <a:rPr lang="en-US" smtClean="0"/>
            </a:fld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1400"/>
            </a:lvl1pPr>
          </a:lstStyle>
          <a:p>
            <a:endParaRPr lang="en-US"/>
          </a:p>
        </p:txBody>
      </p:sp>
      <p:sp>
        <p:nvSpPr>
          <p:cNvPr id="103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1400"/>
            </a:lvl1pPr>
          </a:lstStyle>
          <a:p>
            <a:fld id="{5A33CB2A-1702-4C1D-9CC4-8D472D39F19E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rtl="0" fontAlgn="base">
        <a:spcBef>
          <a:spcPct val="0"/>
        </a:spcBef>
        <a:spcAft>
          <a:spcPct val="0"/>
        </a:spcAft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2pPr>
      <a:lvl3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3pPr>
      <a:lvl4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4pPr>
      <a:lvl5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/>
          <p:cNvSpPr>
            <a:spLocks noGrp="1"/>
          </p:cNvSpPr>
          <p:nvPr>
            <p:ph type="subTitle" idx="1"/>
          </p:nvPr>
        </p:nvSpPr>
        <p:spPr>
          <a:xfrm>
            <a:off x="734695" y="1720850"/>
            <a:ext cx="10338435" cy="2900680"/>
          </a:xfrm>
        </p:spPr>
        <p:txBody>
          <a:bodyPr lIns="91440" tIns="45720" rIns="91440" bIns="45720" anchor="t">
            <a:noAutofit/>
          </a:bodyPr>
          <a:lstStyle/>
          <a:p>
            <a:pPr marL="0" indent="0" algn="ctr">
              <a:buNone/>
            </a:pPr>
            <a:r>
              <a:rPr lang="en-US" altLang="en-GB" sz="4300" b="1" i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3D Image Segmentation and Quantification of Lysosomes</a:t>
            </a:r>
            <a:endParaRPr lang="en-US" altLang="en-GB" sz="4300" b="1" i="1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0" indent="0" algn="ctr">
              <a:buNone/>
            </a:pPr>
            <a:r>
              <a:rPr lang="en-US" altLang="en-GB" sz="4300" b="1" i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17/11/2025</a:t>
            </a:r>
            <a:endParaRPr lang="en-US" altLang="en-GB" sz="4300" b="1" i="1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0" indent="0" algn="ctr">
              <a:buNone/>
            </a:pPr>
            <a:endParaRPr lang="en-US" altLang="en-GB" sz="4300" b="1" i="1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000365" cy="697865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lang="en-US" altLang="en-GB" sz="32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PROBLEMS</a:t>
            </a:r>
            <a:endParaRPr lang="en-US" altLang="en-GB" sz="32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309880" cy="11068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>
                <a:solidFill>
                  <a:srgbClr val="323232"/>
                </a:solidFill>
              </a:defRPr>
            </a:pPr>
            <a:endParaRPr lang="en-US" sz="4800"/>
          </a:p>
        </p:txBody>
      </p:sp>
      <p:sp>
        <p:nvSpPr>
          <p:cNvPr id="4" name="Text Box 3"/>
          <p:cNvSpPr txBox="1"/>
          <p:nvPr/>
        </p:nvSpPr>
        <p:spPr>
          <a:xfrm>
            <a:off x="635635" y="834390"/>
            <a:ext cx="11173460" cy="47078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GB" sz="4400"/>
              <a:t>Incorrect scale values.</a:t>
            </a:r>
            <a:endParaRPr lang="en-US" altLang="en-GB" sz="4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GB" sz="4400"/>
              <a:t>Inaccurate radius estimation.</a:t>
            </a:r>
            <a:endParaRPr lang="en-US" altLang="en-GB" sz="4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GB" sz="4400"/>
              <a:t>Lysosomes located near organelle borders are being classified as outside the cell, even though they should be counted as inside.</a:t>
            </a:r>
            <a:endParaRPr lang="en-US" altLang="en-GB" sz="44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en-GB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en-GB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000365" cy="697865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lang="en-US" altLang="en-GB" sz="32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Solutions</a:t>
            </a:r>
            <a:endParaRPr lang="en-US" altLang="en-GB" sz="32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309880" cy="11068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>
                <a:solidFill>
                  <a:srgbClr val="323232"/>
                </a:solidFill>
              </a:defRPr>
            </a:pPr>
            <a:endParaRPr lang="en-US" sz="4800"/>
          </a:p>
        </p:txBody>
      </p:sp>
      <p:sp>
        <p:nvSpPr>
          <p:cNvPr id="4" name="Text Box 3"/>
          <p:cNvSpPr txBox="1"/>
          <p:nvPr/>
        </p:nvSpPr>
        <p:spPr>
          <a:xfrm>
            <a:off x="635635" y="834390"/>
            <a:ext cx="11173460" cy="59391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en-GB" sz="2000" b="1"/>
              <a:t>Scale correction:</a:t>
            </a:r>
            <a:r>
              <a:rPr lang="en-US" altLang="en-GB" sz="2000"/>
              <a:t> Verified and corrected the voxel dimensions by checking the image calibration in ImageJ. The voxel scale values (X, Y, Z) are now consistent and accurately applied during metric calculations.</a:t>
            </a:r>
            <a:endParaRPr lang="en-US" altLang="en-GB" sz="200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en-GB" sz="20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en-GB" sz="2000" b="1"/>
              <a:t>Radius refinement: </a:t>
            </a:r>
            <a:r>
              <a:rPr lang="en-US" altLang="en-GB" sz="2000"/>
              <a:t>Implemented a </a:t>
            </a:r>
            <a:r>
              <a:rPr lang="en-US" altLang="en-GB" sz="2000" b="1"/>
              <a:t>distance transform (DT)–based refinement</a:t>
            </a:r>
            <a:r>
              <a:rPr lang="en-US" altLang="en-GB" sz="2000"/>
              <a:t>. This method re-estimates each lysosome’s radius from the coarse blob_log detections, providing a more geometric and boundary-aware measurement of the true lysosomal size and using better local and generic adaptive threshold for each lysosome.</a:t>
            </a:r>
            <a:endParaRPr lang="en-US" altLang="en-GB" sz="200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en-GB" sz="20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en-GB" sz="2000" b="1"/>
              <a:t>Boundary inclusion adjustments:</a:t>
            </a:r>
            <a:endParaRPr lang="en-US" altLang="en-GB" sz="2000" b="1"/>
          </a:p>
          <a:p>
            <a:pPr marL="742950" lvl="1" indent="-285750">
              <a:buFont typeface="Wingdings" panose="05000000000000000000" charset="0"/>
              <a:buChar char="v"/>
            </a:pPr>
            <a:r>
              <a:rPr lang="en-US" altLang="en-GB" sz="2000" i="1" u="sng"/>
              <a:t>MARGIN_UM:</a:t>
            </a:r>
            <a:r>
              <a:rPr lang="en-US" altLang="en-GB" sz="2000" i="1"/>
              <a:t> </a:t>
            </a:r>
            <a:r>
              <a:rPr lang="en-US" altLang="en-GB" sz="2000"/>
              <a:t>defines a soft margin (in micrometers) outside the segmented cell mask. Lysosomes within this margin are now correctly counted as inside the cell.</a:t>
            </a:r>
            <a:endParaRPr lang="en-US" altLang="en-GB" sz="2000"/>
          </a:p>
          <a:p>
            <a:pPr marL="742950" lvl="1" indent="-285750">
              <a:buFont typeface="Wingdings" panose="05000000000000000000" charset="0"/>
              <a:buChar char="v"/>
            </a:pPr>
            <a:r>
              <a:rPr lang="en-US" altLang="en-GB" sz="2000" i="1" u="sng"/>
              <a:t>OVERLAP_ALPHA:</a:t>
            </a:r>
            <a:r>
              <a:rPr lang="en-US" altLang="en-GB" sz="2000"/>
              <a:t> sets the minimum overlap fraction (0–1) between a lysosome’s 3D sphere (based on its detected radius) and the cell mask required for it to be classified as inside.</a:t>
            </a:r>
            <a:endParaRPr lang="en-US" altLang="en-GB" sz="2000"/>
          </a:p>
          <a:p>
            <a:pPr marL="742950" lvl="1" indent="-285750">
              <a:buFont typeface="Wingdings" panose="05000000000000000000" charset="0"/>
              <a:buChar char="v"/>
            </a:pPr>
            <a:r>
              <a:rPr lang="en-US" altLang="en-GB" sz="2000" i="1" u="sng"/>
              <a:t>NEIGHBOR_MAX_VOX:</a:t>
            </a:r>
            <a:r>
              <a:rPr lang="en-US" altLang="en-GB" sz="2000"/>
              <a:t> defines the search radius (in voxels) for assigning a lysosome to the nearest cell label when it lies just outside any segmented cell—helping recover lysosomes lost due to erosion or segmentation gaps.</a:t>
            </a:r>
            <a:endParaRPr lang="en-US" altLang="en-GB" sz="20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en-GB" sz="2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000365" cy="697865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lang="en-US" altLang="en-GB" sz="32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Next steps</a:t>
            </a:r>
            <a:endParaRPr lang="en-US" altLang="en-GB" sz="32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309880" cy="11068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>
                <a:solidFill>
                  <a:srgbClr val="323232"/>
                </a:solidFill>
              </a:defRPr>
            </a:pPr>
            <a:endParaRPr lang="en-US" sz="4800"/>
          </a:p>
        </p:txBody>
      </p:sp>
      <p:sp>
        <p:nvSpPr>
          <p:cNvPr id="4" name="Text Box 3"/>
          <p:cNvSpPr txBox="1"/>
          <p:nvPr/>
        </p:nvSpPr>
        <p:spPr>
          <a:xfrm>
            <a:off x="635635" y="834390"/>
            <a:ext cx="11173460" cy="52463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>
              <a:buFont typeface="Arial" panose="020B0604020202020204" pitchFamily="34" charset="0"/>
              <a:buNone/>
            </a:pPr>
            <a:endParaRPr lang="en-US" altLang="en-GB" sz="2000"/>
          </a:p>
          <a:p>
            <a:pPr indent="0">
              <a:buFont typeface="Arial" panose="020B0604020202020204" pitchFamily="34" charset="0"/>
              <a:buNone/>
            </a:pPr>
            <a:r>
              <a:rPr lang="en-US" altLang="en-GB" sz="1500" b="1"/>
              <a:t>Optimize σ (sigma) parameter</a:t>
            </a:r>
            <a:endParaRPr lang="en-US" altLang="en-GB" sz="1500" b="1"/>
          </a:p>
          <a:p>
            <a:pPr indent="0">
              <a:buFont typeface="Arial" panose="020B0604020202020204" pitchFamily="34" charset="0"/>
              <a:buNone/>
            </a:pPr>
            <a:r>
              <a:rPr lang="en-US" altLang="en-GB" sz="1500"/>
              <a:t>Continue investigating the optimal sigma range for the blob_log detector to achieve the best balance between sensitivity and accuracy in lysosome detection.</a:t>
            </a:r>
            <a:endParaRPr lang="en-US" altLang="en-GB" sz="1500"/>
          </a:p>
          <a:p>
            <a:pPr indent="0">
              <a:buFont typeface="Arial" panose="020B0604020202020204" pitchFamily="34" charset="0"/>
              <a:buNone/>
            </a:pPr>
            <a:endParaRPr lang="en-US" altLang="en-GB" sz="1500"/>
          </a:p>
          <a:p>
            <a:pPr indent="0">
              <a:buFont typeface="Arial" panose="020B0604020202020204" pitchFamily="34" charset="0"/>
              <a:buNone/>
            </a:pPr>
            <a:r>
              <a:rPr lang="en-US" altLang="en-GB" sz="1500" b="1"/>
              <a:t>Automate parameter tuning</a:t>
            </a:r>
            <a:endParaRPr lang="en-US" altLang="en-GB" sz="1500" b="1"/>
          </a:p>
          <a:p>
            <a:pPr indent="0">
              <a:buFont typeface="Arial" panose="020B0604020202020204" pitchFamily="34" charset="0"/>
              <a:buNone/>
            </a:pPr>
            <a:r>
              <a:rPr lang="en-US" altLang="en-GB" sz="1500"/>
              <a:t>Implement automated optimization routines for key script parameters (e.g., thresholds, morphology radii, and sigma values) to minimize manual intervention and ensure reproducible results.</a:t>
            </a:r>
            <a:endParaRPr lang="en-US" altLang="en-GB" sz="1500"/>
          </a:p>
          <a:p>
            <a:pPr indent="0">
              <a:buFont typeface="Arial" panose="020B0604020202020204" pitchFamily="34" charset="0"/>
              <a:buNone/>
            </a:pPr>
            <a:endParaRPr lang="en-US" altLang="en-GB" sz="1500"/>
          </a:p>
          <a:p>
            <a:pPr indent="0">
              <a:buFont typeface="Arial" panose="020B0604020202020204" pitchFamily="34" charset="0"/>
              <a:buNone/>
            </a:pPr>
            <a:r>
              <a:rPr lang="en-US" altLang="en-GB" sz="1500" b="1"/>
              <a:t>Generate static 3D visualizations</a:t>
            </a:r>
            <a:endParaRPr lang="en-US" altLang="en-GB" sz="1500" b="1"/>
          </a:p>
          <a:p>
            <a:pPr indent="0">
              <a:buFont typeface="Arial" panose="020B0604020202020204" pitchFamily="34" charset="0"/>
              <a:buNone/>
            </a:pPr>
            <a:r>
              <a:rPr lang="en-US" altLang="en-GB" sz="1500"/>
              <a:t>Create high-quality static 3D renderings of segmented cells and lysosomes for documentation, figures, and presentations.</a:t>
            </a:r>
            <a:endParaRPr lang="en-US" altLang="en-GB" sz="1500"/>
          </a:p>
          <a:p>
            <a:pPr indent="0">
              <a:buFont typeface="Arial" panose="020B0604020202020204" pitchFamily="34" charset="0"/>
              <a:buNone/>
            </a:pPr>
            <a:endParaRPr lang="en-US" altLang="en-GB" sz="1500" b="1"/>
          </a:p>
          <a:p>
            <a:pPr indent="0">
              <a:buFont typeface="Arial" panose="020B0604020202020204" pitchFamily="34" charset="0"/>
              <a:buNone/>
            </a:pPr>
            <a:r>
              <a:rPr lang="en-US" altLang="en-GB" sz="1500" b="1"/>
              <a:t>Process additional datasets</a:t>
            </a:r>
            <a:endParaRPr lang="en-US" altLang="en-GB" sz="1500" b="1"/>
          </a:p>
          <a:p>
            <a:pPr indent="0">
              <a:buFont typeface="Arial" panose="020B0604020202020204" pitchFamily="34" charset="0"/>
              <a:buNone/>
            </a:pPr>
            <a:r>
              <a:rPr lang="en-US" altLang="en-GB" sz="1500"/>
              <a:t>Expand the analysis to include more image stacks to validate robustness and performance across different imaging conditions.</a:t>
            </a:r>
            <a:endParaRPr lang="en-US" altLang="en-GB" sz="1500"/>
          </a:p>
          <a:p>
            <a:pPr indent="0">
              <a:buFont typeface="Arial" panose="020B0604020202020204" pitchFamily="34" charset="0"/>
              <a:buNone/>
            </a:pPr>
            <a:endParaRPr lang="en-US" altLang="en-GB" sz="1500"/>
          </a:p>
          <a:p>
            <a:pPr indent="0">
              <a:buFont typeface="Arial" panose="020B0604020202020204" pitchFamily="34" charset="0"/>
              <a:buNone/>
            </a:pPr>
            <a:r>
              <a:rPr lang="en-US" altLang="en-GB" sz="1500" b="1"/>
              <a:t>Set up the environment on the server</a:t>
            </a:r>
            <a:endParaRPr lang="en-US" altLang="en-GB" sz="1500" b="1"/>
          </a:p>
          <a:p>
            <a:pPr indent="0">
              <a:buFont typeface="Arial" panose="020B0604020202020204" pitchFamily="34" charset="0"/>
              <a:buNone/>
            </a:pPr>
            <a:r>
              <a:rPr lang="en-US" altLang="en-GB" sz="1500"/>
              <a:t>Install all required programs, dependencies, and Python libraries on the analysis server to enable remote execution and ensure consistent environments across users.</a:t>
            </a:r>
            <a:endParaRPr lang="en-US" altLang="en-GB" sz="1500"/>
          </a:p>
          <a:p>
            <a:pPr indent="0">
              <a:buFont typeface="Arial" panose="020B0604020202020204" pitchFamily="34" charset="0"/>
              <a:buNone/>
            </a:pPr>
            <a:endParaRPr lang="en-US" altLang="en-GB" sz="1500"/>
          </a:p>
          <a:p>
            <a:pPr indent="0">
              <a:buFont typeface="Arial" panose="020B0604020202020204" pitchFamily="34" charset="0"/>
              <a:buNone/>
            </a:pPr>
            <a:r>
              <a:rPr lang="en-US" altLang="en-GB" sz="1500" b="1"/>
              <a:t>Implement batch processing</a:t>
            </a:r>
            <a:endParaRPr lang="en-US" altLang="en-GB" sz="1500" b="1"/>
          </a:p>
          <a:p>
            <a:pPr indent="0">
              <a:buFont typeface="Arial" panose="020B0604020202020204" pitchFamily="34" charset="0"/>
              <a:buNone/>
            </a:pPr>
            <a:r>
              <a:rPr lang="en-US" altLang="en-GB" sz="1500"/>
              <a:t>Develop a batch-processing workflow to automatically analyze multiple images or datasets sequentially, improving throughput and </a:t>
            </a:r>
            <a:r>
              <a:rPr lang="en-US" altLang="en-GB" sz="1500"/>
              <a:t>efficiency.</a:t>
            </a:r>
            <a:endParaRPr lang="en-US" altLang="en-GB" sz="15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84455"/>
            <a:ext cx="10972800" cy="582613"/>
          </a:xfrm>
        </p:spPr>
        <p:txBody>
          <a:bodyPr/>
          <a:p>
            <a:r>
              <a:rPr lang="en-US" altLang="en-GB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FILES</a:t>
            </a:r>
            <a:endParaRPr lang="en-US" altLang="en-GB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667385"/>
            <a:ext cx="10972800" cy="4953000"/>
          </a:xfrm>
        </p:spPr>
        <p:txBody>
          <a:bodyPr/>
          <a:p>
            <a:pPr>
              <a:buFont typeface="Wingdings" panose="05000000000000000000" charset="0"/>
              <a:buChar char="ü"/>
            </a:pPr>
            <a:r>
              <a:rPr lang="en-US" altLang="en-GB" sz="2800"/>
              <a:t>Airy scan_40A_UAS-TMEM-HA_CB_0h_1_051222</a:t>
            </a:r>
            <a:endParaRPr lang="en-US" altLang="en-GB" sz="2800"/>
          </a:p>
          <a:p>
            <a:pPr>
              <a:buFont typeface="Wingdings" panose="05000000000000000000" charset="0"/>
              <a:buChar char="ü"/>
            </a:pPr>
            <a:r>
              <a:rPr lang="en-US" altLang="en-GB" sz="2800"/>
              <a:t>Airy scan_40A_UAS-TMEM-HA_CB_0h_2_051222</a:t>
            </a:r>
            <a:endParaRPr lang="en-US" altLang="en-GB" sz="2800"/>
          </a:p>
          <a:p>
            <a:pPr>
              <a:buFont typeface="Wingdings" panose="05000000000000000000" charset="0"/>
              <a:buChar char="ü"/>
            </a:pPr>
            <a:r>
              <a:rPr lang="en-US" altLang="en-GB" sz="2800"/>
              <a:t>Airy scan_40A_UAS-TMEM-HA_CB_4h_1_051222</a:t>
            </a:r>
            <a:endParaRPr lang="en-US" altLang="en-GB" sz="2800"/>
          </a:p>
          <a:p>
            <a:pPr>
              <a:buFont typeface="Wingdings" panose="05000000000000000000" charset="0"/>
              <a:buChar char="ü"/>
            </a:pPr>
            <a:r>
              <a:rPr lang="en-US" altLang="en-GB" sz="2800"/>
              <a:t>Airy scan_40A_UAS-TMEM-HA_CB_4h_2_051222</a:t>
            </a:r>
            <a:endParaRPr lang="en-US" altLang="en-GB" sz="2800"/>
          </a:p>
          <a:p>
            <a:pPr>
              <a:buFont typeface="Wingdings" panose="05000000000000000000" charset="0"/>
              <a:buChar char="ü"/>
            </a:pPr>
            <a:r>
              <a:rPr lang="en-US" altLang="en-GB" sz="2800"/>
              <a:t>TMEM-HA 6h CB airy_3_170722</a:t>
            </a:r>
            <a:endParaRPr lang="en-US" altLang="en-GB" sz="2800"/>
          </a:p>
          <a:p>
            <a:pPr>
              <a:buFont typeface="Wingdings" panose="05000000000000000000" charset="0"/>
              <a:buChar char="ü"/>
            </a:pPr>
            <a:r>
              <a:rPr lang="en-US" altLang="en-GB" sz="2800"/>
              <a:t>40A_UAS-TMEM192-3xHA x 40A 71G10 MARCM_around 12h - for quantification_4 Airy-CBs_300425</a:t>
            </a:r>
            <a:endParaRPr lang="en-US" altLang="en-GB" sz="2800"/>
          </a:p>
          <a:p>
            <a:pPr>
              <a:buFont typeface="Wingdings" panose="05000000000000000000" charset="0"/>
              <a:buChar char="ü"/>
            </a:pPr>
            <a:r>
              <a:rPr lang="en-US" altLang="en-GB" sz="2800">
                <a:solidFill>
                  <a:schemeClr val="tx1"/>
                </a:solidFill>
                <a:effectLst/>
              </a:rPr>
              <a:t>40A_UAS-TMEM192-3xHA x 40A 71G10 MARCM_around 12h - for quantification_3 Airy-CBs_300425</a:t>
            </a:r>
            <a:endParaRPr lang="en-US" altLang="en-GB" sz="2800">
              <a:solidFill>
                <a:schemeClr val="tx1"/>
              </a:solidFill>
              <a:effectLst/>
            </a:endParaRPr>
          </a:p>
          <a:p>
            <a:pPr>
              <a:buFont typeface="Wingdings" panose="05000000000000000000" charset="0"/>
              <a:buChar char="ü"/>
            </a:pPr>
            <a:r>
              <a:rPr lang="en-US" altLang="en-GB" sz="2800">
                <a:solidFill>
                  <a:schemeClr val="tx1"/>
                </a:solidFill>
                <a:effectLst/>
              </a:rPr>
              <a:t>40A_UAS-TMEM1923x-HA x 71G10 40A MARCM_L3_2_Airy_010724</a:t>
            </a:r>
            <a:endParaRPr lang="en-US" altLang="en-GB" sz="2800">
              <a:solidFill>
                <a:schemeClr val="tx1"/>
              </a:solidFill>
              <a:effectLst/>
            </a:endParaRPr>
          </a:p>
          <a:p>
            <a:pPr>
              <a:buFont typeface="Wingdings" panose="05000000000000000000" charset="0"/>
              <a:buChar char="ü"/>
            </a:pPr>
            <a:r>
              <a:rPr lang="en-US" altLang="en-GB" sz="2800">
                <a:solidFill>
                  <a:schemeClr val="tx1"/>
                </a:solidFill>
                <a:effectLst/>
              </a:rPr>
              <a:t>40A_UAS-TMEM1923x-HA x 71G10 40A MARCM_L3_1_Airy_010724</a:t>
            </a:r>
            <a:endParaRPr lang="en-US" altLang="en-GB" sz="2800">
              <a:solidFill>
                <a:schemeClr val="tx1"/>
              </a:solidFill>
              <a:effectLst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GB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Airy scan_40A_UAS-TMEM-HA_CB_0h_1_051222</a:t>
            </a:r>
            <a:endParaRPr lang="en-US" altLang="en-GB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762000"/>
          </a:xfrm>
        </p:spPr>
        <p:txBody>
          <a:bodyPr lIns="91440" tIns="45720" rIns="91440" bIns="45720" anchor="ctr" anchorCtr="0"/>
          <a:lstStyle/>
          <a:p>
            <a:r>
              <a:rPr lang="en-US" altLang="en-GB" b="1" dirty="0">
                <a:solidFill>
                  <a:srgbClr val="FF0000"/>
                </a:solidFill>
                <a:cs typeface="Arial" panose="020B0604020202020204"/>
              </a:rPr>
              <a:t>Airy scan_40A_UAS-TMEM-HA_CB_0h_1_051222</a:t>
            </a:r>
            <a:br>
              <a:rPr lang="en-US" altLang="en-GB" b="1" dirty="0">
                <a:solidFill>
                  <a:srgbClr val="FF0000"/>
                </a:solidFill>
                <a:cs typeface="Arial" panose="020B0604020202020204"/>
              </a:rPr>
            </a:br>
            <a:endParaRPr lang="en-US" altLang="en-GB" b="1" dirty="0">
              <a:solidFill>
                <a:srgbClr val="FF0000"/>
              </a:solidFill>
              <a:cs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762000"/>
          </a:xfrm>
        </p:spPr>
        <p:txBody>
          <a:bodyPr lIns="91440" tIns="45720" rIns="91440" bIns="45720" anchor="ctr" anchorCtr="0"/>
          <a:lstStyle/>
          <a:p>
            <a:r>
              <a:rPr lang="en-US" altLang="en-GB" b="1" dirty="0">
                <a:solidFill>
                  <a:srgbClr val="FF0000"/>
                </a:solidFill>
                <a:cs typeface="Arial" panose="020B0604020202020204"/>
              </a:rPr>
              <a:t>Airy scan_40A_UAS-TMEM-HA_CB_0h_1_051222</a:t>
            </a:r>
            <a:br>
              <a:rPr lang="en-US" altLang="en-GB" b="1" dirty="0">
                <a:solidFill>
                  <a:srgbClr val="FF0000"/>
                </a:solidFill>
                <a:cs typeface="Arial" panose="020B0604020202020204"/>
              </a:rPr>
            </a:br>
            <a:endParaRPr lang="en-US" altLang="en-GB" b="1" dirty="0">
              <a:solidFill>
                <a:srgbClr val="FF0000"/>
              </a:solidFill>
              <a:cs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762000"/>
          </a:xfrm>
        </p:spPr>
        <p:txBody>
          <a:bodyPr lIns="91440" tIns="45720" rIns="91440" bIns="45720" anchor="ctr" anchorCtr="0"/>
          <a:lstStyle/>
          <a:p>
            <a:r>
              <a:rPr lang="en-US" altLang="en-GB" b="1" dirty="0">
                <a:solidFill>
                  <a:srgbClr val="FF0000"/>
                </a:solidFill>
                <a:cs typeface="Arial" panose="020B0604020202020204"/>
              </a:rPr>
              <a:t>Airy scan_40A_UAS-TMEM-HA_CB_0h_2_051222</a:t>
            </a:r>
            <a:br>
              <a:rPr lang="en-US" altLang="en-GB" b="1" dirty="0">
                <a:solidFill>
                  <a:srgbClr val="FF0000"/>
                </a:solidFill>
                <a:cs typeface="Arial" panose="020B0604020202020204"/>
              </a:rPr>
            </a:br>
            <a:endParaRPr lang="en-US" altLang="en-GB" b="1" dirty="0">
              <a:solidFill>
                <a:srgbClr val="FF0000"/>
              </a:solidFill>
              <a:cs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762000"/>
          </a:xfrm>
        </p:spPr>
        <p:txBody>
          <a:bodyPr lIns="91440" tIns="45720" rIns="91440" bIns="45720" anchor="ctr" anchorCtr="0"/>
          <a:lstStyle/>
          <a:p>
            <a:r>
              <a:rPr lang="en-US" altLang="en-GB" b="1" dirty="0">
                <a:solidFill>
                  <a:srgbClr val="FF0000"/>
                </a:solidFill>
                <a:cs typeface="Arial" panose="020B0604020202020204"/>
              </a:rPr>
              <a:t>Airy scan_40A_UAS-TMEM-HA_CB_0h_2_051222</a:t>
            </a:r>
            <a:br>
              <a:rPr lang="en-US" altLang="en-GB" b="1" dirty="0">
                <a:solidFill>
                  <a:srgbClr val="FF0000"/>
                </a:solidFill>
                <a:cs typeface="Arial" panose="020B0604020202020204"/>
              </a:rPr>
            </a:br>
            <a:endParaRPr lang="en-US" altLang="en-GB" b="1" dirty="0">
              <a:solidFill>
                <a:srgbClr val="FF0000"/>
              </a:solidFill>
              <a:cs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762000"/>
          </a:xfrm>
        </p:spPr>
        <p:txBody>
          <a:bodyPr lIns="91440" tIns="45720" rIns="91440" bIns="45720" anchor="ctr" anchorCtr="0"/>
          <a:lstStyle/>
          <a:p>
            <a:r>
              <a:rPr lang="en-US" altLang="en-GB" b="1" dirty="0">
                <a:solidFill>
                  <a:srgbClr val="FF0000"/>
                </a:solidFill>
                <a:cs typeface="Arial" panose="020B0604020202020204"/>
              </a:rPr>
              <a:t>Airy scan_40A_UAS-TMEM-HA_CB_0h_2_051222</a:t>
            </a:r>
            <a:br>
              <a:rPr lang="en-US" altLang="en-GB" b="1" dirty="0">
                <a:solidFill>
                  <a:srgbClr val="FF0000"/>
                </a:solidFill>
                <a:cs typeface="Arial" panose="020B0604020202020204"/>
              </a:rPr>
            </a:br>
            <a:endParaRPr lang="en-US" altLang="en-GB" b="1" dirty="0">
              <a:solidFill>
                <a:srgbClr val="FF0000"/>
              </a:solidFill>
              <a:cs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762000"/>
          </a:xfrm>
        </p:spPr>
        <p:txBody>
          <a:bodyPr lIns="91440" tIns="45720" rIns="91440" bIns="45720" anchor="ctr" anchorCtr="0"/>
          <a:lstStyle/>
          <a:p>
            <a:r>
              <a:rPr lang="en-US" altLang="en-GB" b="1" dirty="0">
                <a:solidFill>
                  <a:srgbClr val="FF0000"/>
                </a:solidFill>
                <a:cs typeface="Arial" panose="020B0604020202020204"/>
              </a:rPr>
              <a:t>Airy scan_40A_UAS-TMEM-HA_CB_4h_1_051222</a:t>
            </a:r>
            <a:br>
              <a:rPr lang="en-US" altLang="en-GB" b="1" dirty="0">
                <a:solidFill>
                  <a:srgbClr val="FF0000"/>
                </a:solidFill>
                <a:cs typeface="Arial" panose="020B0604020202020204"/>
              </a:rPr>
            </a:br>
            <a:endParaRPr lang="en-US" altLang="en-GB" b="1" dirty="0">
              <a:solidFill>
                <a:srgbClr val="FF0000"/>
              </a:solidFill>
              <a:cs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762000"/>
          </a:xfrm>
        </p:spPr>
        <p:txBody>
          <a:bodyPr lIns="91440" tIns="45720" rIns="91440" bIns="45720" anchor="ctr" anchorCtr="0"/>
          <a:lstStyle/>
          <a:p>
            <a:r>
              <a:rPr lang="en-US" altLang="en-GB" b="1" dirty="0">
                <a:solidFill>
                  <a:srgbClr val="FF0000"/>
                </a:solidFill>
                <a:cs typeface="Arial" panose="020B0604020202020204"/>
              </a:rPr>
              <a:t>Airy scan_40A_UAS-TMEM-HA_CB_4h_1_051222</a:t>
            </a:r>
            <a:br>
              <a:rPr lang="en-US" altLang="en-GB" b="1" dirty="0">
                <a:solidFill>
                  <a:srgbClr val="FF0000"/>
                </a:solidFill>
                <a:cs typeface="Arial" panose="020B0604020202020204"/>
              </a:rPr>
            </a:br>
            <a:endParaRPr lang="en-US" altLang="en-GB" b="1" dirty="0">
              <a:solidFill>
                <a:srgbClr val="FF0000"/>
              </a:solidFill>
              <a:cs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762000"/>
          </a:xfrm>
        </p:spPr>
        <p:txBody>
          <a:bodyPr lIns="91440" tIns="45720" rIns="91440" bIns="45720" anchor="ctr" anchorCtr="0"/>
          <a:lstStyle/>
          <a:p>
            <a:r>
              <a:rPr lang="en-US" altLang="en-GB" b="1" dirty="0">
                <a:solidFill>
                  <a:srgbClr val="FF0000"/>
                </a:solidFill>
                <a:cs typeface="Arial" panose="020B0604020202020204"/>
              </a:rPr>
              <a:t>Airy scan_40A_UAS-TMEM-HA_CB_4h_1_051222</a:t>
            </a:r>
            <a:br>
              <a:rPr lang="en-US" altLang="en-GB" b="1" dirty="0">
                <a:solidFill>
                  <a:srgbClr val="FF0000"/>
                </a:solidFill>
                <a:cs typeface="Arial" panose="020B0604020202020204"/>
              </a:rPr>
            </a:br>
            <a:endParaRPr lang="en-US" altLang="en-GB" b="1" dirty="0">
              <a:solidFill>
                <a:srgbClr val="FF0000"/>
              </a:solidFill>
              <a:cs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762000"/>
          </a:xfrm>
        </p:spPr>
        <p:txBody>
          <a:bodyPr lIns="91440" tIns="45720" rIns="91440" bIns="45720" anchor="ctr" anchorCtr="0"/>
          <a:lstStyle/>
          <a:p>
            <a:r>
              <a:rPr lang="en-US" altLang="en-GB" b="1" dirty="0">
                <a:solidFill>
                  <a:srgbClr val="FF0000"/>
                </a:solidFill>
                <a:cs typeface="Arial" panose="020B0604020202020204"/>
              </a:rPr>
              <a:t>Airy scan_40A_UAS-TMEM-HA_CB_4h_2_051222</a:t>
            </a:r>
            <a:br>
              <a:rPr lang="en-US" altLang="en-GB" b="1" dirty="0">
                <a:solidFill>
                  <a:srgbClr val="FF0000"/>
                </a:solidFill>
                <a:cs typeface="Arial" panose="020B0604020202020204"/>
              </a:rPr>
            </a:br>
            <a:endParaRPr lang="en-US" altLang="en-GB" b="1" dirty="0">
              <a:solidFill>
                <a:srgbClr val="FF0000"/>
              </a:solidFill>
              <a:cs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762000"/>
          </a:xfrm>
        </p:spPr>
        <p:txBody>
          <a:bodyPr lIns="91440" tIns="45720" rIns="91440" bIns="45720" anchor="ctr" anchorCtr="0"/>
          <a:lstStyle/>
          <a:p>
            <a:r>
              <a:rPr lang="en-US" altLang="en-GB" b="1" dirty="0">
                <a:solidFill>
                  <a:srgbClr val="FF0000"/>
                </a:solidFill>
                <a:cs typeface="Arial" panose="020B0604020202020204"/>
              </a:rPr>
              <a:t>Airy scan_40A_UAS-TMEM-HA_CB_4h_2_051222</a:t>
            </a:r>
            <a:br>
              <a:rPr lang="en-US" altLang="en-GB" b="1" dirty="0">
                <a:solidFill>
                  <a:srgbClr val="FF0000"/>
                </a:solidFill>
                <a:cs typeface="Arial" panose="020B0604020202020204"/>
              </a:rPr>
            </a:br>
            <a:endParaRPr lang="en-US" altLang="en-GB" b="1" dirty="0">
              <a:solidFill>
                <a:srgbClr val="FF0000"/>
              </a:solidFill>
              <a:cs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GB" b="1">
                <a:solidFill>
                  <a:srgbClr val="FF0000"/>
                </a:solidFill>
                <a:sym typeface="+mn-ea"/>
              </a:rPr>
              <a:t>TMEM-HA 6h CB airy_3_170722</a:t>
            </a:r>
            <a:endParaRPr lang="en-US" altLang="en-GB" b="1">
              <a:solidFill>
                <a:srgbClr val="FF0000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GB" b="1">
                <a:solidFill>
                  <a:srgbClr val="FF0000"/>
                </a:solidFill>
                <a:sym typeface="+mn-ea"/>
              </a:rPr>
              <a:t>TMEM-HA 6h CB airy_3_170722</a:t>
            </a:r>
            <a:endParaRPr lang="en-US" altLang="en-GB" b="1">
              <a:solidFill>
                <a:srgbClr val="FF0000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GB" b="1">
                <a:solidFill>
                  <a:srgbClr val="FF0000"/>
                </a:solidFill>
                <a:sym typeface="+mn-ea"/>
              </a:rPr>
              <a:t>TMEM-HA 6h CB airy_3_170722</a:t>
            </a:r>
            <a:endParaRPr lang="en-US" altLang="en-GB" b="1">
              <a:solidFill>
                <a:srgbClr val="FF0000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952500"/>
            <a:ext cx="10972800" cy="762000"/>
          </a:xfrm>
        </p:spPr>
        <p:txBody>
          <a:bodyPr lIns="91440" tIns="45720" rIns="91440" bIns="45720" anchor="ctr" anchorCtr="0"/>
          <a:lstStyle/>
          <a:p>
            <a:r>
              <a:rPr lang="en-US" altLang="en-GB" b="1" dirty="0">
                <a:solidFill>
                  <a:srgbClr val="FF0000"/>
                </a:solidFill>
                <a:cs typeface="Arial" panose="020B0604020202020204"/>
              </a:rPr>
              <a:t>40A_UAS-TMEM192-3xHA x 40A 71G10 MARCM_around 12h - for quantification_4 Airy-CBs_300425</a:t>
            </a:r>
            <a:br>
              <a:rPr lang="en-US" altLang="en-GB" b="1" dirty="0">
                <a:solidFill>
                  <a:srgbClr val="FF0000"/>
                </a:solidFill>
                <a:cs typeface="Arial" panose="020B0604020202020204"/>
              </a:rPr>
            </a:br>
            <a:endParaRPr lang="en-US" altLang="en-GB" b="1" dirty="0">
              <a:solidFill>
                <a:srgbClr val="FF0000"/>
              </a:solidFill>
              <a:cs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42925" y="0"/>
            <a:ext cx="10972800" cy="762000"/>
          </a:xfrm>
        </p:spPr>
        <p:txBody>
          <a:bodyPr lIns="91440" tIns="45720" rIns="91440" bIns="45720" anchor="ctr" anchorCtr="0"/>
          <a:lstStyle/>
          <a:p>
            <a:r>
              <a:rPr lang="en-US" altLang="en-GB" sz="2400" b="1" dirty="0">
                <a:solidFill>
                  <a:srgbClr val="FF0000"/>
                </a:solidFill>
                <a:cs typeface="Arial" panose="020B0604020202020204"/>
              </a:rPr>
              <a:t>40A_UAS-TMEM192-3xHA x 40A 71G10 MARCM_around 12h - for quantification_3 Airy-CBs_300425</a:t>
            </a:r>
            <a:endParaRPr lang="en-US" altLang="en-GB" b="1" dirty="0">
              <a:solidFill>
                <a:srgbClr val="FF0000"/>
              </a:solidFill>
              <a:cs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57150"/>
            <a:ext cx="10972800" cy="445135"/>
          </a:xfrm>
        </p:spPr>
        <p:txBody>
          <a:bodyPr lIns="91440" tIns="45720" rIns="91440" bIns="45720" anchor="ctr" anchorCtr="0"/>
          <a:lstStyle/>
          <a:p>
            <a:br>
              <a:rPr lang="en-US" altLang="en-GB" sz="2400" b="1" dirty="0">
                <a:solidFill>
                  <a:srgbClr val="FF0000"/>
                </a:solidFill>
                <a:cs typeface="Arial" panose="020B0604020202020204"/>
              </a:rPr>
            </a:br>
            <a:r>
              <a:rPr lang="en-US" altLang="en-GB" sz="2400" b="1" dirty="0">
                <a:solidFill>
                  <a:srgbClr val="FF0000"/>
                </a:solidFill>
                <a:cs typeface="Arial" panose="020B0604020202020204"/>
              </a:rPr>
              <a:t>40A_UAS-TMEM192-3xHA x 40A 71G10 MARCM_around 12h - for quantification_3 Airy-CBs_300425</a:t>
            </a:r>
            <a:endParaRPr lang="en-US" altLang="en-GB" sz="2400" b="1" dirty="0">
              <a:solidFill>
                <a:srgbClr val="FF0000"/>
              </a:solidFill>
              <a:cs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57150"/>
            <a:ext cx="10972800" cy="445135"/>
          </a:xfrm>
        </p:spPr>
        <p:txBody>
          <a:bodyPr lIns="91440" tIns="45720" rIns="91440" bIns="45720" anchor="ctr" anchorCtr="0"/>
          <a:lstStyle/>
          <a:p>
            <a:br>
              <a:rPr lang="en-US" altLang="en-GB" sz="2400" b="1" dirty="0">
                <a:solidFill>
                  <a:srgbClr val="FF0000"/>
                </a:solidFill>
                <a:cs typeface="Arial" panose="020B0604020202020204"/>
              </a:rPr>
            </a:br>
            <a:r>
              <a:rPr lang="en-US" altLang="en-GB" sz="2400" b="1" dirty="0">
                <a:solidFill>
                  <a:srgbClr val="FF0000"/>
                </a:solidFill>
                <a:cs typeface="Arial" panose="020B0604020202020204"/>
              </a:rPr>
              <a:t>40A_UAS-TMEM192-3xHA x 40A 71G10 MARCM_around 12h - for quantification_3 Airy-CBs_300425</a:t>
            </a:r>
            <a:endParaRPr lang="en-US" altLang="en-GB" sz="2400" b="1" dirty="0">
              <a:solidFill>
                <a:srgbClr val="FF0000"/>
              </a:solidFill>
              <a:cs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762000"/>
          </a:xfrm>
        </p:spPr>
        <p:txBody>
          <a:bodyPr lIns="91440" tIns="45720" rIns="91440" bIns="45720" anchor="ctr" anchorCtr="0"/>
          <a:lstStyle/>
          <a:p>
            <a:r>
              <a:rPr lang="en-US" altLang="en-GB" sz="2400" b="1" dirty="0">
                <a:solidFill>
                  <a:srgbClr val="FF0000"/>
                </a:solidFill>
                <a:cs typeface="Arial" panose="020B0604020202020204"/>
              </a:rPr>
              <a:t>40A_UAS-TMEM1923x-HA x 71G10 40A MARCM_L3_2_Airy_010724</a:t>
            </a:r>
            <a:endParaRPr lang="en-US" altLang="en-GB" b="1" dirty="0">
              <a:solidFill>
                <a:srgbClr val="FF0000"/>
              </a:solidFill>
              <a:cs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ítulo 1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762000"/>
          </a:xfrm>
        </p:spPr>
        <p:txBody>
          <a:bodyPr lIns="91440" tIns="45720" rIns="91440" bIns="45720" anchor="ctr" anchorCtr="0"/>
          <a:lstStyle/>
          <a:p>
            <a:r>
              <a:rPr lang="en-US" altLang="en-GB" sz="2400" b="1" dirty="0">
                <a:solidFill>
                  <a:srgbClr val="FF0000"/>
                </a:solidFill>
                <a:cs typeface="Arial" panose="020B0604020202020204"/>
              </a:rPr>
              <a:t>40A_UAS-TMEM1923x-HA x 71G10 40A MARCM_L3_2_Airy_010724</a:t>
            </a:r>
            <a:endParaRPr lang="en-US" altLang="en-GB" b="1" dirty="0">
              <a:solidFill>
                <a:srgbClr val="FF0000"/>
              </a:solidFill>
              <a:cs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762000"/>
          </a:xfrm>
        </p:spPr>
        <p:txBody>
          <a:bodyPr lIns="91440" tIns="45720" rIns="91440" bIns="45720" anchor="ctr" anchorCtr="0"/>
          <a:lstStyle/>
          <a:p>
            <a:r>
              <a:rPr lang="en-US" altLang="en-GB" sz="2400" b="1" dirty="0">
                <a:solidFill>
                  <a:srgbClr val="FF0000"/>
                </a:solidFill>
                <a:cs typeface="Arial" panose="020B0604020202020204"/>
              </a:rPr>
              <a:t>40A_UAS-TMEM1923x-HA x 71G10 40A MARCM_L3_2_Airy_010724</a:t>
            </a:r>
            <a:endParaRPr lang="en-US" altLang="en-GB" b="1" dirty="0">
              <a:solidFill>
                <a:srgbClr val="FF0000"/>
              </a:solidFill>
              <a:cs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551180"/>
            <a:ext cx="10972800" cy="762000"/>
          </a:xfrm>
        </p:spPr>
        <p:txBody>
          <a:bodyPr lIns="91440" tIns="45720" rIns="91440" bIns="45720" anchor="ctr" anchorCtr="0"/>
          <a:lstStyle/>
          <a:p>
            <a:r>
              <a:rPr lang="en-US" altLang="en-GB" sz="2400" b="1" dirty="0">
                <a:solidFill>
                  <a:srgbClr val="FF0000"/>
                </a:solidFill>
                <a:cs typeface="Arial" panose="020B0604020202020204"/>
              </a:rPr>
              <a:t>40A_UAS-TMEM1923x-HA x 71G10 40A MARCM_L3_1_Airy_010724</a:t>
            </a:r>
            <a:br>
              <a:rPr lang="en-US" altLang="en-GB" b="1" dirty="0">
                <a:solidFill>
                  <a:srgbClr val="FF0000"/>
                </a:solidFill>
                <a:cs typeface="Arial" panose="020B0604020202020204"/>
              </a:rPr>
            </a:br>
            <a:endParaRPr lang="en-US" altLang="en-GB" b="1" dirty="0">
              <a:solidFill>
                <a:srgbClr val="FF0000"/>
              </a:solidFill>
              <a:cs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551180"/>
            <a:ext cx="10972800" cy="762000"/>
          </a:xfrm>
        </p:spPr>
        <p:txBody>
          <a:bodyPr lIns="91440" tIns="45720" rIns="91440" bIns="45720" anchor="ctr" anchorCtr="0"/>
          <a:lstStyle/>
          <a:p>
            <a:r>
              <a:rPr lang="en-US" altLang="en-GB" sz="2400" b="1" dirty="0">
                <a:solidFill>
                  <a:srgbClr val="FF0000"/>
                </a:solidFill>
                <a:cs typeface="Arial" panose="020B0604020202020204"/>
              </a:rPr>
              <a:t>40A_UAS-TMEM1923x-HA x 71G10 40A MARCM_L3_1_Airy_010724</a:t>
            </a:r>
            <a:br>
              <a:rPr lang="en-US" altLang="en-GB" b="1" dirty="0">
                <a:solidFill>
                  <a:srgbClr val="FF0000"/>
                </a:solidFill>
                <a:cs typeface="Arial" panose="020B0604020202020204"/>
              </a:rPr>
            </a:br>
            <a:endParaRPr lang="en-US" altLang="en-GB" b="1" dirty="0">
              <a:solidFill>
                <a:srgbClr val="FF0000"/>
              </a:solidFill>
              <a:cs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130175"/>
            <a:ext cx="10972800" cy="762000"/>
          </a:xfrm>
        </p:spPr>
        <p:txBody>
          <a:bodyPr lIns="91440" tIns="45720" rIns="91440" bIns="45720" anchor="ctr" anchorCtr="0"/>
          <a:lstStyle/>
          <a:p>
            <a:r>
              <a:rPr lang="en-US" altLang="en-GB" sz="2400" b="1" dirty="0">
                <a:solidFill>
                  <a:srgbClr val="FF0000"/>
                </a:solidFill>
                <a:cs typeface="Arial" panose="020B0604020202020204"/>
              </a:rPr>
              <a:t>40A_UAS-TMEM1923x-HA x 71G10 40A MARCM_L3_1_Airy_010724</a:t>
            </a:r>
            <a:endParaRPr lang="en-US" altLang="en-GB" b="1" dirty="0">
              <a:solidFill>
                <a:srgbClr val="FF0000"/>
              </a:solidFill>
              <a:cs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1_Green Color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9900"/>
      </a:accent1>
      <a:accent2>
        <a:srgbClr val="99CC00"/>
      </a:accent2>
      <a:accent3>
        <a:srgbClr val="FFFFFF"/>
      </a:accent3>
      <a:accent4>
        <a:srgbClr val="000000"/>
      </a:accent4>
      <a:accent5>
        <a:srgbClr val="AACAAA"/>
      </a:accent5>
      <a:accent6>
        <a:srgbClr val="8AB900"/>
      </a:accent6>
      <a:hlink>
        <a:srgbClr val="002060"/>
      </a:hlink>
      <a:folHlink>
        <a:srgbClr val="996600"/>
      </a:folHlink>
    </a:clrScheme>
    <a:fontScheme name="Green Color">
      <a:majorFont>
        <a:latin typeface="Arial"/>
        <a:ea typeface="SimSun"/>
        <a:cs typeface=""/>
      </a:majorFont>
      <a:minorFont>
        <a:latin typeface="Arial"/>
        <a:ea typeface="SimSu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lnDef>
  </a:objectDefaults>
  <a:extraClrSchemeLst>
    <a:extraClrScheme>
      <a:clrScheme name="Green Color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reen Color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reen Color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reen Color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reen Color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reen Color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reen Color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reen Color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reen Color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reen Color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reen Color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reen Color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reen Color 13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9900"/>
        </a:accent1>
        <a:accent2>
          <a:srgbClr val="99CC00"/>
        </a:accent2>
        <a:accent3>
          <a:srgbClr val="FFFFFF"/>
        </a:accent3>
        <a:accent4>
          <a:srgbClr val="000000"/>
        </a:accent4>
        <a:accent5>
          <a:srgbClr val="AACAAA"/>
        </a:accent5>
        <a:accent6>
          <a:srgbClr val="8AB900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4146</Words>
  <Application>WPS Presentation</Application>
  <PresentationFormat>Panorámica</PresentationFormat>
  <Paragraphs>110</Paragraphs>
  <Slides>29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29</vt:i4>
      </vt:variant>
    </vt:vector>
  </HeadingPairs>
  <TitlesOfParts>
    <vt:vector size="38" baseType="lpstr">
      <vt:lpstr>Arial</vt:lpstr>
      <vt:lpstr>SimSun</vt:lpstr>
      <vt:lpstr>Wingdings</vt:lpstr>
      <vt:lpstr>Wingdings</vt:lpstr>
      <vt:lpstr>Arial</vt:lpstr>
      <vt:lpstr>Microsoft YaHei</vt:lpstr>
      <vt:lpstr>Arial Unicode MS</vt:lpstr>
      <vt:lpstr>Calibri</vt:lpstr>
      <vt:lpstr>1_Green Color</vt:lpstr>
      <vt:lpstr>PowerPoint 演示文稿</vt:lpstr>
      <vt:lpstr>PowerPoint 演示文稿</vt:lpstr>
      <vt:lpstr>PowerPoint 演示文稿</vt:lpstr>
      <vt:lpstr>PowerPoint 演示文稿</vt:lpstr>
      <vt:lpstr>FILES</vt:lpstr>
      <vt:lpstr>Airy scan_40A_UAS-TMEM-HA_CB_0h_1_051222</vt:lpstr>
      <vt:lpstr>Airy scan_40A_UAS-TMEM-HA_CB_0h_1_051222 </vt:lpstr>
      <vt:lpstr>Airy scan_40A_UAS-TMEM-HA_CB_0h_1_051222 </vt:lpstr>
      <vt:lpstr>Airy scan_40A_UAS-TMEM-HA_CB_0h_2_051222 </vt:lpstr>
      <vt:lpstr>Airy scan_40A_UAS-TMEM-HA_CB_0h_2_051222 </vt:lpstr>
      <vt:lpstr>Airy scan_40A_UAS-TMEM-HA_CB_0h_2_051222 </vt:lpstr>
      <vt:lpstr>Airy scan_40A_UAS-TMEM-HA_CB_4h_1_051222 </vt:lpstr>
      <vt:lpstr>Airy scan_40A_UAS-TMEM-HA_CB_4h_1_051222 </vt:lpstr>
      <vt:lpstr>Airy scan_40A_UAS-TMEM-HA_CB_4h_1_051222 </vt:lpstr>
      <vt:lpstr>Airy scan_40A_UAS-TMEM-HA_CB_4h_2_051222 </vt:lpstr>
      <vt:lpstr>Airy scan_40A_UAS-TMEM-HA_CB_4h_2_051222 </vt:lpstr>
      <vt:lpstr>PowerPoint 演示文稿</vt:lpstr>
      <vt:lpstr>TMEM-HA 6h CB airy_3_170722</vt:lpstr>
      <vt:lpstr>TMEM-HA 6h CB airy_3_170722</vt:lpstr>
      <vt:lpstr>40A_UAS-TMEM192-3xHA x 40A 71G10 MARCM_around 12h - for quantification_4 Airy-CBs_300425 </vt:lpstr>
      <vt:lpstr>40A_UAS-TMEM192-3xHA x 40A 71G10 MARCM_around 12h - for quantification_3 Airy-CBs_300425</vt:lpstr>
      <vt:lpstr> 40A_UAS-TMEM192-3xHA x 40A 71G10 MARCM_around 12h - for quantification_3 Airy-CBs_300425</vt:lpstr>
      <vt:lpstr> 40A_UAS-TMEM192-3xHA x 40A 71G10 MARCM_around 12h - for quantification_3 Airy-CBs_300425</vt:lpstr>
      <vt:lpstr>40A_UAS-TMEM1923x-HA x 71G10 40A MARCM_L3_2_Airy_010724</vt:lpstr>
      <vt:lpstr>40A_UAS-TMEM1923x-HA x 71G10 40A MARCM_L3_2_Airy_010724</vt:lpstr>
      <vt:lpstr>40A_UAS-TMEM1923x-HA x 71G10 40A MARCM_L3_2_Airy_010724</vt:lpstr>
      <vt:lpstr>40A_UAS-TMEM1923x-HA x 71G10 40A MARCM_L3_1_Airy_010724 </vt:lpstr>
      <vt:lpstr>40A_UAS-TMEM1923x-HA x 71G10 40A MARCM_L3_1_Airy_010724 </vt:lpstr>
      <vt:lpstr>40A_UAS-TMEM1923x-HA x 71G10 40A MARCM_L3_1_Airy_010724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Nahuel-Hernan Ramos</dc:creator>
  <cp:lastModifiedBy>nahue</cp:lastModifiedBy>
  <cp:revision>681</cp:revision>
  <dcterms:created xsi:type="dcterms:W3CDTF">2024-11-18T13:41:00Z</dcterms:created>
  <dcterms:modified xsi:type="dcterms:W3CDTF">2025-11-17T14:01:03Z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391FE82E9E9541FCB8FA1F8057B9CAE5_13</vt:lpwstr>
  </property>
  <property fmtid="{D5CDD505-2E9C-101B-9397-08002B2CF9AE}" pid="3" name="KSOProductBuildVer">
    <vt:lpwstr>2057-12.2.0.23155</vt:lpwstr>
  </property>
</Properties>
</file>