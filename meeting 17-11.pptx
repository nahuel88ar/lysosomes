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43" r:id="rId3"/>
    <p:sldId id="526" r:id="rId5"/>
    <p:sldId id="588" r:id="rId6"/>
    <p:sldId id="595" r:id="rId7"/>
    <p:sldId id="590" r:id="rId8"/>
    <p:sldId id="519" r:id="rId9"/>
    <p:sldId id="522" r:id="rId10"/>
    <p:sldId id="524" r:id="rId11"/>
    <p:sldId id="562" r:id="rId12"/>
    <p:sldId id="591" r:id="rId13"/>
    <p:sldId id="592" r:id="rId14"/>
    <p:sldId id="593" r:id="rId15"/>
    <p:sldId id="566" r:id="rId16"/>
    <p:sldId id="567" r:id="rId17"/>
    <p:sldId id="571" r:id="rId18"/>
    <p:sldId id="572" r:id="rId19"/>
    <p:sldId id="573" r:id="rId20"/>
    <p:sldId id="5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51" d="100"/>
          <a:sy n="151" d="100"/>
        </p:scale>
        <p:origin x="62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624417" y="3717925"/>
            <a:ext cx="10943167" cy="1082675"/>
          </a:xfrm>
        </p:spPr>
        <p:txBody>
          <a:bodyPr/>
          <a:lstStyle>
            <a:lvl1pPr algn="r">
              <a:defRPr/>
            </a:lvl1pPr>
          </a:lstStyle>
          <a:p>
            <a:pPr lvl="0"/>
            <a:r>
              <a:rPr lang="en-US" altLang="zh-CN" noProof="0"/>
              <a:t>Click to edit Master title style</a:t>
            </a:r>
            <a:endParaRPr lang="en-US" altLang="zh-CN" noProof="0"/>
          </a:p>
        </p:txBody>
      </p:sp>
      <p:sp>
        <p:nvSpPr>
          <p:cNvPr id="2052" name="Rectangle 4"/>
          <p:cNvSpPr>
            <a:spLocks noGrp="1" noChangeArrowheads="1"/>
          </p:cNvSpPr>
          <p:nvPr>
            <p:ph type="subTitle" idx="1"/>
          </p:nvPr>
        </p:nvSpPr>
        <p:spPr>
          <a:xfrm>
            <a:off x="626533" y="4940300"/>
            <a:ext cx="10949517" cy="981075"/>
          </a:xfrm>
        </p:spPr>
        <p:txBody>
          <a:bodyPr/>
          <a:lstStyle>
            <a:lvl1pPr marL="0" indent="0" algn="r">
              <a:buFontTx/>
              <a:buNone/>
              <a:defRPr/>
            </a:lvl1pPr>
          </a:lstStyle>
          <a:p>
            <a:pPr lvl="0"/>
            <a:r>
              <a:rPr lang="en-US" altLang="zh-CN" noProof="0"/>
              <a:t>Click to edit Master subtitle style</a:t>
            </a:r>
            <a:endParaRPr lang="en-US" altLang="zh-CN" noProof="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1E351CED-465B-40B5-ADCE-957C918F227B}"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5A33CB2A-1702-4C1D-9CC4-8D472D39F19E}"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E351CED-465B-40B5-ADCE-957C918F227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E351CED-465B-40B5-ADCE-957C918F227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E351CED-465B-40B5-ADCE-957C918F227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E351CED-465B-40B5-ADCE-957C918F227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E351CED-465B-40B5-ADCE-957C918F227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351CED-465B-40B5-ADCE-957C918F227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351CED-465B-40B5-ADCE-957C918F227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351CED-465B-40B5-ADCE-957C918F227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E351CED-465B-40B5-ADCE-957C918F227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E351CED-465B-40B5-ADCE-957C918F227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0"/>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1E351CED-465B-40B5-ADCE-957C918F227B}"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5A33CB2A-1702-4C1D-9CC4-8D472D39F19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tags" Target="../tags/tag1.xml"/><Relationship Id="rId2" Type="http://schemas.microsoft.com/office/2007/relationships/media" Target="../media/media1.mp4"/><Relationship Id="rId1" Type="http://schemas.openxmlformats.org/officeDocument/2006/relationships/video" Target="../media/media1.mp4"/></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tags" Target="../tags/tag2.xml"/><Relationship Id="rId2" Type="http://schemas.microsoft.com/office/2007/relationships/media" Target="../media/media2.mp4"/><Relationship Id="rId1" Type="http://schemas.openxmlformats.org/officeDocument/2006/relationships/video" Target="../media/media2.mp4"/></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tags" Target="../tags/tag3.xml"/><Relationship Id="rId2" Type="http://schemas.microsoft.com/office/2007/relationships/media" Target="../media/media3.mp4"/><Relationship Id="rId1" Type="http://schemas.openxmlformats.org/officeDocument/2006/relationships/video" Target="../media/media3.mp4"/></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tags" Target="../tags/tag4.xml"/><Relationship Id="rId2" Type="http://schemas.microsoft.com/office/2007/relationships/media" Target="../media/media4.mp4"/><Relationship Id="rId1" Type="http://schemas.openxmlformats.org/officeDocument/2006/relationships/video" Target="../media/media4.mp4"/></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5.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734695" y="1720850"/>
            <a:ext cx="10338435" cy="2900680"/>
          </a:xfrm>
        </p:spPr>
        <p:txBody>
          <a:bodyPr lIns="91440" tIns="45720" rIns="91440" bIns="45720" anchor="t">
            <a:noAutofit/>
          </a:bodyPr>
          <a:lstStyle/>
          <a:p>
            <a:pPr marL="0" indent="0" algn="ctr">
              <a:buNone/>
            </a:pPr>
            <a:r>
              <a:rPr lang="en-US" altLang="en-GB" sz="4300" b="1" i="1" dirty="0">
                <a:solidFill>
                  <a:srgbClr val="C00000"/>
                </a:solidFill>
                <a:effectLst>
                  <a:outerShdw blurRad="38100" dist="38100" dir="2700000" algn="tl">
                    <a:srgbClr val="000000">
                      <a:alpha val="43137"/>
                    </a:srgbClr>
                  </a:outerShdw>
                </a:effectLst>
              </a:rPr>
              <a:t>3D Image Segmentation and Quantification of Lysosomes</a:t>
            </a:r>
            <a:endParaRPr lang="en-US" altLang="en-GB" sz="4300" b="1" i="1" dirty="0">
              <a:solidFill>
                <a:srgbClr val="C00000"/>
              </a:solidFill>
              <a:effectLst>
                <a:outerShdw blurRad="38100" dist="38100" dir="2700000" algn="tl">
                  <a:srgbClr val="000000">
                    <a:alpha val="43137"/>
                  </a:srgbClr>
                </a:outerShdw>
              </a:effectLst>
            </a:endParaRPr>
          </a:p>
          <a:p>
            <a:pPr marL="0" indent="0" algn="ctr">
              <a:buNone/>
            </a:pPr>
            <a:r>
              <a:rPr lang="en-US" altLang="en-GB" sz="4300" b="1" i="1" dirty="0">
                <a:solidFill>
                  <a:srgbClr val="C00000"/>
                </a:solidFill>
                <a:effectLst>
                  <a:outerShdw blurRad="38100" dist="38100" dir="2700000" algn="tl">
                    <a:srgbClr val="000000">
                      <a:alpha val="43137"/>
                    </a:srgbClr>
                  </a:outerShdw>
                </a:effectLst>
              </a:rPr>
              <a:t>17/11/2025</a:t>
            </a:r>
            <a:endParaRPr lang="en-US" altLang="en-GB" sz="4300" b="1" i="1" dirty="0">
              <a:solidFill>
                <a:srgbClr val="C00000"/>
              </a:solidFill>
              <a:effectLst>
                <a:outerShdw blurRad="38100" dist="38100" dir="2700000" algn="tl">
                  <a:srgbClr val="000000">
                    <a:alpha val="43137"/>
                  </a:srgbClr>
                </a:outerShdw>
              </a:effectLst>
            </a:endParaRPr>
          </a:p>
          <a:p>
            <a:pPr marL="0" indent="0" algn="ctr">
              <a:buNone/>
            </a:pPr>
            <a:endParaRPr lang="en-US" altLang="en-GB" sz="4300" b="1" i="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8000365" cy="697865"/>
          </a:xfrm>
          <a:prstGeom prst="rect">
            <a:avLst/>
          </a:prstGeom>
          <a:noFill/>
        </p:spPr>
        <p:txBody>
          <a:bodyPr wrap="none">
            <a:noAutofit/>
          </a:bodyPr>
          <a:lstStyle/>
          <a:p>
            <a:pPr algn="l"/>
            <a:r>
              <a:rPr lang="en-US" altLang="en-GB" sz="3200" b="1">
                <a:solidFill>
                  <a:srgbClr val="FF0000"/>
                </a:solidFill>
                <a:effectLst>
                  <a:outerShdw blurRad="38100" dist="38100" dir="2700000" algn="tl">
                    <a:srgbClr val="000000">
                      <a:alpha val="43137"/>
                    </a:srgbClr>
                  </a:outerShdw>
                </a:effectLst>
              </a:rPr>
              <a:t>PROBLEMS LAST MEETING</a:t>
            </a:r>
            <a:endParaRPr lang="en-US" altLang="en-GB" sz="3200" b="1">
              <a:solidFill>
                <a:srgbClr val="FF0000"/>
              </a:solidFill>
              <a:effectLst>
                <a:outerShdw blurRad="38100" dist="38100" dir="2700000" algn="tl">
                  <a:srgbClr val="000000">
                    <a:alpha val="43137"/>
                  </a:srgbClr>
                </a:outerShdw>
              </a:effectLst>
            </a:endParaRPr>
          </a:p>
        </p:txBody>
      </p:sp>
      <p:sp>
        <p:nvSpPr>
          <p:cNvPr id="3" name="TextBox 2"/>
          <p:cNvSpPr txBox="1"/>
          <p:nvPr/>
        </p:nvSpPr>
        <p:spPr>
          <a:xfrm>
            <a:off x="731520" y="1371600"/>
            <a:ext cx="309880" cy="1106805"/>
          </a:xfrm>
          <a:prstGeom prst="rect">
            <a:avLst/>
          </a:prstGeom>
          <a:noFill/>
        </p:spPr>
        <p:txBody>
          <a:bodyPr wrap="none">
            <a:spAutoFit/>
          </a:bodyPr>
          <a:lstStyle/>
          <a:p/>
          <a:p>
            <a:pPr>
              <a:defRPr sz="2800">
                <a:solidFill>
                  <a:srgbClr val="323232"/>
                </a:solidFill>
              </a:defRPr>
            </a:pPr>
            <a:endParaRPr lang="en-US" sz="4800"/>
          </a:p>
        </p:txBody>
      </p:sp>
      <p:sp>
        <p:nvSpPr>
          <p:cNvPr id="4" name="Text Box 3"/>
          <p:cNvSpPr txBox="1"/>
          <p:nvPr/>
        </p:nvSpPr>
        <p:spPr>
          <a:xfrm>
            <a:off x="635635" y="834390"/>
            <a:ext cx="11173460" cy="5785485"/>
          </a:xfrm>
          <a:prstGeom prst="rect">
            <a:avLst/>
          </a:prstGeom>
          <a:noFill/>
        </p:spPr>
        <p:txBody>
          <a:bodyPr wrap="square" rtlCol="0">
            <a:spAutoFit/>
          </a:bodyPr>
          <a:p>
            <a:pPr marL="285750" indent="-285750">
              <a:buFont typeface="Arial" panose="020B0604020202020204" pitchFamily="34" charset="0"/>
              <a:buChar char="•"/>
            </a:pPr>
            <a:r>
              <a:rPr lang="en-US" altLang="en-GB" sz="4400"/>
              <a:t>Incorrect scale values.</a:t>
            </a:r>
            <a:endParaRPr lang="en-US" altLang="en-GB" sz="4400"/>
          </a:p>
          <a:p>
            <a:pPr marL="285750" indent="-285750">
              <a:buFont typeface="Arial" panose="020B0604020202020204" pitchFamily="34" charset="0"/>
              <a:buChar char="•"/>
            </a:pPr>
            <a:r>
              <a:rPr lang="en-US" altLang="en-GB" sz="4400">
                <a:sym typeface="+mn-ea"/>
              </a:rPr>
              <a:t>Not very good synchronization between the videos.</a:t>
            </a:r>
            <a:endParaRPr lang="en-US" altLang="en-GB" sz="4400"/>
          </a:p>
          <a:p>
            <a:pPr marL="285750" indent="-285750">
              <a:buFont typeface="Arial" panose="020B0604020202020204" pitchFamily="34" charset="0"/>
              <a:buChar char="•"/>
            </a:pPr>
            <a:r>
              <a:rPr lang="en-US" altLang="en-GB" sz="4400"/>
              <a:t>Inaccurate radius estimation.</a:t>
            </a:r>
            <a:endParaRPr lang="en-US" altLang="en-GB" sz="4400"/>
          </a:p>
          <a:p>
            <a:pPr marL="285750" indent="-285750">
              <a:buFont typeface="Arial" panose="020B0604020202020204" pitchFamily="34" charset="0"/>
              <a:buChar char="•"/>
            </a:pPr>
            <a:r>
              <a:rPr lang="en-US" altLang="en-GB" sz="4400"/>
              <a:t>Lysosomes located near organelle borders are being classified as outside the cell, even though they should be counted as inside.</a:t>
            </a:r>
            <a:endParaRPr lang="en-US" altLang="en-GB" sz="4400"/>
          </a:p>
          <a:p>
            <a:pPr marL="285750" indent="-285750">
              <a:buFont typeface="Arial" panose="020B0604020202020204" pitchFamily="34" charset="0"/>
              <a:buChar char="•"/>
            </a:pPr>
            <a:endParaRPr lang="en-US" alt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8000365" cy="697865"/>
          </a:xfrm>
          <a:prstGeom prst="rect">
            <a:avLst/>
          </a:prstGeom>
          <a:noFill/>
        </p:spPr>
        <p:txBody>
          <a:bodyPr wrap="none">
            <a:noAutofit/>
          </a:bodyPr>
          <a:lstStyle/>
          <a:p>
            <a:pPr algn="l"/>
            <a:r>
              <a:rPr lang="en-US" altLang="en-GB" sz="3200" b="1">
                <a:solidFill>
                  <a:srgbClr val="FF0000"/>
                </a:solidFill>
                <a:effectLst>
                  <a:outerShdw blurRad="38100" dist="38100" dir="2700000" algn="tl">
                    <a:srgbClr val="000000">
                      <a:alpha val="43137"/>
                    </a:srgbClr>
                  </a:outerShdw>
                </a:effectLst>
              </a:rPr>
              <a:t>Solutions</a:t>
            </a:r>
            <a:endParaRPr lang="en-US" altLang="en-GB" sz="3200" b="1">
              <a:solidFill>
                <a:srgbClr val="FF0000"/>
              </a:solidFill>
              <a:effectLst>
                <a:outerShdw blurRad="38100" dist="38100" dir="2700000" algn="tl">
                  <a:srgbClr val="000000">
                    <a:alpha val="43137"/>
                  </a:srgbClr>
                </a:outerShdw>
              </a:effectLst>
            </a:endParaRPr>
          </a:p>
        </p:txBody>
      </p:sp>
      <p:sp>
        <p:nvSpPr>
          <p:cNvPr id="3" name="TextBox 2"/>
          <p:cNvSpPr txBox="1"/>
          <p:nvPr/>
        </p:nvSpPr>
        <p:spPr>
          <a:xfrm>
            <a:off x="731520" y="1371600"/>
            <a:ext cx="309880" cy="1106805"/>
          </a:xfrm>
          <a:prstGeom prst="rect">
            <a:avLst/>
          </a:prstGeom>
          <a:noFill/>
        </p:spPr>
        <p:txBody>
          <a:bodyPr wrap="none">
            <a:spAutoFit/>
          </a:bodyPr>
          <a:lstStyle/>
          <a:p/>
          <a:p>
            <a:pPr>
              <a:defRPr sz="2800">
                <a:solidFill>
                  <a:srgbClr val="323232"/>
                </a:solidFill>
              </a:defRPr>
            </a:pPr>
            <a:endParaRPr lang="en-US" sz="4800"/>
          </a:p>
        </p:txBody>
      </p:sp>
      <p:sp>
        <p:nvSpPr>
          <p:cNvPr id="4" name="Text Box 3"/>
          <p:cNvSpPr txBox="1"/>
          <p:nvPr/>
        </p:nvSpPr>
        <p:spPr>
          <a:xfrm>
            <a:off x="635635" y="834390"/>
            <a:ext cx="11173460" cy="6247130"/>
          </a:xfrm>
          <a:prstGeom prst="rect">
            <a:avLst/>
          </a:prstGeom>
          <a:noFill/>
        </p:spPr>
        <p:txBody>
          <a:bodyPr wrap="square" rtlCol="0">
            <a:spAutoFit/>
          </a:bodyPr>
          <a:p>
            <a:pPr marL="342900" indent="-342900">
              <a:buFont typeface="Arial" panose="020B0604020202020204" pitchFamily="34" charset="0"/>
              <a:buChar char="•"/>
            </a:pPr>
            <a:r>
              <a:rPr lang="en-US" altLang="en-GB" sz="2000" b="1"/>
              <a:t>Scale correction:</a:t>
            </a:r>
            <a:r>
              <a:rPr lang="en-US" altLang="en-GB" sz="2000"/>
              <a:t> Verified and corrected the voxel dimensions by checking the image calibration in ImageJ. The voxel scale values (X, Y, Z) are now consistent and accurately applied during metric calculations.</a:t>
            </a:r>
            <a:endParaRPr lang="en-US" altLang="en-GB" sz="2000"/>
          </a:p>
          <a:p>
            <a:pPr marL="342900" indent="-342900">
              <a:buFont typeface="Arial" panose="020B0604020202020204" pitchFamily="34" charset="0"/>
              <a:buChar char="•"/>
            </a:pPr>
            <a:r>
              <a:rPr lang="en-US" altLang="en-GB" sz="2000" b="1"/>
              <a:t>Video synchronization:</a:t>
            </a:r>
            <a:r>
              <a:rPr lang="en-US" altLang="en-GB" sz="2000"/>
              <a:t> I managed to establish the same frame rate (fps) in both videos and improve synchronization, as well as ensure that lysosome detection is visible in all cuts so as not to lose tracking.</a:t>
            </a:r>
            <a:endParaRPr lang="en-US" altLang="en-GB" sz="2000"/>
          </a:p>
          <a:p>
            <a:pPr marL="342900" indent="-342900">
              <a:buFont typeface="Arial" panose="020B0604020202020204" pitchFamily="34" charset="0"/>
              <a:buChar char="•"/>
            </a:pPr>
            <a:r>
              <a:rPr lang="en-US" altLang="en-GB" sz="2000" b="1"/>
              <a:t>Radius refinement: </a:t>
            </a:r>
            <a:r>
              <a:rPr lang="en-US" altLang="en-GB" sz="2000"/>
              <a:t>Implemented a </a:t>
            </a:r>
            <a:r>
              <a:rPr lang="en-US" altLang="en-GB" sz="2000" b="1"/>
              <a:t>distance transform (DT)–based refinement</a:t>
            </a:r>
            <a:r>
              <a:rPr lang="en-US" altLang="en-GB" sz="2000"/>
              <a:t>. This method re-estimates each lysosome’s radius from the coarse blob_log detections, providing a more geometric and boundary-aware measurement of the true lysosomal size and using better local and generic adaptive threshold for each lysosome.</a:t>
            </a:r>
            <a:endParaRPr lang="en-US" altLang="en-GB" sz="2000"/>
          </a:p>
          <a:p>
            <a:pPr marL="342900" indent="-342900">
              <a:buFont typeface="Arial" panose="020B0604020202020204" pitchFamily="34" charset="0"/>
              <a:buChar char="•"/>
            </a:pPr>
            <a:r>
              <a:rPr lang="en-US" altLang="en-GB" sz="2000" b="1"/>
              <a:t>Boundary inclusion adjustments:</a:t>
            </a:r>
            <a:endParaRPr lang="en-US" altLang="en-GB" sz="2000" b="1"/>
          </a:p>
          <a:p>
            <a:pPr marL="742950" lvl="1" indent="-285750">
              <a:buFont typeface="Wingdings" panose="05000000000000000000" charset="0"/>
              <a:buChar char="v"/>
            </a:pPr>
            <a:r>
              <a:rPr lang="en-US" altLang="en-GB" sz="2000" i="1" u="sng"/>
              <a:t>MARGIN_UM:</a:t>
            </a:r>
            <a:r>
              <a:rPr lang="en-US" altLang="en-GB" sz="2000" i="1"/>
              <a:t> </a:t>
            </a:r>
            <a:r>
              <a:rPr lang="en-US" altLang="en-GB" sz="2000"/>
              <a:t>defines a soft margin (in micrometers) outside the segmented cell mask. Lysosomes within this margin are now correctly counted as inside the cell.</a:t>
            </a:r>
            <a:endParaRPr lang="en-US" altLang="en-GB" sz="2000"/>
          </a:p>
          <a:p>
            <a:pPr marL="742950" lvl="1" indent="-285750">
              <a:buFont typeface="Wingdings" panose="05000000000000000000" charset="0"/>
              <a:buChar char="v"/>
            </a:pPr>
            <a:r>
              <a:rPr lang="en-US" altLang="en-GB" sz="2000" i="1" u="sng"/>
              <a:t>OVERLAP_ALPHA:</a:t>
            </a:r>
            <a:r>
              <a:rPr lang="en-US" altLang="en-GB" sz="2000"/>
              <a:t> sets the minimum overlap fraction (0–1) between a lysosome’s 3D sphere (based on its detected radius) and the cell mask required for it to be classified as inside.</a:t>
            </a:r>
            <a:endParaRPr lang="en-US" altLang="en-GB" sz="2000"/>
          </a:p>
          <a:p>
            <a:pPr marL="742950" lvl="1" indent="-285750">
              <a:buFont typeface="Wingdings" panose="05000000000000000000" charset="0"/>
              <a:buChar char="v"/>
            </a:pPr>
            <a:r>
              <a:rPr lang="en-US" altLang="en-GB" sz="2000" i="1" u="sng"/>
              <a:t>NEIGHBOR_MAX_VOX:</a:t>
            </a:r>
            <a:r>
              <a:rPr lang="en-US" altLang="en-GB" sz="2000"/>
              <a:t> defines the search radius (in voxels) for assigning a lysosome to the nearest cell label when it lies just outside any segmented cell—helping recover lysosomes lost due to erosion or segmentation gaps.</a:t>
            </a:r>
            <a:endParaRPr lang="en-US" altLang="en-GB" sz="2000"/>
          </a:p>
          <a:p>
            <a:pPr marL="285750" indent="-285750">
              <a:buFont typeface="Arial" panose="020B0604020202020204" pitchFamily="34" charset="0"/>
              <a:buChar char="•"/>
            </a:pPr>
            <a:endParaRPr lang="en-US" altLang="en-GB"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8000365" cy="697865"/>
          </a:xfrm>
          <a:prstGeom prst="rect">
            <a:avLst/>
          </a:prstGeom>
          <a:noFill/>
        </p:spPr>
        <p:txBody>
          <a:bodyPr wrap="none">
            <a:noAutofit/>
          </a:bodyPr>
          <a:lstStyle/>
          <a:p>
            <a:pPr algn="l"/>
            <a:r>
              <a:rPr lang="en-US" altLang="en-GB" sz="3200" b="1">
                <a:solidFill>
                  <a:srgbClr val="FF0000"/>
                </a:solidFill>
                <a:effectLst>
                  <a:outerShdw blurRad="38100" dist="38100" dir="2700000" algn="tl">
                    <a:srgbClr val="000000">
                      <a:alpha val="43137"/>
                    </a:srgbClr>
                  </a:outerShdw>
                </a:effectLst>
              </a:rPr>
              <a:t>AUTOMATIZATION</a:t>
            </a:r>
            <a:endParaRPr lang="en-US" altLang="en-GB" sz="3200" b="1">
              <a:solidFill>
                <a:srgbClr val="FF0000"/>
              </a:solidFill>
              <a:effectLst>
                <a:outerShdw blurRad="38100" dist="38100" dir="2700000" algn="tl">
                  <a:srgbClr val="000000">
                    <a:alpha val="43137"/>
                  </a:srgbClr>
                </a:outerShdw>
              </a:effectLst>
            </a:endParaRPr>
          </a:p>
        </p:txBody>
      </p:sp>
      <p:sp>
        <p:nvSpPr>
          <p:cNvPr id="3" name="TextBox 2"/>
          <p:cNvSpPr txBox="1"/>
          <p:nvPr/>
        </p:nvSpPr>
        <p:spPr>
          <a:xfrm>
            <a:off x="731520" y="1371600"/>
            <a:ext cx="309880" cy="1106805"/>
          </a:xfrm>
          <a:prstGeom prst="rect">
            <a:avLst/>
          </a:prstGeom>
          <a:noFill/>
        </p:spPr>
        <p:txBody>
          <a:bodyPr wrap="none">
            <a:spAutoFit/>
          </a:bodyPr>
          <a:lstStyle/>
          <a:p/>
          <a:p>
            <a:pPr>
              <a:defRPr sz="2800">
                <a:solidFill>
                  <a:srgbClr val="323232"/>
                </a:solidFill>
              </a:defRPr>
            </a:pPr>
            <a:endParaRPr lang="en-US" sz="4800"/>
          </a:p>
        </p:txBody>
      </p:sp>
      <p:sp>
        <p:nvSpPr>
          <p:cNvPr id="4" name="Text Box 3"/>
          <p:cNvSpPr txBox="1"/>
          <p:nvPr/>
        </p:nvSpPr>
        <p:spPr>
          <a:xfrm>
            <a:off x="635635" y="834390"/>
            <a:ext cx="11173460" cy="5939155"/>
          </a:xfrm>
          <a:prstGeom prst="rect">
            <a:avLst/>
          </a:prstGeom>
          <a:noFill/>
        </p:spPr>
        <p:txBody>
          <a:bodyPr wrap="square" rtlCol="0">
            <a:spAutoFit/>
          </a:bodyPr>
          <a:p>
            <a:pPr marL="342900" indent="-342900">
              <a:buFont typeface="Arial" panose="020B0604020202020204" pitchFamily="34" charset="0"/>
              <a:buChar char="•"/>
            </a:pPr>
            <a:endParaRPr lang="en-US" altLang="en-GB" sz="2000"/>
          </a:p>
          <a:p>
            <a:pPr marL="342900" indent="-342900">
              <a:buFont typeface="Arial" panose="020B0604020202020204" pitchFamily="34" charset="0"/>
              <a:buChar char="•"/>
            </a:pPr>
            <a:r>
              <a:rPr lang="en-US" altLang="en-GB" sz="2000" b="1"/>
              <a:t>Automatic morphology properties:</a:t>
            </a:r>
            <a:endParaRPr lang="en-US" altLang="en-GB" sz="2000" b="1"/>
          </a:p>
          <a:p>
            <a:pPr marL="742950" lvl="1" indent="-285750">
              <a:buFont typeface="Wingdings" panose="05000000000000000000" charset="0"/>
              <a:buChar char="v"/>
            </a:pPr>
            <a:r>
              <a:rPr lang="en-US" altLang="en-GB" sz="2000" i="1" u="sng">
                <a:effectLst>
                  <a:outerShdw blurRad="38100" dist="38100" dir="2700000" algn="tl">
                    <a:srgbClr val="000000">
                      <a:alpha val="43137"/>
                    </a:srgbClr>
                  </a:outerShdw>
                </a:effectLst>
              </a:rPr>
              <a:t>CLOSING</a:t>
            </a:r>
            <a:r>
              <a:rPr lang="en-US" altLang="en-GB" sz="2000" i="1" u="sng"/>
              <a:t>:</a:t>
            </a:r>
            <a:r>
              <a:rPr lang="en-US" altLang="en-GB" sz="2000" i="1"/>
              <a:t> </a:t>
            </a:r>
            <a:r>
              <a:rPr lang="en-US" altLang="en-GB" sz="2000"/>
              <a:t>Fill small dark holes or gaps inside objects, or close narrow breaks in the mask boundary.</a:t>
            </a:r>
            <a:endParaRPr lang="en-US" altLang="en-GB" sz="2000"/>
          </a:p>
          <a:p>
            <a:pPr marL="742950" lvl="1" indent="-285750">
              <a:buFont typeface="Wingdings" panose="05000000000000000000" charset="0"/>
              <a:buChar char="v"/>
            </a:pPr>
            <a:r>
              <a:rPr lang="en-US" altLang="en-GB" sz="2000" i="1" u="sng">
                <a:effectLst>
                  <a:outerShdw blurRad="38100" dist="38100" dir="2700000" algn="tl">
                    <a:srgbClr val="000000">
                      <a:alpha val="43137"/>
                    </a:srgbClr>
                  </a:outerShdw>
                </a:effectLst>
              </a:rPr>
              <a:t>OPENING</a:t>
            </a:r>
            <a:r>
              <a:rPr lang="en-US" altLang="en-GB" sz="2000" i="1" u="sng"/>
              <a:t>:</a:t>
            </a:r>
            <a:r>
              <a:rPr lang="en-US" altLang="en-GB" sz="2000"/>
              <a:t> Remove small, isolated bright regions or thin connections (“specks and noise”).</a:t>
            </a:r>
            <a:endParaRPr lang="en-US" altLang="en-GB" sz="2000"/>
          </a:p>
          <a:p>
            <a:pPr marL="742950" lvl="1" indent="-285750">
              <a:buFont typeface="Wingdings" panose="05000000000000000000" charset="0"/>
              <a:buChar char="v"/>
            </a:pPr>
            <a:r>
              <a:rPr lang="en-US" altLang="en-GB" sz="2000" i="1" u="sng">
                <a:effectLst>
                  <a:outerShdw blurRad="38100" dist="38100" dir="2700000" algn="tl">
                    <a:srgbClr val="000000">
                      <a:alpha val="43137"/>
                    </a:srgbClr>
                  </a:outerShdw>
                </a:effectLst>
              </a:rPr>
              <a:t>EROSION</a:t>
            </a:r>
            <a:r>
              <a:rPr lang="en-US" altLang="en-GB" sz="2000" i="1" u="sng"/>
              <a:t>:</a:t>
            </a:r>
            <a:r>
              <a:rPr lang="en-US" altLang="en-GB" sz="2000"/>
              <a:t> Shrink objects uniformly by eating away their edges.</a:t>
            </a:r>
            <a:endParaRPr lang="en-US" altLang="en-GB" sz="2000"/>
          </a:p>
          <a:p>
            <a:pPr marL="742950" lvl="1" indent="-285750">
              <a:buFont typeface="Wingdings" panose="05000000000000000000" charset="0"/>
              <a:buChar char="v"/>
            </a:pPr>
            <a:endParaRPr lang="en-US" altLang="en-GB" sz="2000"/>
          </a:p>
          <a:p>
            <a:pPr marL="285750" indent="-285750">
              <a:buFont typeface="Arial" panose="020B0604020202020204" pitchFamily="34" charset="0"/>
              <a:buChar char="•"/>
            </a:pPr>
            <a:r>
              <a:rPr lang="en-US" altLang="en-GB" sz="2000" b="1">
                <a:sym typeface="+mn-ea"/>
              </a:rPr>
              <a:t>Parameters needs automatization: </a:t>
            </a:r>
            <a:endParaRPr lang="en-US" altLang="en-GB" sz="2000" b="1">
              <a:sym typeface="+mn-ea"/>
            </a:endParaRPr>
          </a:p>
          <a:p>
            <a:pPr marL="800100" lvl="1" indent="-342900">
              <a:buFont typeface="Wingdings" panose="05000000000000000000" charset="0"/>
              <a:buChar char="v"/>
            </a:pPr>
            <a:r>
              <a:rPr lang="en-US" altLang="en-GB" sz="2000">
                <a:sym typeface="+mn-ea"/>
              </a:rPr>
              <a:t>Lysosomes threshold(blob_log)</a:t>
            </a:r>
            <a:endParaRPr lang="en-US" altLang="en-GB" sz="2000">
              <a:sym typeface="+mn-ea"/>
            </a:endParaRPr>
          </a:p>
          <a:p>
            <a:pPr marL="800100" lvl="1" indent="-342900">
              <a:buFont typeface="Wingdings" panose="05000000000000000000" charset="0"/>
              <a:buChar char="v"/>
            </a:pPr>
            <a:r>
              <a:rPr lang="en-US" altLang="en-GB" sz="2000">
                <a:sym typeface="+mn-ea"/>
              </a:rPr>
              <a:t>Threshold local(cell mask)</a:t>
            </a:r>
            <a:endParaRPr lang="en-US" altLang="en-GB" sz="2000">
              <a:sym typeface="+mn-ea"/>
            </a:endParaRPr>
          </a:p>
          <a:p>
            <a:pPr marL="800100" lvl="1" indent="-342900">
              <a:buFont typeface="Wingdings" panose="05000000000000000000" charset="0"/>
              <a:buChar char="v"/>
            </a:pPr>
            <a:r>
              <a:rPr lang="en-US" altLang="en-GB" sz="2000"/>
              <a:t>Minimum sigma</a:t>
            </a:r>
            <a:endParaRPr lang="en-US" altLang="en-GB" sz="2000"/>
          </a:p>
          <a:p>
            <a:pPr marL="800100" lvl="1" indent="-342900">
              <a:buFont typeface="Wingdings" panose="05000000000000000000" charset="0"/>
              <a:buChar char="v"/>
            </a:pPr>
            <a:r>
              <a:rPr lang="en-US" altLang="en-GB" sz="2000"/>
              <a:t>Maximum sigma</a:t>
            </a:r>
            <a:endParaRPr lang="en-US" altLang="en-GB" sz="2000"/>
          </a:p>
          <a:p>
            <a:pPr marL="800100" lvl="1" indent="-342900">
              <a:buFont typeface="Wingdings" panose="05000000000000000000" charset="0"/>
              <a:buChar char="v"/>
            </a:pPr>
            <a:r>
              <a:rPr lang="en-US" altLang="en-GB" sz="2000"/>
              <a:t>Number sigma</a:t>
            </a:r>
            <a:endParaRPr lang="en-US" altLang="en-GB" sz="2000"/>
          </a:p>
          <a:p>
            <a:pPr marL="800100" lvl="1" indent="-342900">
              <a:buFont typeface="Wingdings" panose="05000000000000000000" charset="0"/>
              <a:buChar char="v"/>
            </a:pPr>
            <a:r>
              <a:rPr lang="en-US" altLang="en-GB" sz="2000"/>
              <a:t>MARGIN_UM</a:t>
            </a:r>
            <a:endParaRPr lang="en-US" altLang="en-GB" sz="2000"/>
          </a:p>
          <a:p>
            <a:pPr marL="800100" lvl="1" indent="-342900">
              <a:buFont typeface="Wingdings" panose="05000000000000000000" charset="0"/>
              <a:buChar char="v"/>
            </a:pPr>
            <a:r>
              <a:rPr lang="en-US" altLang="en-GB" sz="2000">
                <a:sym typeface="+mn-ea"/>
              </a:rPr>
              <a:t>OVERLAP_ALPHA</a:t>
            </a:r>
            <a:endParaRPr lang="en-US" altLang="en-GB" sz="2000">
              <a:sym typeface="+mn-ea"/>
            </a:endParaRPr>
          </a:p>
          <a:p>
            <a:pPr marL="800100" lvl="1" indent="-342900">
              <a:buFont typeface="Wingdings" panose="05000000000000000000" charset="0"/>
              <a:buChar char="v"/>
            </a:pPr>
            <a:r>
              <a:rPr lang="en-US" altLang="en-GB" sz="2000">
                <a:sym typeface="+mn-ea"/>
              </a:rPr>
              <a:t>NEIGHBOR_MAX_VOX</a:t>
            </a:r>
            <a:endParaRPr lang="en-US" altLang="en-GB" sz="2000">
              <a:sym typeface="+mn-ea"/>
            </a:endParaRPr>
          </a:p>
          <a:p>
            <a:pPr marL="800100" lvl="1" indent="-342900">
              <a:buFont typeface="Wingdings" panose="05000000000000000000" charset="0"/>
              <a:buChar char="v"/>
            </a:pPr>
            <a:r>
              <a:rPr lang="en-US" altLang="en-GB" sz="2000">
                <a:sym typeface="+mn-ea"/>
              </a:rPr>
              <a:t>Others</a:t>
            </a:r>
            <a:endParaRPr lang="en-US" altLang="en-GB" sz="2000"/>
          </a:p>
          <a:p>
            <a:pPr lvl="1" indent="0">
              <a:buFont typeface="Wingdings" panose="05000000000000000000" charset="0"/>
              <a:buNone/>
            </a:pPr>
            <a:endParaRPr lang="en-US" altLang="en-GB" sz="2000"/>
          </a:p>
          <a:p>
            <a:pPr indent="0">
              <a:buFont typeface="Arial" panose="020B0604020202020204" pitchFamily="34" charset="0"/>
              <a:buNone/>
            </a:pPr>
            <a:endParaRPr lang="en-US" altLang="en-GB"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8000365" cy="697865"/>
          </a:xfrm>
          <a:prstGeom prst="rect">
            <a:avLst/>
          </a:prstGeom>
          <a:noFill/>
        </p:spPr>
        <p:txBody>
          <a:bodyPr wrap="none">
            <a:noAutofit/>
          </a:bodyPr>
          <a:lstStyle/>
          <a:p>
            <a:pPr algn="l"/>
            <a:r>
              <a:rPr lang="en-US" altLang="en-GB" sz="3200" b="1">
                <a:solidFill>
                  <a:srgbClr val="FF0000"/>
                </a:solidFill>
                <a:effectLst>
                  <a:outerShdw blurRad="38100" dist="38100" dir="2700000" algn="tl">
                    <a:srgbClr val="000000">
                      <a:alpha val="43137"/>
                    </a:srgbClr>
                  </a:outerShdw>
                </a:effectLst>
              </a:rPr>
              <a:t>Next steps</a:t>
            </a:r>
            <a:endParaRPr lang="en-US" altLang="en-GB" sz="3200" b="1">
              <a:solidFill>
                <a:srgbClr val="FF0000"/>
              </a:solidFill>
              <a:effectLst>
                <a:outerShdw blurRad="38100" dist="38100" dir="2700000" algn="tl">
                  <a:srgbClr val="000000">
                    <a:alpha val="43137"/>
                  </a:srgbClr>
                </a:outerShdw>
              </a:effectLst>
            </a:endParaRPr>
          </a:p>
        </p:txBody>
      </p:sp>
      <p:sp>
        <p:nvSpPr>
          <p:cNvPr id="3" name="TextBox 2"/>
          <p:cNvSpPr txBox="1"/>
          <p:nvPr/>
        </p:nvSpPr>
        <p:spPr>
          <a:xfrm>
            <a:off x="731520" y="1371600"/>
            <a:ext cx="309880" cy="1106805"/>
          </a:xfrm>
          <a:prstGeom prst="rect">
            <a:avLst/>
          </a:prstGeom>
          <a:noFill/>
        </p:spPr>
        <p:txBody>
          <a:bodyPr wrap="none">
            <a:spAutoFit/>
          </a:bodyPr>
          <a:lstStyle/>
          <a:p/>
          <a:p>
            <a:pPr>
              <a:defRPr sz="2800">
                <a:solidFill>
                  <a:srgbClr val="323232"/>
                </a:solidFill>
              </a:defRPr>
            </a:pPr>
            <a:endParaRPr lang="en-US" sz="4800"/>
          </a:p>
        </p:txBody>
      </p:sp>
      <p:sp>
        <p:nvSpPr>
          <p:cNvPr id="4" name="Text Box 3"/>
          <p:cNvSpPr txBox="1"/>
          <p:nvPr/>
        </p:nvSpPr>
        <p:spPr>
          <a:xfrm>
            <a:off x="635635" y="834390"/>
            <a:ext cx="11173460" cy="5246370"/>
          </a:xfrm>
          <a:prstGeom prst="rect">
            <a:avLst/>
          </a:prstGeom>
          <a:noFill/>
        </p:spPr>
        <p:txBody>
          <a:bodyPr wrap="square" rtlCol="0">
            <a:spAutoFit/>
          </a:bodyPr>
          <a:p>
            <a:pPr indent="0">
              <a:buFont typeface="Arial" panose="020B0604020202020204" pitchFamily="34" charset="0"/>
              <a:buNone/>
            </a:pPr>
            <a:endParaRPr lang="en-US" altLang="en-GB" sz="2000"/>
          </a:p>
          <a:p>
            <a:pPr indent="0">
              <a:buFont typeface="Arial" panose="020B0604020202020204" pitchFamily="34" charset="0"/>
              <a:buNone/>
            </a:pPr>
            <a:r>
              <a:rPr lang="en-US" altLang="en-GB" sz="1500" b="1"/>
              <a:t>Optimize σ (sigma) parameter</a:t>
            </a:r>
            <a:endParaRPr lang="en-US" altLang="en-GB" sz="1500" b="1"/>
          </a:p>
          <a:p>
            <a:pPr indent="0">
              <a:buFont typeface="Arial" panose="020B0604020202020204" pitchFamily="34" charset="0"/>
              <a:buNone/>
            </a:pPr>
            <a:r>
              <a:rPr lang="en-US" altLang="en-GB" sz="1500"/>
              <a:t>Continue investigating the optimal sigma range for the blob_log detector to achieve the best balance between sensitivity and accuracy in lysosome detection.</a:t>
            </a:r>
            <a:endParaRPr lang="en-US" altLang="en-GB" sz="1500"/>
          </a:p>
          <a:p>
            <a:pPr indent="0">
              <a:buFont typeface="Arial" panose="020B0604020202020204" pitchFamily="34" charset="0"/>
              <a:buNone/>
            </a:pPr>
            <a:endParaRPr lang="en-US" altLang="en-GB" sz="1500"/>
          </a:p>
          <a:p>
            <a:pPr indent="0">
              <a:buFont typeface="Arial" panose="020B0604020202020204" pitchFamily="34" charset="0"/>
              <a:buNone/>
            </a:pPr>
            <a:r>
              <a:rPr lang="en-US" altLang="en-GB" sz="1500" b="1"/>
              <a:t>Automate parameter tuning</a:t>
            </a:r>
            <a:endParaRPr lang="en-US" altLang="en-GB" sz="1500" b="1"/>
          </a:p>
          <a:p>
            <a:pPr indent="0">
              <a:buFont typeface="Arial" panose="020B0604020202020204" pitchFamily="34" charset="0"/>
              <a:buNone/>
            </a:pPr>
            <a:r>
              <a:rPr lang="en-US" altLang="en-GB" sz="1500"/>
              <a:t>Implement automated optimization routines for key script parameters (e.g., threshold, sigma values,others) to minimize manual intervention and ensure reproducible results.</a:t>
            </a:r>
            <a:endParaRPr lang="en-US" altLang="en-GB" sz="1500"/>
          </a:p>
          <a:p>
            <a:pPr indent="0">
              <a:buFont typeface="Arial" panose="020B0604020202020204" pitchFamily="34" charset="0"/>
              <a:buNone/>
            </a:pPr>
            <a:endParaRPr lang="en-US" altLang="en-GB" sz="1500"/>
          </a:p>
          <a:p>
            <a:pPr indent="0">
              <a:buFont typeface="Arial" panose="020B0604020202020204" pitchFamily="34" charset="0"/>
              <a:buNone/>
            </a:pPr>
            <a:r>
              <a:rPr lang="en-US" altLang="en-GB" sz="1500" b="1"/>
              <a:t>Generate static 3D visualizations</a:t>
            </a:r>
            <a:endParaRPr lang="en-US" altLang="en-GB" sz="1500" b="1"/>
          </a:p>
          <a:p>
            <a:pPr indent="0">
              <a:buFont typeface="Arial" panose="020B0604020202020204" pitchFamily="34" charset="0"/>
              <a:buNone/>
            </a:pPr>
            <a:r>
              <a:rPr lang="en-US" altLang="en-GB" sz="1500"/>
              <a:t>Create high-quality static 3D renderings of segmented cells and lysosomes for documentation, figures, and presentations.</a:t>
            </a:r>
            <a:endParaRPr lang="en-US" altLang="en-GB" sz="1500"/>
          </a:p>
          <a:p>
            <a:pPr indent="0">
              <a:buFont typeface="Arial" panose="020B0604020202020204" pitchFamily="34" charset="0"/>
              <a:buNone/>
            </a:pPr>
            <a:endParaRPr lang="en-US" altLang="en-GB" sz="1500" b="1"/>
          </a:p>
          <a:p>
            <a:pPr indent="0">
              <a:buFont typeface="Arial" panose="020B0604020202020204" pitchFamily="34" charset="0"/>
              <a:buNone/>
            </a:pPr>
            <a:r>
              <a:rPr lang="en-US" altLang="en-GB" sz="1500" b="1"/>
              <a:t>Process additional datasets</a:t>
            </a:r>
            <a:endParaRPr lang="en-US" altLang="en-GB" sz="1500" b="1"/>
          </a:p>
          <a:p>
            <a:pPr indent="0">
              <a:buFont typeface="Arial" panose="020B0604020202020204" pitchFamily="34" charset="0"/>
              <a:buNone/>
            </a:pPr>
            <a:r>
              <a:rPr lang="en-US" altLang="en-GB" sz="1500"/>
              <a:t>Expand the analysis to include more image stacks to validate robustness and performance across different imaging conditions.</a:t>
            </a:r>
            <a:endParaRPr lang="en-US" altLang="en-GB" sz="1500"/>
          </a:p>
          <a:p>
            <a:pPr indent="0">
              <a:buFont typeface="Arial" panose="020B0604020202020204" pitchFamily="34" charset="0"/>
              <a:buNone/>
            </a:pPr>
            <a:endParaRPr lang="en-US" altLang="en-GB" sz="1500"/>
          </a:p>
          <a:p>
            <a:pPr indent="0">
              <a:buFont typeface="Arial" panose="020B0604020202020204" pitchFamily="34" charset="0"/>
              <a:buNone/>
            </a:pPr>
            <a:r>
              <a:rPr lang="en-US" altLang="en-GB" sz="1500" b="1"/>
              <a:t>Set up the environment on the server</a:t>
            </a:r>
            <a:endParaRPr lang="en-US" altLang="en-GB" sz="1500" b="1"/>
          </a:p>
          <a:p>
            <a:pPr indent="0">
              <a:buFont typeface="Arial" panose="020B0604020202020204" pitchFamily="34" charset="0"/>
              <a:buNone/>
            </a:pPr>
            <a:r>
              <a:rPr lang="en-US" altLang="en-GB" sz="1500"/>
              <a:t>Install all required programs, dependencies, and Python libraries on the analysis server to enable remote execution and ensure consistent environments across users.</a:t>
            </a:r>
            <a:endParaRPr lang="en-US" altLang="en-GB" sz="1500"/>
          </a:p>
          <a:p>
            <a:pPr indent="0">
              <a:buFont typeface="Arial" panose="020B0604020202020204" pitchFamily="34" charset="0"/>
              <a:buNone/>
            </a:pPr>
            <a:endParaRPr lang="en-US" altLang="en-GB" sz="1500"/>
          </a:p>
          <a:p>
            <a:pPr indent="0">
              <a:buFont typeface="Arial" panose="020B0604020202020204" pitchFamily="34" charset="0"/>
              <a:buNone/>
            </a:pPr>
            <a:r>
              <a:rPr lang="en-US" altLang="en-GB" sz="1500" b="1"/>
              <a:t>Implement batch processing</a:t>
            </a:r>
            <a:endParaRPr lang="en-US" altLang="en-GB" sz="1500" b="1"/>
          </a:p>
          <a:p>
            <a:pPr indent="0">
              <a:buFont typeface="Arial" panose="020B0604020202020204" pitchFamily="34" charset="0"/>
              <a:buNone/>
            </a:pPr>
            <a:r>
              <a:rPr lang="en-US" altLang="en-GB" sz="1500"/>
              <a:t>Develop a batch-processing workflow to automatically analyze multiple images or datasets sequentially, improving throughput and </a:t>
            </a:r>
            <a:r>
              <a:rPr lang="en-US" altLang="en-GB" sz="1500"/>
              <a:t>efficiency.</a:t>
            </a:r>
            <a:endParaRPr lang="en-US" altLang="en-GB" sz="1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84455"/>
            <a:ext cx="10972800" cy="582613"/>
          </a:xfrm>
        </p:spPr>
        <p:txBody>
          <a:bodyPr/>
          <a:p>
            <a:r>
              <a:rPr lang="en-US" altLang="en-GB" b="1">
                <a:solidFill>
                  <a:srgbClr val="FF0000"/>
                </a:solidFill>
                <a:effectLst>
                  <a:outerShdw blurRad="38100" dist="38100" dir="2700000" algn="tl">
                    <a:srgbClr val="000000">
                      <a:alpha val="43137"/>
                    </a:srgbClr>
                  </a:outerShdw>
                </a:effectLst>
              </a:rPr>
              <a:t>FILES</a:t>
            </a:r>
            <a:endParaRPr lang="en-US" altLang="en-GB" b="1">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09600" y="667385"/>
            <a:ext cx="10972800" cy="4953000"/>
          </a:xfrm>
        </p:spPr>
        <p:txBody>
          <a:bodyPr/>
          <a:p>
            <a:pPr>
              <a:buFont typeface="Wingdings" panose="05000000000000000000" charset="0"/>
              <a:buChar char="ü"/>
            </a:pPr>
            <a:r>
              <a:rPr lang="en-US" altLang="en-GB" sz="2800"/>
              <a:t>Airy scan_40A_UAS-TMEM-HA_CB_0h_1_051222</a:t>
            </a:r>
            <a:endParaRPr lang="en-US" altLang="en-GB" sz="2800"/>
          </a:p>
          <a:p>
            <a:pPr>
              <a:buFont typeface="Wingdings" panose="05000000000000000000" charset="0"/>
              <a:buChar char="ü"/>
            </a:pPr>
            <a:r>
              <a:rPr lang="en-US" altLang="en-GB" sz="2800"/>
              <a:t>Airy scan_40A_UAS-TMEM-HA_CB_0h_2_051222</a:t>
            </a:r>
            <a:endParaRPr lang="en-US" altLang="en-GB" sz="2800"/>
          </a:p>
          <a:p>
            <a:pPr>
              <a:buFont typeface="Wingdings" panose="05000000000000000000" charset="0"/>
              <a:buChar char="ü"/>
            </a:pPr>
            <a:r>
              <a:rPr lang="en-US" altLang="en-GB" sz="2800"/>
              <a:t>Airy scan_40A_UAS-TMEM-HA_CB_4h_1_051222</a:t>
            </a:r>
            <a:endParaRPr lang="en-US" altLang="en-GB" sz="2800"/>
          </a:p>
          <a:p>
            <a:pPr>
              <a:buFont typeface="Wingdings" panose="05000000000000000000" charset="0"/>
              <a:buChar char="ü"/>
            </a:pPr>
            <a:r>
              <a:rPr lang="en-US" altLang="en-GB" sz="2800"/>
              <a:t>Airy scan_40A_UAS-TMEM-HA_CB_4h_2_051222</a:t>
            </a:r>
            <a:endParaRPr lang="en-US" altLang="en-GB" sz="2800"/>
          </a:p>
          <a:p>
            <a:pPr>
              <a:buFont typeface="Wingdings" panose="05000000000000000000" charset="0"/>
              <a:buChar char="ü"/>
            </a:pPr>
            <a:r>
              <a:rPr lang="en-US" altLang="en-GB" sz="2800"/>
              <a:t>TMEM-HA 6h CB airy_3_170722</a:t>
            </a:r>
            <a:endParaRPr lang="en-US" altLang="en-GB" sz="2800"/>
          </a:p>
          <a:p>
            <a:pPr>
              <a:buFont typeface="Wingdings" panose="05000000000000000000" charset="0"/>
              <a:buChar char="ü"/>
            </a:pPr>
            <a:r>
              <a:rPr lang="en-US" altLang="en-GB" sz="2800"/>
              <a:t>40A_UAS-TMEM192-3xHA x 40A 71G10 MARCM_around 12h - for quantification_4 Airy-CBs_300425</a:t>
            </a:r>
            <a:endParaRPr lang="en-US" altLang="en-GB" sz="2800"/>
          </a:p>
          <a:p>
            <a:pPr>
              <a:buFont typeface="Wingdings" panose="05000000000000000000" charset="0"/>
              <a:buChar char="ü"/>
            </a:pPr>
            <a:r>
              <a:rPr lang="en-US" altLang="en-GB" sz="2800">
                <a:solidFill>
                  <a:schemeClr val="tx1"/>
                </a:solidFill>
                <a:effectLst/>
              </a:rPr>
              <a:t>40A_UAS-TMEM192-3xHA x 40A 71G10 MARCM_around 12h - for quantification_3 Airy-CBs_300425</a:t>
            </a:r>
            <a:endParaRPr lang="en-US" altLang="en-GB" sz="2800">
              <a:solidFill>
                <a:schemeClr val="tx1"/>
              </a:solidFill>
              <a:effectLst/>
            </a:endParaRPr>
          </a:p>
          <a:p>
            <a:pPr>
              <a:buFont typeface="Wingdings" panose="05000000000000000000" charset="0"/>
              <a:buChar char="ü"/>
            </a:pPr>
            <a:r>
              <a:rPr lang="en-US" altLang="en-GB" sz="2800">
                <a:solidFill>
                  <a:schemeClr val="tx1"/>
                </a:solidFill>
                <a:effectLst/>
              </a:rPr>
              <a:t>40A_UAS-TMEM1923x-HA x 71G10 40A MARCM_L3_2_Airy_010724</a:t>
            </a:r>
            <a:endParaRPr lang="en-US" altLang="en-GB" sz="2800">
              <a:solidFill>
                <a:schemeClr val="tx1"/>
              </a:solidFill>
              <a:effectLst/>
            </a:endParaRPr>
          </a:p>
          <a:p>
            <a:pPr>
              <a:buFont typeface="Wingdings" panose="05000000000000000000" charset="0"/>
              <a:buChar char="ü"/>
            </a:pPr>
            <a:r>
              <a:rPr lang="en-US" altLang="en-GB" sz="2800">
                <a:solidFill>
                  <a:schemeClr val="tx1"/>
                </a:solidFill>
                <a:effectLst/>
              </a:rPr>
              <a:t>40A_UAS-TMEM1923x-HA x 71G10 40A MARCM_L3_1_Airy_010724</a:t>
            </a:r>
            <a:endParaRPr lang="en-US" altLang="en-GB" sz="2800">
              <a:solidFill>
                <a:schemeClr val="tx1"/>
              </a:solidFill>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effectLst>
                  <a:outerShdw blurRad="38100" dist="38100" dir="2700000" algn="tl">
                    <a:srgbClr val="000000">
                      <a:alpha val="43137"/>
                    </a:srgbClr>
                  </a:outerShdw>
                </a:effectLst>
                <a:sym typeface="+mn-ea"/>
              </a:rPr>
              <a:t>Airy scan_40A_UAS-TMEM-HA_CB_0h_1_051222</a:t>
            </a:r>
            <a:endParaRPr lang="en-US" altLang="en-GB" b="1">
              <a:solidFill>
                <a:srgbClr val="FF0000"/>
              </a:solidFill>
              <a:effectLst>
                <a:outerShdw blurRad="38100" dist="38100" dir="2700000" algn="tl">
                  <a:srgbClr val="000000">
                    <a:alpha val="43137"/>
                  </a:srgbClr>
                </a:outerShdw>
              </a:effectLst>
              <a:sym typeface="+mn-ea"/>
            </a:endParaRPr>
          </a:p>
        </p:txBody>
      </p:sp>
      <p:pic>
        <p:nvPicPr>
          <p:cNvPr id="3" name="ch2_raw_and_fused_all_viz">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396240" y="897255"/>
            <a:ext cx="11399520" cy="569976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190500"/>
            <a:ext cx="10972800" cy="762000"/>
          </a:xfrm>
        </p:spPr>
        <p:txBody>
          <a:bodyPr lIns="91440" tIns="45720" rIns="91440" bIns="45720" anchor="ctr" anchorCtr="0"/>
          <a:lstStyle/>
          <a:p>
            <a:r>
              <a:rPr lang="en-US" altLang="en-GB" b="1" dirty="0">
                <a:solidFill>
                  <a:srgbClr val="FF0000"/>
                </a:solidFill>
                <a:cs typeface="Arial" panose="020B0604020202020204"/>
              </a:rPr>
              <a:t>Airy scan_40A_UAS-TMEM-HA_CB_0h_1_051222</a:t>
            </a:r>
            <a:br>
              <a:rPr lang="en-US" altLang="en-GB" b="1" dirty="0">
                <a:solidFill>
                  <a:srgbClr val="FF0000"/>
                </a:solidFill>
                <a:cs typeface="Arial" panose="020B0604020202020204"/>
              </a:rPr>
            </a:br>
            <a:endParaRPr lang="en-US" altLang="en-GB" b="1" dirty="0">
              <a:solidFill>
                <a:srgbClr val="FF0000"/>
              </a:solidFill>
              <a:cs typeface="Arial" panose="020B0604020202020204"/>
            </a:endParaRPr>
          </a:p>
        </p:txBody>
      </p:sp>
      <p:pic>
        <p:nvPicPr>
          <p:cNvPr id="3" name="Picture 2" descr="SEG 1"/>
          <p:cNvPicPr>
            <a:picLocks noChangeAspect="1"/>
          </p:cNvPicPr>
          <p:nvPr/>
        </p:nvPicPr>
        <p:blipFill>
          <a:blip r:embed="rId1"/>
          <a:stretch>
            <a:fillRect/>
          </a:stretch>
        </p:blipFill>
        <p:spPr>
          <a:xfrm>
            <a:off x="1182370" y="952500"/>
            <a:ext cx="9566275" cy="5553075"/>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190500"/>
            <a:ext cx="10972800" cy="762000"/>
          </a:xfrm>
        </p:spPr>
        <p:txBody>
          <a:bodyPr lIns="91440" tIns="45720" rIns="91440" bIns="45720" anchor="ctr" anchorCtr="0"/>
          <a:lstStyle/>
          <a:p>
            <a:r>
              <a:rPr lang="en-US" altLang="en-GB" b="1" dirty="0">
                <a:solidFill>
                  <a:srgbClr val="FF0000"/>
                </a:solidFill>
                <a:cs typeface="Arial" panose="020B0604020202020204"/>
              </a:rPr>
              <a:t>Airy scan_40A_UAS-TMEM-HA_CB_0h_1_051222</a:t>
            </a:r>
            <a:br>
              <a:rPr lang="en-US" altLang="en-GB" b="1" dirty="0">
                <a:solidFill>
                  <a:srgbClr val="FF0000"/>
                </a:solidFill>
                <a:cs typeface="Arial" panose="020B0604020202020204"/>
              </a:rPr>
            </a:br>
            <a:endParaRPr lang="en-US" altLang="en-GB" b="1" dirty="0">
              <a:solidFill>
                <a:srgbClr val="FF0000"/>
              </a:solidFill>
              <a:cs typeface="Arial" panose="020B0604020202020204"/>
            </a:endParaRPr>
          </a:p>
        </p:txBody>
      </p:sp>
      <p:pic>
        <p:nvPicPr>
          <p:cNvPr id="3" name="Picture 2"/>
          <p:cNvPicPr>
            <a:picLocks noChangeAspect="1"/>
          </p:cNvPicPr>
          <p:nvPr/>
        </p:nvPicPr>
        <p:blipFill>
          <a:blip r:embed="rId1"/>
          <a:stretch>
            <a:fillRect/>
          </a:stretch>
        </p:blipFill>
        <p:spPr>
          <a:xfrm>
            <a:off x="309880" y="864235"/>
            <a:ext cx="7810500" cy="4705350"/>
          </a:xfrm>
          <a:prstGeom prst="rect">
            <a:avLst/>
          </a:prstGeom>
        </p:spPr>
      </p:pic>
      <p:pic>
        <p:nvPicPr>
          <p:cNvPr id="4" name="Picture 3"/>
          <p:cNvPicPr>
            <a:picLocks noChangeAspect="1"/>
          </p:cNvPicPr>
          <p:nvPr/>
        </p:nvPicPr>
        <p:blipFill>
          <a:blip r:embed="rId2"/>
          <a:stretch>
            <a:fillRect/>
          </a:stretch>
        </p:blipFill>
        <p:spPr>
          <a:xfrm>
            <a:off x="9116695" y="1047750"/>
            <a:ext cx="1771650" cy="962025"/>
          </a:xfrm>
          <a:prstGeom prst="rect">
            <a:avLst/>
          </a:prstGeom>
        </p:spPr>
      </p:pic>
      <p:pic>
        <p:nvPicPr>
          <p:cNvPr id="5" name="Picture 4"/>
          <p:cNvPicPr>
            <a:picLocks noChangeAspect="1"/>
          </p:cNvPicPr>
          <p:nvPr/>
        </p:nvPicPr>
        <p:blipFill>
          <a:blip r:embed="rId3"/>
          <a:stretch>
            <a:fillRect/>
          </a:stretch>
        </p:blipFill>
        <p:spPr>
          <a:xfrm>
            <a:off x="9116695" y="2510790"/>
            <a:ext cx="1809750" cy="52387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sym typeface="+mn-ea"/>
              </a:rPr>
              <a:t>TMEM-HA 6h CB airy_3_170722</a:t>
            </a:r>
            <a:endParaRPr lang="en-US" altLang="en-GB" b="1">
              <a:solidFill>
                <a:srgbClr val="FF0000"/>
              </a:solidFill>
              <a:sym typeface="+mn-ea"/>
            </a:endParaRPr>
          </a:p>
        </p:txBody>
      </p:sp>
      <p:pic>
        <p:nvPicPr>
          <p:cNvPr id="3" name="ch2_raw_and_fused_all_viz-ezgif.com-gif-to-mp4-converter">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472440" y="841375"/>
            <a:ext cx="11247120" cy="570103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GB" b="1">
                <a:solidFill>
                  <a:srgbClr val="FF0000"/>
                </a:solidFill>
                <a:sym typeface="+mn-ea"/>
              </a:rPr>
              <a:t>TMEM-HA 6h CB airy_3_170722</a:t>
            </a:r>
            <a:endParaRPr lang="en-US" altLang="en-GB" b="1">
              <a:solidFill>
                <a:srgbClr val="FF0000"/>
              </a:solidFill>
              <a:sym typeface="+mn-ea"/>
            </a:endParaRPr>
          </a:p>
        </p:txBody>
      </p:sp>
      <p:pic>
        <p:nvPicPr>
          <p:cNvPr id="2" name="Picture 1" descr="SEG 1"/>
          <p:cNvPicPr>
            <a:picLocks noChangeAspect="1"/>
          </p:cNvPicPr>
          <p:nvPr/>
        </p:nvPicPr>
        <p:blipFill>
          <a:blip r:embed="rId1"/>
          <a:stretch>
            <a:fillRect/>
          </a:stretch>
        </p:blipFill>
        <p:spPr>
          <a:xfrm>
            <a:off x="775970" y="879475"/>
            <a:ext cx="9933940" cy="57664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GB" b="1">
                <a:solidFill>
                  <a:srgbClr val="FF0000"/>
                </a:solidFill>
                <a:sym typeface="+mn-ea"/>
              </a:rPr>
              <a:t>TMEM-HA 6h CB airy_3_170722</a:t>
            </a:r>
            <a:endParaRPr lang="en-US" altLang="en-GB" b="1">
              <a:solidFill>
                <a:srgbClr val="FF0000"/>
              </a:solidFill>
              <a:sym typeface="+mn-ea"/>
            </a:endParaRPr>
          </a:p>
        </p:txBody>
      </p:sp>
      <p:pic>
        <p:nvPicPr>
          <p:cNvPr id="2" name="Picture 1"/>
          <p:cNvPicPr>
            <a:picLocks noChangeAspect="1"/>
          </p:cNvPicPr>
          <p:nvPr/>
        </p:nvPicPr>
        <p:blipFill>
          <a:blip r:embed="rId1"/>
          <a:stretch>
            <a:fillRect/>
          </a:stretch>
        </p:blipFill>
        <p:spPr>
          <a:xfrm>
            <a:off x="609600" y="773430"/>
            <a:ext cx="4785360" cy="4121785"/>
          </a:xfrm>
          <a:prstGeom prst="rect">
            <a:avLst/>
          </a:prstGeom>
        </p:spPr>
      </p:pic>
      <p:pic>
        <p:nvPicPr>
          <p:cNvPr id="3" name="Picture 2"/>
          <p:cNvPicPr>
            <a:picLocks noChangeAspect="1"/>
          </p:cNvPicPr>
          <p:nvPr/>
        </p:nvPicPr>
        <p:blipFill>
          <a:blip r:embed="rId2"/>
          <a:stretch>
            <a:fillRect/>
          </a:stretch>
        </p:blipFill>
        <p:spPr>
          <a:xfrm>
            <a:off x="609600" y="5193030"/>
            <a:ext cx="4777105" cy="1514475"/>
          </a:xfrm>
          <a:prstGeom prst="rect">
            <a:avLst/>
          </a:prstGeom>
        </p:spPr>
      </p:pic>
      <p:sp>
        <p:nvSpPr>
          <p:cNvPr id="5" name="Rectangles 4"/>
          <p:cNvSpPr/>
          <p:nvPr/>
        </p:nvSpPr>
        <p:spPr>
          <a:xfrm>
            <a:off x="588010" y="4870450"/>
            <a:ext cx="4832350" cy="260350"/>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pic>
        <p:nvPicPr>
          <p:cNvPr id="6" name="Picture 5"/>
          <p:cNvPicPr>
            <a:picLocks noChangeAspect="1"/>
          </p:cNvPicPr>
          <p:nvPr/>
        </p:nvPicPr>
        <p:blipFill>
          <a:blip r:embed="rId3"/>
          <a:stretch>
            <a:fillRect/>
          </a:stretch>
        </p:blipFill>
        <p:spPr>
          <a:xfrm>
            <a:off x="5861050" y="883920"/>
            <a:ext cx="1781175" cy="781050"/>
          </a:xfrm>
          <a:prstGeom prst="rect">
            <a:avLst/>
          </a:prstGeom>
        </p:spPr>
      </p:pic>
      <p:pic>
        <p:nvPicPr>
          <p:cNvPr id="7" name="Picture 6"/>
          <p:cNvPicPr>
            <a:picLocks noChangeAspect="1"/>
          </p:cNvPicPr>
          <p:nvPr/>
        </p:nvPicPr>
        <p:blipFill>
          <a:blip r:embed="rId4"/>
          <a:stretch>
            <a:fillRect/>
          </a:stretch>
        </p:blipFill>
        <p:spPr>
          <a:xfrm>
            <a:off x="5908675" y="2145665"/>
            <a:ext cx="1733550" cy="3705225"/>
          </a:xfrm>
          <a:prstGeom prst="rect">
            <a:avLst/>
          </a:prstGeom>
        </p:spPr>
      </p:pic>
      <p:pic>
        <p:nvPicPr>
          <p:cNvPr id="8" name="Picture 7"/>
          <p:cNvPicPr>
            <a:picLocks noChangeAspect="1"/>
          </p:cNvPicPr>
          <p:nvPr/>
        </p:nvPicPr>
        <p:blipFill>
          <a:blip r:embed="rId5"/>
          <a:stretch>
            <a:fillRect/>
          </a:stretch>
        </p:blipFill>
        <p:spPr>
          <a:xfrm>
            <a:off x="8317865" y="2145665"/>
            <a:ext cx="2057400" cy="10382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42925" y="0"/>
            <a:ext cx="10972800" cy="762000"/>
          </a:xfrm>
        </p:spPr>
        <p:txBody>
          <a:bodyPr lIns="91440" tIns="45720" rIns="91440" bIns="45720" anchor="ctr" anchorCtr="0"/>
          <a:lstStyle/>
          <a:p>
            <a:r>
              <a:rPr lang="en-US" altLang="en-GB" sz="2400" b="1" dirty="0">
                <a:solidFill>
                  <a:srgbClr val="FF0000"/>
                </a:solidFill>
                <a:cs typeface="Arial" panose="020B0604020202020204"/>
              </a:rPr>
              <a:t>40A_UAS-TMEM192-3xHA x 40A 71G10 MARCM_around 12h - for quantification_3 Airy-CBs_300425</a:t>
            </a:r>
            <a:endParaRPr lang="en-US" altLang="en-GB" b="1" dirty="0">
              <a:solidFill>
                <a:srgbClr val="FF0000"/>
              </a:solidFill>
              <a:cs typeface="Arial" panose="020B0604020202020204"/>
            </a:endParaRPr>
          </a:p>
        </p:txBody>
      </p:sp>
      <p:pic>
        <p:nvPicPr>
          <p:cNvPr id="3" name="ch2_raw_and_fused_all_viz">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1082040" y="762000"/>
            <a:ext cx="9895205" cy="599059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57150"/>
            <a:ext cx="10972800" cy="445135"/>
          </a:xfrm>
        </p:spPr>
        <p:txBody>
          <a:bodyPr lIns="91440" tIns="45720" rIns="91440" bIns="45720" anchor="ctr" anchorCtr="0"/>
          <a:lstStyle/>
          <a:p>
            <a:br>
              <a:rPr lang="en-US" altLang="en-GB" sz="2400" b="1" dirty="0">
                <a:solidFill>
                  <a:srgbClr val="FF0000"/>
                </a:solidFill>
                <a:cs typeface="Arial" panose="020B0604020202020204"/>
              </a:rPr>
            </a:br>
            <a:r>
              <a:rPr lang="en-US" altLang="en-GB" sz="2400" b="1" dirty="0">
                <a:solidFill>
                  <a:srgbClr val="FF0000"/>
                </a:solidFill>
                <a:cs typeface="Arial" panose="020B0604020202020204"/>
              </a:rPr>
              <a:t>40A_UAS-TMEM192-3xHA x 40A 71G10 MARCM_around 12h - for quantification_3 Airy-CBs_300425</a:t>
            </a:r>
            <a:endParaRPr lang="en-US" altLang="en-GB" sz="2400" b="1" dirty="0">
              <a:solidFill>
                <a:srgbClr val="FF0000"/>
              </a:solidFill>
              <a:cs typeface="Arial" panose="020B0604020202020204"/>
            </a:endParaRPr>
          </a:p>
        </p:txBody>
      </p:sp>
      <p:pic>
        <p:nvPicPr>
          <p:cNvPr id="3" name="Picture 2" descr="seg 1"/>
          <p:cNvPicPr>
            <a:picLocks noChangeAspect="1"/>
          </p:cNvPicPr>
          <p:nvPr/>
        </p:nvPicPr>
        <p:blipFill>
          <a:blip r:embed="rId1"/>
          <a:stretch>
            <a:fillRect/>
          </a:stretch>
        </p:blipFill>
        <p:spPr>
          <a:xfrm>
            <a:off x="1111250" y="886460"/>
            <a:ext cx="9968865" cy="578739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57150"/>
            <a:ext cx="10972800" cy="445135"/>
          </a:xfrm>
        </p:spPr>
        <p:txBody>
          <a:bodyPr lIns="91440" tIns="45720" rIns="91440" bIns="45720" anchor="ctr" anchorCtr="0"/>
          <a:lstStyle/>
          <a:p>
            <a:br>
              <a:rPr lang="en-US" altLang="en-GB" sz="2400" b="1" dirty="0">
                <a:solidFill>
                  <a:srgbClr val="FF0000"/>
                </a:solidFill>
                <a:cs typeface="Arial" panose="020B0604020202020204"/>
              </a:rPr>
            </a:br>
            <a:r>
              <a:rPr lang="en-US" altLang="en-GB" sz="2400" b="1" dirty="0">
                <a:solidFill>
                  <a:srgbClr val="FF0000"/>
                </a:solidFill>
                <a:cs typeface="Arial" panose="020B0604020202020204"/>
              </a:rPr>
              <a:t>40A_UAS-TMEM192-3xHA x 40A 71G10 MARCM_around 12h - for quantification_3 Airy-CBs_300425</a:t>
            </a:r>
            <a:endParaRPr lang="en-US" altLang="en-GB" sz="2400" b="1" dirty="0">
              <a:solidFill>
                <a:srgbClr val="FF0000"/>
              </a:solidFill>
              <a:cs typeface="Arial" panose="020B0604020202020204"/>
            </a:endParaRPr>
          </a:p>
        </p:txBody>
      </p:sp>
      <p:pic>
        <p:nvPicPr>
          <p:cNvPr id="7" name="Picture 6"/>
          <p:cNvPicPr>
            <a:picLocks noChangeAspect="1"/>
          </p:cNvPicPr>
          <p:nvPr/>
        </p:nvPicPr>
        <p:blipFill>
          <a:blip r:embed="rId1"/>
          <a:stretch>
            <a:fillRect/>
          </a:stretch>
        </p:blipFill>
        <p:spPr>
          <a:xfrm>
            <a:off x="8514080" y="3147695"/>
            <a:ext cx="1781175" cy="561975"/>
          </a:xfrm>
          <a:prstGeom prst="rect">
            <a:avLst/>
          </a:prstGeom>
        </p:spPr>
      </p:pic>
      <p:pic>
        <p:nvPicPr>
          <p:cNvPr id="9" name="Picture 8"/>
          <p:cNvPicPr>
            <a:picLocks noChangeAspect="1"/>
          </p:cNvPicPr>
          <p:nvPr/>
        </p:nvPicPr>
        <p:blipFill>
          <a:blip r:embed="rId2"/>
          <a:stretch>
            <a:fillRect/>
          </a:stretch>
        </p:blipFill>
        <p:spPr>
          <a:xfrm>
            <a:off x="8629650" y="1009650"/>
            <a:ext cx="1800225" cy="1771650"/>
          </a:xfrm>
          <a:prstGeom prst="rect">
            <a:avLst/>
          </a:prstGeom>
        </p:spPr>
      </p:pic>
      <p:pic>
        <p:nvPicPr>
          <p:cNvPr id="10" name="Picture 9"/>
          <p:cNvPicPr>
            <a:picLocks noChangeAspect="1"/>
          </p:cNvPicPr>
          <p:nvPr/>
        </p:nvPicPr>
        <p:blipFill>
          <a:blip r:embed="rId3"/>
          <a:stretch>
            <a:fillRect/>
          </a:stretch>
        </p:blipFill>
        <p:spPr>
          <a:xfrm>
            <a:off x="196215" y="950595"/>
            <a:ext cx="8115300" cy="4667250"/>
          </a:xfrm>
          <a:prstGeom prst="rect">
            <a:avLst/>
          </a:prstGeom>
        </p:spPr>
      </p:pic>
      <p:pic>
        <p:nvPicPr>
          <p:cNvPr id="11" name="Picture 10"/>
          <p:cNvPicPr>
            <a:picLocks noChangeAspect="1"/>
          </p:cNvPicPr>
          <p:nvPr/>
        </p:nvPicPr>
        <p:blipFill>
          <a:blip r:embed="rId4"/>
          <a:stretch>
            <a:fillRect/>
          </a:stretch>
        </p:blipFill>
        <p:spPr>
          <a:xfrm>
            <a:off x="8434070" y="4201795"/>
            <a:ext cx="2190750" cy="103822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190500"/>
            <a:ext cx="10972800" cy="762000"/>
          </a:xfrm>
        </p:spPr>
        <p:txBody>
          <a:bodyPr lIns="91440" tIns="45720" rIns="91440" bIns="45720" anchor="ctr" anchorCtr="0"/>
          <a:lstStyle/>
          <a:p>
            <a:r>
              <a:rPr lang="en-US" altLang="en-GB" sz="2400" b="1" dirty="0">
                <a:solidFill>
                  <a:srgbClr val="FF0000"/>
                </a:solidFill>
                <a:cs typeface="Arial" panose="020B0604020202020204"/>
              </a:rPr>
              <a:t>40A_UAS-TMEM1923x-HA x 71G10 40A MARCM_L3_2_Airy_010724</a:t>
            </a:r>
            <a:endParaRPr lang="en-US" altLang="en-GB" b="1" dirty="0">
              <a:solidFill>
                <a:srgbClr val="FF0000"/>
              </a:solidFill>
              <a:cs typeface="Arial" panose="020B0604020202020204"/>
            </a:endParaRPr>
          </a:p>
        </p:txBody>
      </p:sp>
      <p:pic>
        <p:nvPicPr>
          <p:cNvPr id="3" name="ch2_raw_and_fused">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396240" y="733425"/>
            <a:ext cx="11399520" cy="569976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1"/>
          <p:cNvSpPr>
            <a:spLocks noGrp="1"/>
          </p:cNvSpPr>
          <p:nvPr>
            <p:ph type="title"/>
          </p:nvPr>
        </p:nvSpPr>
        <p:spPr>
          <a:xfrm>
            <a:off x="609600" y="190500"/>
            <a:ext cx="10972800" cy="762000"/>
          </a:xfrm>
        </p:spPr>
        <p:txBody>
          <a:bodyPr lIns="91440" tIns="45720" rIns="91440" bIns="45720" anchor="ctr" anchorCtr="0"/>
          <a:lstStyle/>
          <a:p>
            <a:r>
              <a:rPr lang="en-US" altLang="en-GB" sz="2400" b="1" dirty="0">
                <a:solidFill>
                  <a:srgbClr val="FF0000"/>
                </a:solidFill>
                <a:cs typeface="Arial" panose="020B0604020202020204"/>
              </a:rPr>
              <a:t>40A_UAS-TMEM1923x-HA x 71G10 40A MARCM_L3_2_Airy_010724</a:t>
            </a:r>
            <a:endParaRPr lang="en-US" altLang="en-GB" b="1" dirty="0">
              <a:solidFill>
                <a:srgbClr val="FF0000"/>
              </a:solidFill>
              <a:cs typeface="Arial" panose="020B0604020202020204"/>
            </a:endParaRPr>
          </a:p>
        </p:txBody>
      </p:sp>
      <p:pic>
        <p:nvPicPr>
          <p:cNvPr id="2" name="Picture 1" descr="SEG 1"/>
          <p:cNvPicPr>
            <a:picLocks noChangeAspect="1"/>
          </p:cNvPicPr>
          <p:nvPr/>
        </p:nvPicPr>
        <p:blipFill>
          <a:blip r:embed="rId1"/>
          <a:stretch>
            <a:fillRect/>
          </a:stretch>
        </p:blipFill>
        <p:spPr>
          <a:xfrm>
            <a:off x="1326515" y="1031875"/>
            <a:ext cx="9354820" cy="5430520"/>
          </a:xfrm>
          <a:prstGeom prst="rect">
            <a:avLst/>
          </a:prstGeom>
        </p:spPr>
      </p:pic>
      <p:sp>
        <p:nvSpPr>
          <p:cNvPr id="3" name="Oval 2"/>
          <p:cNvSpPr/>
          <p:nvPr/>
        </p:nvSpPr>
        <p:spPr>
          <a:xfrm>
            <a:off x="5053965" y="3433445"/>
            <a:ext cx="472440" cy="40513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2</a:t>
            </a:r>
            <a:endPar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 name="Oval 3"/>
          <p:cNvSpPr/>
          <p:nvPr/>
        </p:nvSpPr>
        <p:spPr>
          <a:xfrm>
            <a:off x="5844540" y="1552575"/>
            <a:ext cx="415290" cy="42418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28</a:t>
            </a:r>
            <a:endPar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5" name="Oval 4"/>
          <p:cNvSpPr/>
          <p:nvPr/>
        </p:nvSpPr>
        <p:spPr>
          <a:xfrm>
            <a:off x="6076315" y="5748020"/>
            <a:ext cx="559435" cy="43434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95</a:t>
            </a:r>
            <a:endPar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 name="Oval 5"/>
          <p:cNvSpPr/>
          <p:nvPr/>
        </p:nvSpPr>
        <p:spPr>
          <a:xfrm>
            <a:off x="3655060" y="2092325"/>
            <a:ext cx="473075" cy="43434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96</a:t>
            </a:r>
            <a:endPar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 name="Oval 6"/>
          <p:cNvSpPr/>
          <p:nvPr/>
        </p:nvSpPr>
        <p:spPr>
          <a:xfrm>
            <a:off x="8574405" y="4638675"/>
            <a:ext cx="636905" cy="5308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85</a:t>
            </a:r>
            <a:endPar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8" name="Oval 7"/>
          <p:cNvSpPr/>
          <p:nvPr/>
        </p:nvSpPr>
        <p:spPr>
          <a:xfrm>
            <a:off x="5342890" y="2642235"/>
            <a:ext cx="434340" cy="45339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45</a:t>
            </a:r>
            <a:endPar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190500"/>
            <a:ext cx="10972800" cy="762000"/>
          </a:xfrm>
        </p:spPr>
        <p:txBody>
          <a:bodyPr lIns="91440" tIns="45720" rIns="91440" bIns="45720" anchor="ctr" anchorCtr="0"/>
          <a:lstStyle/>
          <a:p>
            <a:r>
              <a:rPr lang="en-US" altLang="en-GB" sz="2400" b="1" dirty="0">
                <a:solidFill>
                  <a:srgbClr val="FF0000"/>
                </a:solidFill>
                <a:cs typeface="Arial" panose="020B0604020202020204"/>
              </a:rPr>
              <a:t>40A_UAS-TMEM1923x-HA x 71G10 40A MARCM_L3_2_Airy_010724</a:t>
            </a:r>
            <a:endParaRPr lang="en-US" altLang="en-GB" b="1" dirty="0">
              <a:solidFill>
                <a:srgbClr val="FF0000"/>
              </a:solidFill>
              <a:cs typeface="Arial" panose="020B0604020202020204"/>
            </a:endParaRPr>
          </a:p>
        </p:txBody>
      </p:sp>
      <p:pic>
        <p:nvPicPr>
          <p:cNvPr id="3" name="Picture 2"/>
          <p:cNvPicPr>
            <a:picLocks noChangeAspect="1"/>
          </p:cNvPicPr>
          <p:nvPr/>
        </p:nvPicPr>
        <p:blipFill>
          <a:blip r:embed="rId1"/>
          <a:stretch>
            <a:fillRect/>
          </a:stretch>
        </p:blipFill>
        <p:spPr>
          <a:xfrm>
            <a:off x="544195" y="864870"/>
            <a:ext cx="4606925" cy="3825240"/>
          </a:xfrm>
          <a:prstGeom prst="rect">
            <a:avLst/>
          </a:prstGeom>
        </p:spPr>
      </p:pic>
      <p:sp>
        <p:nvSpPr>
          <p:cNvPr id="4" name="Rectangles 3"/>
          <p:cNvSpPr/>
          <p:nvPr/>
        </p:nvSpPr>
        <p:spPr>
          <a:xfrm>
            <a:off x="544195" y="4690110"/>
            <a:ext cx="4606925" cy="25082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pic>
        <p:nvPicPr>
          <p:cNvPr id="5" name="Picture 4"/>
          <p:cNvPicPr>
            <a:picLocks noChangeAspect="1"/>
          </p:cNvPicPr>
          <p:nvPr/>
        </p:nvPicPr>
        <p:blipFill>
          <a:blip r:embed="rId2"/>
          <a:stretch>
            <a:fillRect/>
          </a:stretch>
        </p:blipFill>
        <p:spPr>
          <a:xfrm>
            <a:off x="544195" y="4940935"/>
            <a:ext cx="4622800" cy="1516380"/>
          </a:xfrm>
          <a:prstGeom prst="rect">
            <a:avLst/>
          </a:prstGeom>
        </p:spPr>
      </p:pic>
      <p:pic>
        <p:nvPicPr>
          <p:cNvPr id="6" name="Picture 5"/>
          <p:cNvPicPr>
            <a:picLocks noChangeAspect="1"/>
          </p:cNvPicPr>
          <p:nvPr/>
        </p:nvPicPr>
        <p:blipFill>
          <a:blip r:embed="rId3"/>
          <a:stretch>
            <a:fillRect/>
          </a:stretch>
        </p:blipFill>
        <p:spPr>
          <a:xfrm>
            <a:off x="5923280" y="952500"/>
            <a:ext cx="1752600" cy="1866900"/>
          </a:xfrm>
          <a:prstGeom prst="rect">
            <a:avLst/>
          </a:prstGeom>
        </p:spPr>
      </p:pic>
      <p:pic>
        <p:nvPicPr>
          <p:cNvPr id="7" name="Picture 6"/>
          <p:cNvPicPr>
            <a:picLocks noChangeAspect="1"/>
          </p:cNvPicPr>
          <p:nvPr/>
        </p:nvPicPr>
        <p:blipFill>
          <a:blip r:embed="rId4"/>
          <a:stretch>
            <a:fillRect/>
          </a:stretch>
        </p:blipFill>
        <p:spPr>
          <a:xfrm>
            <a:off x="8657590" y="952500"/>
            <a:ext cx="1743075" cy="514350"/>
          </a:xfrm>
          <a:prstGeom prst="rect">
            <a:avLst/>
          </a:prstGeom>
        </p:spPr>
      </p:pic>
      <p:pic>
        <p:nvPicPr>
          <p:cNvPr id="8" name="Picture 7"/>
          <p:cNvPicPr>
            <a:picLocks noChangeAspect="1"/>
          </p:cNvPicPr>
          <p:nvPr/>
        </p:nvPicPr>
        <p:blipFill>
          <a:blip r:embed="rId5"/>
          <a:stretch>
            <a:fillRect/>
          </a:stretch>
        </p:blipFill>
        <p:spPr>
          <a:xfrm>
            <a:off x="8532495" y="1871345"/>
            <a:ext cx="2181225" cy="1038225"/>
          </a:xfrm>
          <a:prstGeom prst="rect">
            <a:avLst/>
          </a:prstGeom>
        </p:spPr>
      </p:pic>
      <p:graphicFrame>
        <p:nvGraphicFramePr>
          <p:cNvPr id="9" name="Table 8"/>
          <p:cNvGraphicFramePr/>
          <p:nvPr>
            <p:custDataLst>
              <p:tags r:id="rId6"/>
            </p:custDataLst>
          </p:nvPr>
        </p:nvGraphicFramePr>
        <p:xfrm>
          <a:off x="5810250" y="3828415"/>
          <a:ext cx="5303520" cy="2560320"/>
        </p:xfrm>
        <a:graphic>
          <a:graphicData uri="http://schemas.openxmlformats.org/drawingml/2006/table">
            <a:tbl>
              <a:tblPr firstRow="1" bandRow="1">
                <a:tableStyleId>{5C22544A-7EE6-4342-B048-85BDC9FD1C3A}</a:tableStyleId>
              </a:tblPr>
              <a:tblGrid>
                <a:gridCol w="1767840"/>
                <a:gridCol w="1767840"/>
                <a:gridCol w="1767840"/>
              </a:tblGrid>
              <a:tr h="365760">
                <a:tc>
                  <a:txBody>
                    <a:bodyPr/>
                    <a:p>
                      <a:pPr>
                        <a:buNone/>
                      </a:pPr>
                      <a:r>
                        <a:rPr lang="en-US" altLang="en-GB"/>
                        <a:t>cell</a:t>
                      </a:r>
                      <a:endParaRPr lang="en-US" altLang="en-GB"/>
                    </a:p>
                  </a:txBody>
                  <a:tcPr/>
                </a:tc>
                <a:tc>
                  <a:txBody>
                    <a:bodyPr/>
                    <a:p>
                      <a:pPr>
                        <a:buNone/>
                      </a:pPr>
                      <a:r>
                        <a:rPr lang="en-US" altLang="en-GB"/>
                        <a:t>automatic</a:t>
                      </a:r>
                      <a:endParaRPr lang="en-US" altLang="en-GB"/>
                    </a:p>
                  </a:txBody>
                  <a:tcPr/>
                </a:tc>
                <a:tc>
                  <a:txBody>
                    <a:bodyPr/>
                    <a:p>
                      <a:pPr>
                        <a:buNone/>
                      </a:pPr>
                      <a:r>
                        <a:rPr lang="en-US" altLang="en-GB"/>
                        <a:t>manual</a:t>
                      </a:r>
                      <a:endParaRPr lang="en-US" altLang="en-GB"/>
                    </a:p>
                  </a:txBody>
                  <a:tcPr/>
                </a:tc>
              </a:tr>
              <a:tr h="365760">
                <a:tc>
                  <a:txBody>
                    <a:bodyPr/>
                    <a:p>
                      <a:pPr>
                        <a:buNone/>
                      </a:pPr>
                      <a:r>
                        <a:rPr lang="en-US" altLang="en-GB" b="1"/>
                        <a:t>2</a:t>
                      </a:r>
                      <a:endParaRPr lang="en-US" altLang="en-GB" b="1"/>
                    </a:p>
                  </a:txBody>
                  <a:tcPr/>
                </a:tc>
                <a:tc>
                  <a:txBody>
                    <a:bodyPr/>
                    <a:p>
                      <a:pPr>
                        <a:buNone/>
                      </a:pPr>
                      <a:r>
                        <a:rPr lang="en-US" altLang="en-GB" b="1"/>
                        <a:t>39</a:t>
                      </a:r>
                      <a:endParaRPr lang="en-US" altLang="en-GB" b="1"/>
                    </a:p>
                  </a:txBody>
                  <a:tcPr/>
                </a:tc>
                <a:tc>
                  <a:txBody>
                    <a:bodyPr/>
                    <a:p>
                      <a:pPr>
                        <a:buNone/>
                      </a:pPr>
                      <a:r>
                        <a:rPr lang="en-US" altLang="en-GB" b="1"/>
                        <a:t>NOT DATA</a:t>
                      </a:r>
                      <a:endParaRPr lang="en-US" altLang="en-GB" b="1"/>
                    </a:p>
                  </a:txBody>
                  <a:tcPr/>
                </a:tc>
              </a:tr>
              <a:tr h="365760">
                <a:tc>
                  <a:txBody>
                    <a:bodyPr/>
                    <a:p>
                      <a:pPr>
                        <a:buNone/>
                      </a:pPr>
                      <a:r>
                        <a:rPr lang="en-US" altLang="en-GB">
                          <a:solidFill>
                            <a:srgbClr val="FF0000"/>
                          </a:solidFill>
                        </a:rPr>
                        <a:t>28</a:t>
                      </a:r>
                      <a:endParaRPr lang="en-US" altLang="en-GB">
                        <a:solidFill>
                          <a:srgbClr val="FF0000"/>
                        </a:solidFill>
                      </a:endParaRPr>
                    </a:p>
                  </a:txBody>
                  <a:tcPr/>
                </a:tc>
                <a:tc>
                  <a:txBody>
                    <a:bodyPr/>
                    <a:p>
                      <a:pPr>
                        <a:buNone/>
                      </a:pPr>
                      <a:r>
                        <a:rPr lang="en-US" altLang="en-GB">
                          <a:solidFill>
                            <a:srgbClr val="FF0000"/>
                          </a:solidFill>
                        </a:rPr>
                        <a:t>23</a:t>
                      </a:r>
                      <a:endParaRPr lang="en-US" altLang="en-GB">
                        <a:solidFill>
                          <a:srgbClr val="FF0000"/>
                        </a:solidFill>
                      </a:endParaRPr>
                    </a:p>
                  </a:txBody>
                  <a:tcPr/>
                </a:tc>
                <a:tc>
                  <a:txBody>
                    <a:bodyPr/>
                    <a:p>
                      <a:pPr>
                        <a:buNone/>
                      </a:pPr>
                      <a:r>
                        <a:rPr lang="en-US" altLang="en-GB">
                          <a:solidFill>
                            <a:srgbClr val="FF0000"/>
                          </a:solidFill>
                        </a:rPr>
                        <a:t>30</a:t>
                      </a:r>
                      <a:endParaRPr lang="en-US" altLang="en-GB">
                        <a:solidFill>
                          <a:srgbClr val="FF0000"/>
                        </a:solidFill>
                      </a:endParaRPr>
                    </a:p>
                  </a:txBody>
                  <a:tcPr/>
                </a:tc>
              </a:tr>
              <a:tr h="365760">
                <a:tc>
                  <a:txBody>
                    <a:bodyPr/>
                    <a:p>
                      <a:pPr>
                        <a:buNone/>
                      </a:pPr>
                      <a:r>
                        <a:rPr lang="en-US" altLang="en-GB">
                          <a:solidFill>
                            <a:srgbClr val="FF0000"/>
                          </a:solidFill>
                        </a:rPr>
                        <a:t>45</a:t>
                      </a:r>
                      <a:endParaRPr lang="en-US" altLang="en-GB">
                        <a:solidFill>
                          <a:srgbClr val="FF0000"/>
                        </a:solidFill>
                      </a:endParaRPr>
                    </a:p>
                  </a:txBody>
                  <a:tcPr/>
                </a:tc>
                <a:tc>
                  <a:txBody>
                    <a:bodyPr/>
                    <a:p>
                      <a:pPr>
                        <a:buNone/>
                      </a:pPr>
                      <a:r>
                        <a:rPr lang="en-US" altLang="en-GB">
                          <a:solidFill>
                            <a:srgbClr val="FF0000"/>
                          </a:solidFill>
                        </a:rPr>
                        <a:t>32</a:t>
                      </a:r>
                      <a:endParaRPr lang="en-US" altLang="en-GB">
                        <a:solidFill>
                          <a:srgbClr val="FF0000"/>
                        </a:solidFill>
                      </a:endParaRPr>
                    </a:p>
                  </a:txBody>
                  <a:tcPr/>
                </a:tc>
                <a:tc>
                  <a:txBody>
                    <a:bodyPr/>
                    <a:p>
                      <a:pPr>
                        <a:buNone/>
                      </a:pPr>
                      <a:r>
                        <a:rPr lang="en-US" altLang="en-GB">
                          <a:solidFill>
                            <a:srgbClr val="FF0000"/>
                          </a:solidFill>
                        </a:rPr>
                        <a:t>15</a:t>
                      </a:r>
                      <a:endParaRPr lang="en-US" altLang="en-GB">
                        <a:solidFill>
                          <a:srgbClr val="FF0000"/>
                        </a:solidFill>
                      </a:endParaRPr>
                    </a:p>
                  </a:txBody>
                  <a:tcPr/>
                </a:tc>
              </a:tr>
              <a:tr h="365760">
                <a:tc>
                  <a:txBody>
                    <a:bodyPr/>
                    <a:p>
                      <a:pPr>
                        <a:buNone/>
                      </a:pPr>
                      <a:r>
                        <a:rPr lang="en-US" altLang="en-GB">
                          <a:solidFill>
                            <a:srgbClr val="002060"/>
                          </a:solidFill>
                        </a:rPr>
                        <a:t>85</a:t>
                      </a:r>
                      <a:endParaRPr lang="en-US" altLang="en-GB">
                        <a:solidFill>
                          <a:srgbClr val="002060"/>
                        </a:solidFill>
                      </a:endParaRPr>
                    </a:p>
                  </a:txBody>
                  <a:tcPr/>
                </a:tc>
                <a:tc>
                  <a:txBody>
                    <a:bodyPr/>
                    <a:p>
                      <a:pPr>
                        <a:buNone/>
                      </a:pPr>
                      <a:r>
                        <a:rPr lang="en-US" altLang="en-GB">
                          <a:solidFill>
                            <a:srgbClr val="002060"/>
                          </a:solidFill>
                        </a:rPr>
                        <a:t>10</a:t>
                      </a:r>
                      <a:endParaRPr lang="en-US" altLang="en-GB">
                        <a:solidFill>
                          <a:srgbClr val="002060"/>
                        </a:solidFill>
                      </a:endParaRPr>
                    </a:p>
                  </a:txBody>
                  <a:tcPr/>
                </a:tc>
                <a:tc>
                  <a:txBody>
                    <a:bodyPr/>
                    <a:p>
                      <a:pPr>
                        <a:buNone/>
                      </a:pPr>
                      <a:r>
                        <a:rPr lang="en-US" altLang="en-GB">
                          <a:solidFill>
                            <a:srgbClr val="002060"/>
                          </a:solidFill>
                        </a:rPr>
                        <a:t>12</a:t>
                      </a:r>
                      <a:endParaRPr lang="en-US" altLang="en-GB">
                        <a:solidFill>
                          <a:srgbClr val="002060"/>
                        </a:solidFill>
                      </a:endParaRPr>
                    </a:p>
                  </a:txBody>
                  <a:tcPr/>
                </a:tc>
              </a:tr>
              <a:tr h="365760">
                <a:tc>
                  <a:txBody>
                    <a:bodyPr/>
                    <a:p>
                      <a:pPr>
                        <a:buNone/>
                      </a:pPr>
                      <a:r>
                        <a:rPr lang="en-US" altLang="en-GB">
                          <a:solidFill>
                            <a:srgbClr val="002060"/>
                          </a:solidFill>
                        </a:rPr>
                        <a:t>95</a:t>
                      </a:r>
                      <a:endParaRPr lang="en-US" altLang="en-GB">
                        <a:solidFill>
                          <a:srgbClr val="002060"/>
                        </a:solidFill>
                      </a:endParaRPr>
                    </a:p>
                  </a:txBody>
                  <a:tcPr/>
                </a:tc>
                <a:tc>
                  <a:txBody>
                    <a:bodyPr/>
                    <a:p>
                      <a:pPr>
                        <a:buNone/>
                      </a:pPr>
                      <a:r>
                        <a:rPr lang="en-US" altLang="en-GB">
                          <a:solidFill>
                            <a:srgbClr val="002060"/>
                          </a:solidFill>
                        </a:rPr>
                        <a:t>22</a:t>
                      </a:r>
                      <a:endParaRPr lang="en-US" altLang="en-GB">
                        <a:solidFill>
                          <a:srgbClr val="002060"/>
                        </a:solidFill>
                      </a:endParaRPr>
                    </a:p>
                  </a:txBody>
                  <a:tcPr/>
                </a:tc>
                <a:tc>
                  <a:txBody>
                    <a:bodyPr/>
                    <a:p>
                      <a:pPr>
                        <a:buNone/>
                      </a:pPr>
                      <a:r>
                        <a:rPr lang="en-US" altLang="en-GB">
                          <a:solidFill>
                            <a:srgbClr val="002060"/>
                          </a:solidFill>
                        </a:rPr>
                        <a:t>20</a:t>
                      </a:r>
                      <a:endParaRPr lang="en-US" altLang="en-GB">
                        <a:solidFill>
                          <a:srgbClr val="002060"/>
                        </a:solidFill>
                      </a:endParaRPr>
                    </a:p>
                  </a:txBody>
                  <a:tcPr/>
                </a:tc>
              </a:tr>
              <a:tr h="365760">
                <a:tc>
                  <a:txBody>
                    <a:bodyPr/>
                    <a:p>
                      <a:pPr>
                        <a:buNone/>
                      </a:pPr>
                      <a:r>
                        <a:rPr lang="en-US" altLang="en-GB">
                          <a:solidFill>
                            <a:srgbClr val="002060"/>
                          </a:solidFill>
                        </a:rPr>
                        <a:t>96</a:t>
                      </a:r>
                      <a:endParaRPr lang="en-US" altLang="en-GB">
                        <a:solidFill>
                          <a:srgbClr val="002060"/>
                        </a:solidFill>
                      </a:endParaRPr>
                    </a:p>
                  </a:txBody>
                  <a:tcPr/>
                </a:tc>
                <a:tc>
                  <a:txBody>
                    <a:bodyPr/>
                    <a:p>
                      <a:pPr>
                        <a:buNone/>
                      </a:pPr>
                      <a:r>
                        <a:rPr lang="en-US" altLang="en-GB">
                          <a:solidFill>
                            <a:srgbClr val="002060"/>
                          </a:solidFill>
                        </a:rPr>
                        <a:t>24</a:t>
                      </a:r>
                      <a:endParaRPr lang="en-US" altLang="en-GB">
                        <a:solidFill>
                          <a:srgbClr val="002060"/>
                        </a:solidFill>
                      </a:endParaRPr>
                    </a:p>
                  </a:txBody>
                  <a:tcPr/>
                </a:tc>
                <a:tc>
                  <a:txBody>
                    <a:bodyPr/>
                    <a:p>
                      <a:pPr>
                        <a:buNone/>
                      </a:pPr>
                      <a:r>
                        <a:rPr lang="en-US" altLang="en-GB">
                          <a:solidFill>
                            <a:srgbClr val="002060"/>
                          </a:solidFill>
                        </a:rPr>
                        <a:t>25</a:t>
                      </a:r>
                      <a:endParaRPr lang="en-US" altLang="en-GB">
                        <a:solidFill>
                          <a:srgbClr val="002060"/>
                        </a:solidFill>
                      </a:endParaRPr>
                    </a:p>
                  </a:txBody>
                  <a:tcPr/>
                </a:tc>
              </a:tr>
            </a:tbl>
          </a:graphicData>
        </a:graphic>
      </p:graphicFrame>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MEDIACOVER_FLAG" val="1"/>
  <p:tag name="KSO_WM_UNIT_MEDIACOVER_BTN_STATE" val="1"/>
</p:tagLst>
</file>

<file path=ppt/tags/tag2.xml><?xml version="1.0" encoding="utf-8"?>
<p:tagLst xmlns:p="http://schemas.openxmlformats.org/presentationml/2006/main">
  <p:tag name="KSO_WM_MEDIACOVER_FLAG" val="1"/>
  <p:tag name="KSO_WM_UNIT_MEDIACOVER_BTN_STATE" val="1"/>
</p:tagLst>
</file>

<file path=ppt/tags/tag3.xml><?xml version="1.0" encoding="utf-8"?>
<p:tagLst xmlns:p="http://schemas.openxmlformats.org/presentationml/2006/main">
  <p:tag name="KSO_WM_MEDIACOVER_FLAG" val="1"/>
  <p:tag name="KSO_WM_UNIT_MEDIACOVER_BTN_STATE" val="1"/>
</p:tagLst>
</file>

<file path=ppt/tags/tag4.xml><?xml version="1.0" encoding="utf-8"?>
<p:tagLst xmlns:p="http://schemas.openxmlformats.org/presentationml/2006/main">
  <p:tag name="KSO_WM_MEDIACOVER_FLAG" val="1"/>
  <p:tag name="KSO_WM_UNIT_MEDIACOVER_BTN_STATE" val="1"/>
</p:tagLst>
</file>

<file path=ppt/tags/tag5.xml><?xml version="1.0" encoding="utf-8"?>
<p:tagLst xmlns:p="http://schemas.openxmlformats.org/presentationml/2006/main">
  <p:tag name="TABLE_ENDDRAG_ORIGIN_RECT" val="417*140"/>
  <p:tag name="TABLE_ENDDRAG_RECT" val="398*234*417*140"/>
</p:tagLst>
</file>

<file path=ppt/theme/theme1.xml><?xml version="1.0" encoding="utf-8"?>
<a:theme xmlns:a="http://schemas.openxmlformats.org/drawingml/2006/main" name="1_Green Color">
  <a:themeElements>
    <a:clrScheme name="">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002060"/>
      </a:hlink>
      <a:folHlink>
        <a:srgbClr val="996600"/>
      </a:folHlink>
    </a:clrScheme>
    <a:fontScheme name="Green Color">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reen Colo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reen Colo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reen Colo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reen Colo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reen Colo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reen Colo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reen Colo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reen Colo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reen Colo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reen Colo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reen Colo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reen Colo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4353</Words>
  <Application>WPS Presentation</Application>
  <PresentationFormat>Panorámica</PresentationFormat>
  <Paragraphs>161</Paragraphs>
  <Slides>18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SimSun</vt:lpstr>
      <vt:lpstr>Wingdings</vt:lpstr>
      <vt:lpstr>Wingdings</vt:lpstr>
      <vt:lpstr>Arial</vt:lpstr>
      <vt:lpstr>Microsoft YaHei</vt:lpstr>
      <vt:lpstr>Arial Unicode MS</vt:lpstr>
      <vt:lpstr>Calibri</vt:lpstr>
      <vt:lpstr>1_Green Color</vt:lpstr>
      <vt:lpstr>PowerPoint 演示文稿</vt:lpstr>
      <vt:lpstr>PowerPoint 演示文稿</vt:lpstr>
      <vt:lpstr>PowerPoint 演示文稿</vt:lpstr>
      <vt:lpstr>PowerPoint 演示文稿</vt:lpstr>
      <vt:lpstr>PowerPoint 演示文稿</vt:lpstr>
      <vt:lpstr>FILES</vt:lpstr>
      <vt:lpstr>Airy scan_40A_UAS-TMEM-HA_CB_0h_1_051222</vt:lpstr>
      <vt:lpstr>Airy scan_40A_UAS-TMEM-HA_CB_0h_1_051222 </vt:lpstr>
      <vt:lpstr>Airy scan_40A_UAS-TMEM-HA_CB_0h_1_051222 </vt:lpstr>
      <vt:lpstr>TMEM-HA 6h CB airy_3_170722</vt:lpstr>
      <vt:lpstr>TMEM-HA 6h CB airy_3_170722</vt:lpstr>
      <vt:lpstr>TMEM-HA 6h CB airy_3_170722</vt:lpstr>
      <vt:lpstr>40A_UAS-TMEM192-3xHA x 40A 71G10 MARCM_around 12h - for quantification_3 Airy-CBs_300425</vt:lpstr>
      <vt:lpstr> 40A_UAS-TMEM192-3xHA x 40A 71G10 MARCM_around 12h - for quantification_3 Airy-CBs_300425</vt:lpstr>
      <vt:lpstr> 40A_UAS-TMEM192-3xHA x 40A 71G10 MARCM_around 12h - for quantification_3 Airy-CBs_300425</vt:lpstr>
      <vt:lpstr>40A_UAS-TMEM1923x-HA x 71G10 40A MARCM_L3_2_Airy_010724</vt:lpstr>
      <vt:lpstr>40A_UAS-TMEM1923x-HA x 71G10 40A MARCM_L3_2_Airy_010724</vt:lpstr>
      <vt:lpstr>40A_UAS-TMEM1923x-HA x 71G10 40A MARCM_L3_2_Airy_010724</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Nahuel-Hernan Ramos</dc:creator>
  <cp:lastModifiedBy>nahue</cp:lastModifiedBy>
  <cp:revision>695</cp:revision>
  <dcterms:created xsi:type="dcterms:W3CDTF">2024-11-18T13:41:00Z</dcterms:created>
  <dcterms:modified xsi:type="dcterms:W3CDTF">2025-11-18T11:57:00Z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391FE82E9E9541FCB8FA1F8057B9CAE5_13</vt:lpwstr>
  </property>
  <property fmtid="{D5CDD505-2E9C-101B-9397-08002B2CF9AE}" pid="3" name="KSOProductBuildVer">
    <vt:lpwstr>2057-12.2.0.23155</vt:lpwstr>
  </property>
</Properties>
</file>