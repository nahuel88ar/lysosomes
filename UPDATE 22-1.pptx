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90320" cy="68562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8839080" y="190440"/>
            <a:ext cx="2741400" cy="593532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ctr" vert="eaVer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09480" y="190440"/>
            <a:ext cx="8024760" cy="593532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dt" idx="1"/>
          </p:nvPr>
        </p:nvSpPr>
        <p:spPr>
          <a:xfrm>
            <a:off x="609480" y="6245280"/>
            <a:ext cx="2842920" cy="474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ftr" idx="2"/>
          </p:nvPr>
        </p:nvSpPr>
        <p:spPr>
          <a:xfrm>
            <a:off x="4165560" y="6245280"/>
            <a:ext cx="3858840" cy="474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sldNum" idx="3"/>
          </p:nvPr>
        </p:nvSpPr>
        <p:spPr>
          <a:xfrm>
            <a:off x="8737560" y="6245280"/>
            <a:ext cx="2842920" cy="474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0" hidden="1"/>
          <p:cNvPicPr/>
          <p:nvPr/>
        </p:nvPicPr>
        <p:blipFill>
          <a:blip r:embed="rId2"/>
          <a:stretch/>
        </p:blipFill>
        <p:spPr>
          <a:xfrm>
            <a:off x="0" y="0"/>
            <a:ext cx="12190320" cy="68562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9" name="Picture 3"/>
          <p:cNvPicPr/>
          <p:nvPr/>
        </p:nvPicPr>
        <p:blipFill>
          <a:blip r:embed="rId3"/>
          <a:stretch/>
        </p:blipFill>
        <p:spPr>
          <a:xfrm>
            <a:off x="0" y="0"/>
            <a:ext cx="12190320" cy="68562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24240" y="3718080"/>
            <a:ext cx="10941480" cy="10807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dt" idx="4"/>
          </p:nvPr>
        </p:nvSpPr>
        <p:spPr>
          <a:xfrm>
            <a:off x="609480" y="6245280"/>
            <a:ext cx="2842920" cy="474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ftr" idx="5"/>
          </p:nvPr>
        </p:nvSpPr>
        <p:spPr>
          <a:xfrm>
            <a:off x="4165560" y="6245280"/>
            <a:ext cx="3858840" cy="474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sldNum" idx="6"/>
          </p:nvPr>
        </p:nvSpPr>
        <p:spPr>
          <a:xfrm>
            <a:off x="8737560" y="6245280"/>
            <a:ext cx="2842920" cy="474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90320" cy="68562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71000" cy="5806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71000" cy="495108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7"/>
          </p:nvPr>
        </p:nvSpPr>
        <p:spPr>
          <a:xfrm>
            <a:off x="609480" y="6245280"/>
            <a:ext cx="2842920" cy="474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ftr" idx="8"/>
          </p:nvPr>
        </p:nvSpPr>
        <p:spPr>
          <a:xfrm>
            <a:off x="4165560" y="6245280"/>
            <a:ext cx="3858840" cy="474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9"/>
          </p:nvPr>
        </p:nvSpPr>
        <p:spPr>
          <a:xfrm>
            <a:off x="8737560" y="6245280"/>
            <a:ext cx="2842920" cy="474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90320" cy="68562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71000" cy="5806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71000" cy="49510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0"/>
          </p:nvPr>
        </p:nvSpPr>
        <p:spPr>
          <a:xfrm>
            <a:off x="609480" y="6245280"/>
            <a:ext cx="2842920" cy="474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1"/>
          </p:nvPr>
        </p:nvSpPr>
        <p:spPr>
          <a:xfrm>
            <a:off x="4165560" y="6245280"/>
            <a:ext cx="3858840" cy="474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2"/>
          </p:nvPr>
        </p:nvSpPr>
        <p:spPr>
          <a:xfrm>
            <a:off x="8737560" y="6245280"/>
            <a:ext cx="2842920" cy="474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90320" cy="68562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3800" cy="28508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3800" cy="14983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3"/>
          </p:nvPr>
        </p:nvSpPr>
        <p:spPr>
          <a:xfrm>
            <a:off x="609480" y="6245280"/>
            <a:ext cx="2842920" cy="474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4"/>
          </p:nvPr>
        </p:nvSpPr>
        <p:spPr>
          <a:xfrm>
            <a:off x="4165560" y="6245280"/>
            <a:ext cx="3858840" cy="474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5"/>
          </p:nvPr>
        </p:nvSpPr>
        <p:spPr>
          <a:xfrm>
            <a:off x="8737560" y="6245280"/>
            <a:ext cx="2842920" cy="474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90320" cy="68562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71000" cy="5806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5383080" cy="49510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6197760" y="1174680"/>
            <a:ext cx="5383080" cy="49510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dt" idx="16"/>
          </p:nvPr>
        </p:nvSpPr>
        <p:spPr>
          <a:xfrm>
            <a:off x="609480" y="6245280"/>
            <a:ext cx="2842920" cy="474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ftr" idx="17"/>
          </p:nvPr>
        </p:nvSpPr>
        <p:spPr>
          <a:xfrm>
            <a:off x="4165560" y="6245280"/>
            <a:ext cx="3858840" cy="474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sldNum" idx="18"/>
          </p:nvPr>
        </p:nvSpPr>
        <p:spPr>
          <a:xfrm>
            <a:off x="8737560" y="6245280"/>
            <a:ext cx="2842920" cy="474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90320" cy="68562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840240" y="365040"/>
            <a:ext cx="10513800" cy="13237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840240" y="1681200"/>
            <a:ext cx="5156640" cy="8222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840240" y="2505240"/>
            <a:ext cx="5156640" cy="36828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1840" cy="8222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1840" cy="36828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6"/>
          <p:cNvSpPr>
            <a:spLocks noGrp="1"/>
          </p:cNvSpPr>
          <p:nvPr>
            <p:ph type="dt" idx="19"/>
          </p:nvPr>
        </p:nvSpPr>
        <p:spPr>
          <a:xfrm>
            <a:off x="609480" y="6245280"/>
            <a:ext cx="2842920" cy="474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7"/>
          <p:cNvSpPr>
            <a:spLocks noGrp="1"/>
          </p:cNvSpPr>
          <p:nvPr>
            <p:ph type="ftr" idx="20"/>
          </p:nvPr>
        </p:nvSpPr>
        <p:spPr>
          <a:xfrm>
            <a:off x="4165560" y="6245280"/>
            <a:ext cx="3858840" cy="474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8"/>
          <p:cNvSpPr>
            <a:spLocks noGrp="1"/>
          </p:cNvSpPr>
          <p:nvPr>
            <p:ph type="sldNum" idx="21"/>
          </p:nvPr>
        </p:nvSpPr>
        <p:spPr>
          <a:xfrm>
            <a:off x="8737560" y="6245280"/>
            <a:ext cx="2842920" cy="474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90320" cy="68562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71000" cy="5806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dt" idx="22"/>
          </p:nvPr>
        </p:nvSpPr>
        <p:spPr>
          <a:xfrm>
            <a:off x="609480" y="6245280"/>
            <a:ext cx="2842920" cy="474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ftr" idx="23"/>
          </p:nvPr>
        </p:nvSpPr>
        <p:spPr>
          <a:xfrm>
            <a:off x="4165560" y="6245280"/>
            <a:ext cx="3858840" cy="474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sldNum" idx="24"/>
          </p:nvPr>
        </p:nvSpPr>
        <p:spPr>
          <a:xfrm>
            <a:off x="8737560" y="6245280"/>
            <a:ext cx="2842920" cy="474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90320" cy="68562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4" name="PlaceHolder 1"/>
          <p:cNvSpPr>
            <a:spLocks noGrp="1"/>
          </p:cNvSpPr>
          <p:nvPr>
            <p:ph type="dt" idx="25"/>
          </p:nvPr>
        </p:nvSpPr>
        <p:spPr>
          <a:xfrm>
            <a:off x="609480" y="6245280"/>
            <a:ext cx="2842920" cy="474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ftr" idx="26"/>
          </p:nvPr>
        </p:nvSpPr>
        <p:spPr>
          <a:xfrm>
            <a:off x="4165560" y="6245280"/>
            <a:ext cx="3858840" cy="474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sldNum" idx="27"/>
          </p:nvPr>
        </p:nvSpPr>
        <p:spPr>
          <a:xfrm>
            <a:off x="8737560" y="6245280"/>
            <a:ext cx="2842920" cy="474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90320" cy="68562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30840" cy="15984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70400" cy="48718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30840" cy="38098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dt" idx="28"/>
          </p:nvPr>
        </p:nvSpPr>
        <p:spPr>
          <a:xfrm>
            <a:off x="609480" y="6245280"/>
            <a:ext cx="2842920" cy="474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ftr" idx="29"/>
          </p:nvPr>
        </p:nvSpPr>
        <p:spPr>
          <a:xfrm>
            <a:off x="4165560" y="6245280"/>
            <a:ext cx="3858840" cy="474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6"/>
          <p:cNvSpPr>
            <a:spLocks noGrp="1"/>
          </p:cNvSpPr>
          <p:nvPr>
            <p:ph type="sldNum" idx="30"/>
          </p:nvPr>
        </p:nvSpPr>
        <p:spPr>
          <a:xfrm>
            <a:off x="8737560" y="6245280"/>
            <a:ext cx="2842920" cy="474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90320" cy="68562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30840" cy="15984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70400" cy="48718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431640" indent="-324000">
              <a:lnSpc>
                <a:spcPct val="100000"/>
              </a:lnSpc>
              <a:spcBef>
                <a:spcPts val="141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36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36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360" lvl="4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30840" cy="38098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dt" idx="31"/>
          </p:nvPr>
        </p:nvSpPr>
        <p:spPr>
          <a:xfrm>
            <a:off x="609480" y="6245280"/>
            <a:ext cx="2842920" cy="474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5"/>
          <p:cNvSpPr>
            <a:spLocks noGrp="1"/>
          </p:cNvSpPr>
          <p:nvPr>
            <p:ph type="ftr" idx="32"/>
          </p:nvPr>
        </p:nvSpPr>
        <p:spPr>
          <a:xfrm>
            <a:off x="4165560" y="6245280"/>
            <a:ext cx="3858840" cy="474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6"/>
          <p:cNvSpPr>
            <a:spLocks noGrp="1"/>
          </p:cNvSpPr>
          <p:nvPr>
            <p:ph type="sldNum" idx="33"/>
          </p:nvPr>
        </p:nvSpPr>
        <p:spPr>
          <a:xfrm>
            <a:off x="8737560" y="6245280"/>
            <a:ext cx="2842920" cy="474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ubTitle"/>
          </p:nvPr>
        </p:nvSpPr>
        <p:spPr>
          <a:xfrm>
            <a:off x="734760" y="1720800"/>
            <a:ext cx="10336680" cy="289872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t">
            <a:noAutofit/>
          </a:bodyPr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3D Image Segmentation and Quantification of Lysosomes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18/1/2025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143000" y="2743200"/>
            <a:ext cx="10971000" cy="76032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GUI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4"/>
          <p:cNvSpPr txBox="1"/>
          <p:nvPr/>
        </p:nvSpPr>
        <p:spPr>
          <a:xfrm>
            <a:off x="152280" y="-154080"/>
            <a:ext cx="5791320" cy="109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GUI WITHOUT ADVANCED SETTINGS </a:t>
            </a:r>
            <a:endParaRPr lang="en-US" sz="2400" b="1" u="none" strike="noStrike">
              <a:solidFill>
                <a:srgbClr val="ff0000"/>
              </a:solidFill>
              <a:effectLst/>
              <a:uFillTx/>
              <a:latin typeface="Arial"/>
            </a:endParaRPr>
          </a:p>
        </p:txBody>
      </p:sp>
      <p:pic>
        <p:nvPicPr>
          <p:cNvPr id="74" name=""/>
          <p:cNvPicPr/>
          <p:nvPr/>
        </p:nvPicPr>
        <p:blipFill>
          <a:blip r:embed="rId1"/>
          <a:stretch/>
        </p:blipFill>
        <p:spPr>
          <a:xfrm>
            <a:off x="1399680" y="1143000"/>
            <a:ext cx="9115920" cy="4442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"/>
          <p:cNvSpPr/>
          <p:nvPr/>
        </p:nvSpPr>
        <p:spPr>
          <a:xfrm>
            <a:off x="10515600" y="1371600"/>
            <a:ext cx="457200" cy="4572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10515600" y="2057400"/>
            <a:ext cx="457200" cy="4572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4572000" y="2286000"/>
            <a:ext cx="457200" cy="4572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4572000" y="2743200"/>
            <a:ext cx="457200" cy="4572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4572000" y="3200400"/>
            <a:ext cx="457200" cy="4572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4343400" y="3657600"/>
            <a:ext cx="457200" cy="4572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4572000" y="4343400"/>
            <a:ext cx="457200" cy="4572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1143000" y="3886200"/>
            <a:ext cx="457200" cy="4572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8458200" y="4114800"/>
            <a:ext cx="457200" cy="4572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3200400" y="5029200"/>
            <a:ext cx="685800" cy="4572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152280" y="28440"/>
            <a:ext cx="5105520" cy="73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Inputs and buttons</a:t>
            </a:r>
            <a:endParaRPr lang="en-US" sz="2400" b="1" u="none" strike="noStrike">
              <a:solidFill>
                <a:srgbClr val="ff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403920" y="685800"/>
            <a:ext cx="11373120" cy="6849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spAutoFit/>
          </a:bodyPr>
          <a:p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1) Image file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Text box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Shows the full path of the file you selected (.czi, .tif, .tiff).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Browse… (button)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Opens a file picker. When you choose a file, the GUI also auto-suggests an output folder (same directory as the image +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timestamp) if the output field is empty.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2) Output folder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Text box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Where all outputs are written:datasets, videos and pictures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Browse… (button)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Lets you choose a parent folder.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script then makes a new timestamped folder inside it (based on the image name).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3) ERODE_MULT</a:t>
            </a:r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ERODE_MULT (input):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multiplier / additive factor used in your auto morphology stage.</a:t>
            </a:r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unitless (it becomes a voxel radius for erosion).</a:t>
            </a:r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Effect: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higher values generally shrink the mask more (more erosion).</a:t>
            </a:r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 neurites: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too high will break thin branches.</a:t>
            </a:r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Typical:</a:t>
            </a:r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Image with little noise: 0-2</a:t>
            </a:r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Image with a lot of noise: 3-6</a:t>
            </a:r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Neurites-only: often 0–1 (or even force erosion off)</a:t>
            </a:r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3"/>
          <p:cNvSpPr txBox="1"/>
          <p:nvPr/>
        </p:nvSpPr>
        <p:spPr>
          <a:xfrm>
            <a:off x="152280" y="28800"/>
            <a:ext cx="5105520" cy="73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Inputs and buttons</a:t>
            </a:r>
            <a:endParaRPr lang="en-US" sz="2400" b="1" u="none" strike="noStrike">
              <a:solidFill>
                <a:srgbClr val="ff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228600" y="684000"/>
            <a:ext cx="11430000" cy="6467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4) Blob_log threshold</a:t>
            </a:r>
            <a:endParaRPr lang="en-US" sz="16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Input:</a:t>
            </a:r>
            <a:endParaRPr lang="en-US" sz="1800" b="1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Controls how strict the lysosome detection is using the function 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blog_log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.It’s basically the minimum “blob response” required to call something a blob.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Units: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unitless.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Effect: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Lower threshold → more detections (including noise)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Higher threshold → fewer detections (may miss lysosomes)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Typical: 0.001–0.05, depends on intensity / noise.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5) XY override (µm/px)</a:t>
            </a:r>
            <a:endParaRPr lang="en-US" sz="16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Input</a:t>
            </a:r>
            <a:endParaRPr lang="en-US" sz="1600" b="1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you leave it blank: the script tries metadata (vx_um, vy_um)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missing → uses the default you set (e.g. 0.04 µm/px)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you fill it: it forces vx_um = vy_um = your_value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Units: micrometers per pixel (µm/px)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Affects: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any calculation converting pixels → µm, including: lysosome size in µm, distance maps in µm, MARGIN_UM behavior (because it’s in µm) and voxel volume in µm³.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6"/>
          <p:cNvSpPr txBox="1"/>
          <p:nvPr/>
        </p:nvSpPr>
        <p:spPr>
          <a:xfrm>
            <a:off x="152280" y="29160"/>
            <a:ext cx="5105520" cy="73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Inputs and buttons</a:t>
            </a:r>
            <a:endParaRPr lang="en-US" sz="2400" b="1" u="none" strike="noStrike">
              <a:solidFill>
                <a:srgbClr val="ff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457200" y="646200"/>
            <a:ext cx="10972800" cy="7630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6) Z override (µm/slice)</a:t>
            </a:r>
            <a:endParaRPr lang="en-US" sz="16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</a:t>
            </a:r>
            <a:endParaRPr lang="en-US" sz="1600" b="1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If blank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uses vz_um from metadata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if missing: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uses DEFAULT_VZ_UM if provided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If filled: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forces vz_um = your_value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micrometers per Z step (µm/slice)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Affects: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3D distances and volumes, distance transform sampling in µm, overlap sphere geometry in µm and volume per voxel.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7) Launch Napari viewer (checkbox)</a:t>
            </a:r>
            <a:endParaRPr lang="en-US" sz="1600" b="1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checked: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opens napari, adds layers.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unchecked: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the script runs headless (still saves outputs).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Affects: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only visualization (not segmentation output itself).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8) Generate videos (checkbox)</a:t>
            </a:r>
            <a:endParaRPr lang="en-US" sz="16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checked: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writes MP4/GIF outputs(fused overlays, side-by-side raw vs fused)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unchecked: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no videos are generated.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Affects: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only outputs (not segmentation).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9) Video FPS</a:t>
            </a:r>
            <a:endParaRPr lang="en-US" sz="1600" b="1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INPUT: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Frames per second for the MP4/GIF writers.</a:t>
            </a:r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Units: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frames/second</a:t>
            </a:r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Affects: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playback speed only.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2"/>
          <p:cNvSpPr txBox="1"/>
          <p:nvPr/>
        </p:nvSpPr>
        <p:spPr>
          <a:xfrm>
            <a:off x="152280" y="-153720"/>
            <a:ext cx="5791320" cy="109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GUI WITH ADVANCED SETTINGS</a:t>
            </a:r>
            <a:endParaRPr lang="en-US" sz="2400" b="1" u="none" strike="noStrike">
              <a:solidFill>
                <a:srgbClr val="ff0000"/>
              </a:solidFill>
              <a:effectLst/>
              <a:uFillTx/>
              <a:latin typeface="Arial"/>
            </a:endParaRPr>
          </a:p>
        </p:txBody>
      </p:sp>
      <p:pic>
        <p:nvPicPr>
          <p:cNvPr id="92" name=""/>
          <p:cNvPicPr/>
          <p:nvPr/>
        </p:nvPicPr>
        <p:blipFill>
          <a:blip r:embed="rId1"/>
          <a:stretch/>
        </p:blipFill>
        <p:spPr>
          <a:xfrm>
            <a:off x="1828800" y="1056960"/>
            <a:ext cx="8620920" cy="5801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"/>
          <p:cNvSpPr/>
          <p:nvPr/>
        </p:nvSpPr>
        <p:spPr>
          <a:xfrm>
            <a:off x="7086600" y="5486400"/>
            <a:ext cx="685800" cy="4572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6858000" y="5943600"/>
            <a:ext cx="685800" cy="4572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7543800" y="6400800"/>
            <a:ext cx="685800" cy="4572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10287000" y="6400800"/>
            <a:ext cx="685800" cy="4572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6172200" y="5257800"/>
            <a:ext cx="685800" cy="4572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/>
          <p:nvPr/>
        </p:nvSpPr>
        <p:spPr>
          <a:xfrm>
            <a:off x="7543800" y="4800600"/>
            <a:ext cx="685800" cy="4572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7"/>
          <p:cNvSpPr txBox="1"/>
          <p:nvPr/>
        </p:nvSpPr>
        <p:spPr>
          <a:xfrm>
            <a:off x="152280" y="29520"/>
            <a:ext cx="5105520" cy="73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Inputs and buttons</a:t>
            </a:r>
            <a:endParaRPr lang="en-US" sz="2400" b="1" u="none" strike="noStrike">
              <a:solidFill>
                <a:srgbClr val="ff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228600" y="685800"/>
            <a:ext cx="11201400" cy="8784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10) Show advanced settings (checkbox)</a:t>
            </a:r>
            <a:endParaRPr lang="en-US" sz="1600" b="1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Toggles visibility of the advanced panel.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 MARGIN_UM (µm)</a:t>
            </a:r>
            <a:endParaRPr lang="en-US" sz="1600" b="1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Soft distance band around the neurite mask; helps classify lysosomes near the border as “inside”.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Units: micrometers (µm)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12) OVERLAP_ALPHA (0….1)</a:t>
            </a:r>
            <a:endParaRPr lang="en-US" sz="1600" b="1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Minimum fraction of the lysosome sphere that must overlap the neurite mask to be “inside”.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Units: unitless fraction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13) NEIGHBOR_MAX_VOX (voxels)</a:t>
            </a:r>
            <a:endParaRPr lang="en-US" sz="1600" b="1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far (in voxels) to search for the nearest nonzero label when assigning an ID.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Units: voxels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14) VIZ_MIN_VOXELS (voxels)</a:t>
            </a:r>
            <a:endParaRPr lang="en-US" sz="1600" b="1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Minimum component size (voxel count) to keep for visualization/IDs; smaller ones are removed.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Units: voxels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Bottom buttons</a:t>
            </a:r>
            <a:endParaRPr lang="en-US" sz="1600" b="1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15)Cancel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:Closes the GUI and exits the scrip.</a:t>
            </a:r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16)Run: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Validates inputs and run the script.</a:t>
            </a:r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1143000" y="2743200"/>
            <a:ext cx="10971000" cy="76032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AXONS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71000" cy="58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03" name=""/>
          <p:cNvPicPr/>
          <p:nvPr/>
        </p:nvPicPr>
        <p:blipFill>
          <a:blip r:embed="rId1"/>
          <a:stretch/>
        </p:blipFill>
        <p:spPr>
          <a:xfrm>
            <a:off x="609480" y="1174680"/>
            <a:ext cx="10971000" cy="4951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1_Green Color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002060"/>
      </a:hlink>
      <a:folHlink>
        <a:srgbClr val="996600"/>
      </a:folHlink>
    </a:clrScheme>
    <a:fontScheme name="Green Color">
      <a:majorFont>
        <a:latin typeface="Arial" pitchFamily="0" charset="1"/>
        <a:ea typeface="SimSun" pitchFamily="0" charset="1"/>
        <a:cs typeface=""/>
      </a:majorFont>
      <a:minorFont>
        <a:latin typeface="Arial" pitchFamily="0" charset="1"/>
        <a:ea typeface="SimSun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115</TotalTime>
  <Application>LibreOffice/25.8.4.2$Windows_X86_64 LibreOffice_project/290daaa01b999472f0c7a3890eb6a550fd74c6df</Application>
  <AppVersion>15.0000</AppVersion>
  <Words>651</Words>
  <Paragraphs>72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2024-11-18T13:41:00Z</dcterms:created>
  <dc:creator>Nahuel-Hernan Ramos</dc:creator>
  <dc:description/>
  <dc:language>en-US</dc:language>
  <cp:lastModifiedBy/>
  <dcterms:modified xsi:type="dcterms:W3CDTF">2026-01-18T17:12:50Z</dcterms:modified>
  <cp:revision>941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7AA9711938614CEA9C52D6DA667AB3C2_13</vt:lpwstr>
  </property>
  <property fmtid="{D5CDD505-2E9C-101B-9397-08002B2CF9AE}" pid="3" name="KSOProductBuildVer">
    <vt:lpwstr>2057-12.9.0.21549</vt:lpwstr>
  </property>
  <property fmtid="{D5CDD505-2E9C-101B-9397-08002B2CF9AE}" pid="4" name="PresentationFormat">
    <vt:lpwstr>Panorámica</vt:lpwstr>
  </property>
  <property fmtid="{D5CDD505-2E9C-101B-9397-08002B2CF9AE}" pid="5" name="Slides">
    <vt:i4>14</vt:i4>
  </property>
</Properties>
</file>