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43" r:id="rId3"/>
    <p:sldId id="875" r:id="rId5"/>
    <p:sldId id="877" r:id="rId6"/>
    <p:sldId id="888" r:id="rId7"/>
    <p:sldId id="886" r:id="rId8"/>
    <p:sldId id="890" r:id="rId9"/>
    <p:sldId id="884" r:id="rId10"/>
    <p:sldId id="893" r:id="rId11"/>
    <p:sldId id="894" r:id="rId12"/>
    <p:sldId id="972" r:id="rId13"/>
    <p:sldId id="974" r:id="rId14"/>
    <p:sldId id="976" r:id="rId15"/>
    <p:sldId id="895" r:id="rId16"/>
    <p:sldId id="896" r:id="rId17"/>
    <p:sldId id="978" r:id="rId18"/>
    <p:sldId id="981" r:id="rId19"/>
    <p:sldId id="982" r:id="rId20"/>
    <p:sldId id="983" r:id="rId21"/>
    <p:sldId id="984" r:id="rId22"/>
    <p:sldId id="987" r:id="rId23"/>
    <p:sldId id="98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51" d="100"/>
          <a:sy n="151" d="100"/>
        </p:scale>
        <p:origin x="624"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624417" y="3717925"/>
            <a:ext cx="10943167" cy="1082675"/>
          </a:xfrm>
        </p:spPr>
        <p:txBody>
          <a:bodyPr/>
          <a:lstStyle>
            <a:lvl1pPr algn="r">
              <a:defRPr/>
            </a:lvl1pPr>
          </a:lstStyle>
          <a:p>
            <a:pPr lvl="0"/>
            <a:r>
              <a:rPr lang="en-US" altLang="zh-CN" noProof="0"/>
              <a:t>Click to edit Master title style</a:t>
            </a:r>
            <a:endParaRPr lang="en-US" altLang="zh-CN" noProof="0"/>
          </a:p>
        </p:txBody>
      </p:sp>
      <p:sp>
        <p:nvSpPr>
          <p:cNvPr id="2052" name="Rectangle 4"/>
          <p:cNvSpPr>
            <a:spLocks noGrp="1" noChangeArrowheads="1"/>
          </p:cNvSpPr>
          <p:nvPr>
            <p:ph type="subTitle" idx="1"/>
          </p:nvPr>
        </p:nvSpPr>
        <p:spPr>
          <a:xfrm>
            <a:off x="626533" y="4940300"/>
            <a:ext cx="10949517" cy="981075"/>
          </a:xfrm>
        </p:spPr>
        <p:txBody>
          <a:bodyPr/>
          <a:lstStyle>
            <a:lvl1pPr marL="0" indent="0" algn="r">
              <a:buFontTx/>
              <a:buNone/>
              <a:defRPr/>
            </a:lvl1pPr>
          </a:lstStyle>
          <a:p>
            <a:pPr lvl="0"/>
            <a:r>
              <a:rPr lang="en-US" altLang="zh-CN" noProof="0"/>
              <a:t>Click to edit Master subtitle style</a:t>
            </a:r>
            <a:endParaRPr lang="en-US" altLang="zh-CN" noProof="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E351CED-465B-40B5-ADCE-957C918F227B}"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A33CB2A-1702-4C1D-9CC4-8D472D39F19E}"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E351CED-465B-40B5-ADCE-957C918F227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E351CED-465B-40B5-ADCE-957C918F227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351CED-465B-40B5-ADCE-957C918F227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351CED-465B-40B5-ADCE-957C918F227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E351CED-465B-40B5-ADCE-957C918F227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33CB2A-1702-4C1D-9CC4-8D472D39F19E}"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1E351CED-465B-40B5-ADCE-957C918F227B}"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5A33CB2A-1702-4C1D-9CC4-8D472D39F19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734695" y="1720850"/>
            <a:ext cx="10338435" cy="2900680"/>
          </a:xfrm>
        </p:spPr>
        <p:txBody>
          <a:bodyPr lIns="91440" tIns="45720" rIns="91440" bIns="45720" anchor="t">
            <a:noAutofit/>
          </a:bodyPr>
          <a:lstStyle/>
          <a:p>
            <a:pPr marL="0" indent="0" algn="ctr">
              <a:buNone/>
            </a:pPr>
            <a:r>
              <a:rPr lang="en-US" altLang="en-GB" sz="4300" b="1" i="1" dirty="0">
                <a:solidFill>
                  <a:srgbClr val="C00000"/>
                </a:solidFill>
                <a:effectLst>
                  <a:outerShdw blurRad="38100" dist="38100" dir="2700000" algn="tl">
                    <a:srgbClr val="000000">
                      <a:alpha val="43137"/>
                    </a:srgbClr>
                  </a:outerShdw>
                </a:effectLst>
              </a:rPr>
              <a:t>3D Image Segmentation and Quantification of Lysosomes</a:t>
            </a:r>
            <a:endParaRPr lang="en-US" altLang="en-GB" sz="4300" b="1" i="1" dirty="0">
              <a:solidFill>
                <a:srgbClr val="C00000"/>
              </a:solidFill>
              <a:effectLst>
                <a:outerShdw blurRad="38100" dist="38100" dir="2700000" algn="tl">
                  <a:srgbClr val="000000">
                    <a:alpha val="43137"/>
                  </a:srgbClr>
                </a:outerShdw>
              </a:effectLst>
            </a:endParaRPr>
          </a:p>
          <a:p>
            <a:pPr marL="0" indent="0" algn="ctr">
              <a:buNone/>
            </a:pPr>
            <a:r>
              <a:rPr lang="en-US" altLang="en-GB" sz="4300" b="1" i="1" dirty="0">
                <a:solidFill>
                  <a:srgbClr val="C00000"/>
                </a:solidFill>
                <a:effectLst>
                  <a:outerShdw blurRad="38100" dist="38100" dir="2700000" algn="tl">
                    <a:srgbClr val="000000">
                      <a:alpha val="43137"/>
                    </a:srgbClr>
                  </a:outerShdw>
                </a:effectLst>
              </a:rPr>
              <a:t>29/12/2025</a:t>
            </a:r>
            <a:endParaRPr lang="en-US" altLang="en-GB" sz="4300" b="1" i="1" dirty="0">
              <a:solidFill>
                <a:srgbClr val="C00000"/>
              </a:solidFill>
              <a:effectLst>
                <a:outerShdw blurRad="38100" dist="38100" dir="2700000" algn="tl">
                  <a:srgbClr val="000000">
                    <a:alpha val="43137"/>
                  </a:srgbClr>
                </a:outerShdw>
              </a:effectLst>
            </a:endParaRPr>
          </a:p>
          <a:p>
            <a:pPr marL="0" indent="0" algn="ctr">
              <a:buNone/>
            </a:pPr>
            <a:endParaRPr lang="en-US" altLang="en-GB" sz="4300" b="1" i="1" dirty="0">
              <a:solidFill>
                <a:srgbClr val="C00000"/>
              </a:solidFill>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 SCRIPT LOGIC</a:t>
            </a:r>
            <a:endParaRPr lang="en-US" altLang="en-GB" b="1">
              <a:solidFill>
                <a:srgbClr val="FF0000"/>
              </a:solidFill>
            </a:endParaRPr>
          </a:p>
        </p:txBody>
      </p:sp>
      <p:sp>
        <p:nvSpPr>
          <p:cNvPr id="3" name="Content Placeholder 2"/>
          <p:cNvSpPr>
            <a:spLocks noGrp="1"/>
          </p:cNvSpPr>
          <p:nvPr>
            <p:ph idx="1"/>
          </p:nvPr>
        </p:nvSpPr>
        <p:spPr>
          <a:xfrm>
            <a:off x="513080" y="952500"/>
            <a:ext cx="10972800" cy="4953000"/>
          </a:xfrm>
        </p:spPr>
        <p:txBody>
          <a:bodyPr/>
          <a:p>
            <a:r>
              <a:rPr lang="en-US" altLang="en-GB"/>
              <a:t>You have a bright spot (a blob) in a 3D image, and you want to estimate how big it is, then instead of guessing the size from the detection algorithm, the code measures how brightness changes as you move away from the blob’s center. </a:t>
            </a:r>
            <a:endParaRPr lang="en-US" altLang="en-GB"/>
          </a:p>
          <a:p>
            <a:r>
              <a:rPr lang="en-US" altLang="en-GB">
                <a:sym typeface="+mn-ea"/>
              </a:rPr>
              <a:t>The code groups all voxels that are about the same distance from the center (like thin spherical shells) and averages their brightness.</a:t>
            </a:r>
            <a:endParaRPr lang="en-US" altLang="en-GB"/>
          </a:p>
          <a:p>
            <a:pPr marL="0" indent="0">
              <a:buNone/>
            </a:pPr>
            <a:endParaRPr lang="en-US" alt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HOW ARE PEAKS AND DIAMETERS OBTAINED?</a:t>
            </a:r>
            <a:endParaRPr lang="en-US" altLang="en-GB" b="1">
              <a:solidFill>
                <a:srgbClr val="FF0000"/>
              </a:solidFill>
            </a:endParaRPr>
          </a:p>
        </p:txBody>
      </p:sp>
      <p:sp>
        <p:nvSpPr>
          <p:cNvPr id="3" name="Content Placeholder 2"/>
          <p:cNvSpPr>
            <a:spLocks noGrp="1"/>
          </p:cNvSpPr>
          <p:nvPr>
            <p:ph idx="1"/>
          </p:nvPr>
        </p:nvSpPr>
        <p:spPr>
          <a:xfrm>
            <a:off x="609600" y="773430"/>
            <a:ext cx="10972800" cy="4953000"/>
          </a:xfrm>
        </p:spPr>
        <p:txBody>
          <a:bodyPr/>
          <a:p>
            <a:pPr marL="0" indent="0">
              <a:buNone/>
            </a:pPr>
            <a:r>
              <a:rPr lang="en-US" altLang="en-GB" sz="2800"/>
              <a:t>You already have “blobs” detected (center + an initial radius in pixels, usually from a distance-transform / blob detector). This function refines the radius by measuring how the image intensity changes as a function of distance from the blob center (a radial intensity profile), then estimating a radius using a half-maximum width </a:t>
            </a:r>
            <a:r>
              <a:rPr lang="en-US" altLang="en-GB" sz="2800" b="1"/>
              <a:t>(FWHM-style) rule.</a:t>
            </a:r>
            <a:endParaRPr lang="en-US" altLang="en-GB" sz="2800" b="1"/>
          </a:p>
          <a:p>
            <a:pPr marL="0" indent="0">
              <a:buNone/>
            </a:pPr>
            <a:endParaRPr lang="en-US" altLang="en-GB" sz="2400"/>
          </a:p>
          <a:p>
            <a:pPr marL="0" indent="0">
              <a:buNone/>
            </a:pPr>
            <a:r>
              <a:rPr lang="en-US" altLang="en-GB"/>
              <a:t>Two main methods:</a:t>
            </a:r>
            <a:endParaRPr lang="en-US" altLang="en-GB"/>
          </a:p>
          <a:p>
            <a:r>
              <a:rPr lang="en-US" altLang="en-GB" b="1">
                <a:solidFill>
                  <a:schemeClr val="tx1"/>
                </a:solidFill>
                <a:sym typeface="+mn-ea"/>
              </a:rPr>
              <a:t>Radial intensity profile</a:t>
            </a:r>
            <a:endParaRPr lang="en-US" altLang="en-GB" b="1">
              <a:solidFill>
                <a:schemeClr val="tx1"/>
              </a:solidFill>
            </a:endParaRPr>
          </a:p>
          <a:p>
            <a:r>
              <a:rPr lang="en-US" altLang="en-GB" b="1">
                <a:sym typeface="+mn-ea"/>
              </a:rPr>
              <a:t>F</a:t>
            </a:r>
            <a:r>
              <a:rPr lang="en-US" altLang="en-GB" b="1"/>
              <a:t>ull width at half maximum(FWHM)</a:t>
            </a:r>
            <a:endParaRPr lang="en-US" altLang="en-GB"/>
          </a:p>
          <a:p>
            <a:pPr marL="0" indent="0">
              <a:buNone/>
            </a:pPr>
            <a:endParaRPr lang="en-US" alt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buNone/>
            </a:pPr>
            <a:r>
              <a:rPr lang="en-US" altLang="en-GB">
                <a:sym typeface="+mn-ea"/>
              </a:rPr>
              <a:t>It works as a size estimator that groups voxels into spherical layers and calculates the approximate average of the expected I(r).</a:t>
            </a:r>
            <a:endParaRPr lang="en-US" altLang="en-GB">
              <a:sym typeface="+mn-ea"/>
            </a:endParaRPr>
          </a:p>
          <a:p>
            <a:pPr marL="0" indent="0">
              <a:buNone/>
            </a:pPr>
            <a:r>
              <a:rPr lang="en-US" altLang="en-GB">
                <a:sym typeface="+mn-ea"/>
              </a:rPr>
              <a:t>That produces a curve:</a:t>
            </a:r>
            <a:endParaRPr lang="en-US" altLang="en-GB"/>
          </a:p>
          <a:p>
            <a:pPr marL="0" indent="0">
              <a:buNone/>
            </a:pPr>
            <a:r>
              <a:rPr lang="en-US" altLang="en-GB" b="1">
                <a:sym typeface="+mn-ea"/>
              </a:rPr>
              <a:t>I(r) = average brightness at distance r</a:t>
            </a:r>
            <a:endParaRPr lang="en-US" altLang="en-GB"/>
          </a:p>
          <a:p>
            <a:pPr marL="0" indent="0">
              <a:buNone/>
            </a:pPr>
            <a:r>
              <a:rPr lang="en-US" altLang="en-GB" b="1">
                <a:solidFill>
                  <a:srgbClr val="0070C0"/>
                </a:solidFill>
                <a:sym typeface="+mn-ea"/>
              </a:rPr>
              <a:t>So it becomes a 1D problem: one curve instead of a full 3D shape.</a:t>
            </a:r>
            <a:endParaRPr lang="en-US" altLang="en-GB" b="1">
              <a:solidFill>
                <a:srgbClr val="0070C0"/>
              </a:solidFill>
            </a:endParaRPr>
          </a:p>
          <a:p>
            <a:pPr marL="0" indent="0">
              <a:buNone/>
            </a:pPr>
            <a:endParaRPr lang="en-US" altLang="en-GB"/>
          </a:p>
          <a:p>
            <a:endParaRPr lang="en-GB" altLang="en-US"/>
          </a:p>
        </p:txBody>
      </p:sp>
      <p:sp>
        <p:nvSpPr>
          <p:cNvPr id="4" name="Title 3"/>
          <p:cNvSpPr/>
          <p:nvPr>
            <p:ph type="title"/>
          </p:nvPr>
        </p:nvSpPr>
        <p:spPr/>
        <p:txBody>
          <a:bodyPr/>
          <a:p>
            <a:r>
              <a:rPr lang="en-US" altLang="en-GB" b="1">
                <a:solidFill>
                  <a:srgbClr val="FF0000"/>
                </a:solidFill>
                <a:sym typeface="+mn-ea"/>
              </a:rPr>
              <a:t>Radial intensity profile </a:t>
            </a:r>
            <a:endParaRPr lang="en-US" altLang="en-GB" b="1">
              <a:solidFill>
                <a:srgbClr val="FF0000"/>
              </a:solidFill>
              <a:sym typeface="+mn-ea"/>
            </a:endParaRPr>
          </a:p>
        </p:txBody>
      </p:sp>
      <p:pic>
        <p:nvPicPr>
          <p:cNvPr id="5" name="Picture 4"/>
          <p:cNvPicPr>
            <a:picLocks noChangeAspect="1"/>
          </p:cNvPicPr>
          <p:nvPr/>
        </p:nvPicPr>
        <p:blipFill>
          <a:blip r:embed="rId1"/>
          <a:stretch>
            <a:fillRect/>
          </a:stretch>
        </p:blipFill>
        <p:spPr>
          <a:xfrm>
            <a:off x="831850" y="5136515"/>
            <a:ext cx="2971800" cy="533400"/>
          </a:xfrm>
          <a:prstGeom prst="rect">
            <a:avLst/>
          </a:prstGeom>
        </p:spPr>
      </p:pic>
      <p:sp>
        <p:nvSpPr>
          <p:cNvPr id="6" name="Text Box 5"/>
          <p:cNvSpPr txBox="1"/>
          <p:nvPr/>
        </p:nvSpPr>
        <p:spPr>
          <a:xfrm>
            <a:off x="4262120" y="5201285"/>
            <a:ext cx="6800215" cy="645160"/>
          </a:xfrm>
          <a:prstGeom prst="rect">
            <a:avLst/>
          </a:prstGeom>
          <a:noFill/>
          <a:ln w="12700">
            <a:solidFill>
              <a:srgbClr val="FF0000"/>
            </a:solidFill>
          </a:ln>
        </p:spPr>
        <p:txBody>
          <a:bodyPr wrap="square" rtlCol="0">
            <a:spAutoFit/>
          </a:bodyPr>
          <a:p>
            <a:r>
              <a:rPr lang="en-US" altLang="en-GB"/>
              <a:t>“At a distance “r” from the center “Xo”, take all the pixels/voxels that are exactly that far away, and average their brightness.”</a:t>
            </a:r>
            <a:endParaRPr lang="en-US" alt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FWHM</a:t>
            </a:r>
            <a:endParaRPr lang="en-US" altLang="en-GB" b="1">
              <a:solidFill>
                <a:srgbClr val="FF0000"/>
              </a:solidFill>
            </a:endParaRPr>
          </a:p>
        </p:txBody>
      </p:sp>
      <p:sp>
        <p:nvSpPr>
          <p:cNvPr id="3" name="Content Placeholder 2"/>
          <p:cNvSpPr>
            <a:spLocks noGrp="1"/>
          </p:cNvSpPr>
          <p:nvPr>
            <p:ph idx="1"/>
          </p:nvPr>
        </p:nvSpPr>
        <p:spPr>
          <a:xfrm>
            <a:off x="609600" y="952500"/>
            <a:ext cx="10972800" cy="4953000"/>
          </a:xfrm>
        </p:spPr>
        <p:txBody>
          <a:bodyPr/>
          <a:p>
            <a:pPr marL="0" indent="0">
              <a:buNone/>
            </a:pPr>
            <a:r>
              <a:rPr lang="en-US" altLang="en-GB" sz="2000"/>
              <a:t>It is a classic way to measure the “width” of a peak, used heavily when the shape is Gaussian-like.</a:t>
            </a:r>
            <a:endParaRPr lang="en-US" altLang="en-GB" sz="2000"/>
          </a:p>
          <a:p>
            <a:pPr marL="0" indent="0">
              <a:buNone/>
            </a:pPr>
            <a:r>
              <a:rPr lang="en-US" altLang="en-GB" sz="2000"/>
              <a:t>In microscopy, many bright-blob appearances are shaped by the point spread function (PSF); a Gaussian is a common approximation.</a:t>
            </a:r>
            <a:endParaRPr lang="en-US" altLang="en-GB" sz="2000"/>
          </a:p>
          <a:p>
            <a:pPr marL="0" indent="0">
              <a:buNone/>
            </a:pPr>
            <a:r>
              <a:rPr lang="en-US" altLang="en-GB" sz="2000"/>
              <a:t>So the half-maximum width is directly linked to the spread parameter.</a:t>
            </a:r>
            <a:endParaRPr lang="en-US" altLang="en-GB" sz="2000"/>
          </a:p>
          <a:p>
            <a:pPr marL="0" indent="0">
              <a:buNone/>
            </a:pPr>
            <a:r>
              <a:rPr lang="en-US" altLang="en-GB" sz="2000"/>
              <a:t>Your implementation measures the half-maximum extent in radius and uses it as a diameter proxy.</a:t>
            </a:r>
            <a:endParaRPr lang="en-US" altLang="en-GB" sz="2000"/>
          </a:p>
          <a:p>
            <a:pPr marL="0" indent="0">
              <a:buNone/>
            </a:pPr>
            <a:endParaRPr lang="en-US" altLang="en-GB" sz="2000"/>
          </a:p>
        </p:txBody>
      </p:sp>
      <p:sp>
        <p:nvSpPr>
          <p:cNvPr id="7" name="Text Box 6"/>
          <p:cNvSpPr txBox="1"/>
          <p:nvPr/>
        </p:nvSpPr>
        <p:spPr>
          <a:xfrm>
            <a:off x="1041400" y="5169535"/>
            <a:ext cx="9992995" cy="1198880"/>
          </a:xfrm>
          <a:prstGeom prst="rect">
            <a:avLst/>
          </a:prstGeom>
          <a:noFill/>
        </p:spPr>
        <p:txBody>
          <a:bodyPr wrap="square" rtlCol="0">
            <a:spAutoFit/>
          </a:bodyPr>
          <a:p>
            <a:r>
              <a:rPr lang="en-US" altLang="en-GB"/>
              <a:t>It is a single integer index and refers to the position where </a:t>
            </a:r>
            <a:r>
              <a:rPr lang="en-US" altLang="en-GB" b="1"/>
              <a:t>I_smooth</a:t>
            </a:r>
            <a:r>
              <a:rPr lang="en-US" altLang="en-GB"/>
              <a:t> is largest.</a:t>
            </a:r>
            <a:endParaRPr lang="en-US" altLang="en-GB"/>
          </a:p>
          <a:p>
            <a:r>
              <a:rPr lang="en-US" altLang="en-GB" b="1"/>
              <a:t>Example:</a:t>
            </a:r>
            <a:endParaRPr lang="en-US" altLang="en-GB"/>
          </a:p>
          <a:p>
            <a:r>
              <a:rPr lang="en-US" altLang="en-GB"/>
              <a:t>If I_smooth = [2, 5, 9, 7], then np.argmax(I_smooth) is 2 (the value 9 is at index 2).</a:t>
            </a:r>
            <a:endParaRPr lang="en-US" altLang="en-GB"/>
          </a:p>
          <a:p>
            <a:r>
              <a:rPr lang="en-US" altLang="en-GB"/>
              <a:t>That index later maps to a radius via r_prof[peak_idx].</a:t>
            </a:r>
            <a:endParaRPr lang="en-US" altLang="en-GB"/>
          </a:p>
        </p:txBody>
      </p:sp>
      <p:pic>
        <p:nvPicPr>
          <p:cNvPr id="8" name="Picture 7"/>
          <p:cNvPicPr>
            <a:picLocks noChangeAspect="1"/>
          </p:cNvPicPr>
          <p:nvPr/>
        </p:nvPicPr>
        <p:blipFill>
          <a:blip r:embed="rId1"/>
          <a:stretch>
            <a:fillRect/>
          </a:stretch>
        </p:blipFill>
        <p:spPr>
          <a:xfrm>
            <a:off x="4424680" y="3200400"/>
            <a:ext cx="4277360" cy="19691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sym typeface="+mn-ea"/>
              </a:rPr>
              <a:t>FWHM</a:t>
            </a:r>
            <a:endParaRPr lang="en-GB" altLang="en-US"/>
          </a:p>
        </p:txBody>
      </p:sp>
      <p:pic>
        <p:nvPicPr>
          <p:cNvPr id="4" name="Picture 3" descr="fwhm_formulas_only"/>
          <p:cNvPicPr>
            <a:picLocks noChangeAspect="1"/>
          </p:cNvPicPr>
          <p:nvPr/>
        </p:nvPicPr>
        <p:blipFill>
          <a:blip r:embed="rId1"/>
          <a:stretch>
            <a:fillRect/>
          </a:stretch>
        </p:blipFill>
        <p:spPr>
          <a:xfrm>
            <a:off x="1633855" y="1051560"/>
            <a:ext cx="8229600" cy="4754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sym typeface="+mn-ea"/>
              </a:rPr>
              <a:t>SUMMARY</a:t>
            </a:r>
            <a:endParaRPr lang="en-GB" altLang="en-US"/>
          </a:p>
        </p:txBody>
      </p:sp>
      <p:sp>
        <p:nvSpPr>
          <p:cNvPr id="3" name="Content Placeholder 2"/>
          <p:cNvSpPr>
            <a:spLocks noGrp="1"/>
          </p:cNvSpPr>
          <p:nvPr>
            <p:ph idx="1"/>
          </p:nvPr>
        </p:nvSpPr>
        <p:spPr/>
        <p:txBody>
          <a:bodyPr/>
          <a:p>
            <a:pPr marL="0" indent="0">
              <a:buNone/>
            </a:pPr>
            <a:r>
              <a:rPr lang="en-US" altLang="en-GB" sz="4400"/>
              <a:t>It estimates blob size by averaging brightness in spherical shells around the center, then taking the width of the brightness “bump” at half its height as a diameter-based radius, measured in um.</a:t>
            </a:r>
            <a:endParaRPr lang="en-US" altLang="en-GB" sz="4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84455"/>
            <a:ext cx="10972800" cy="582613"/>
          </a:xfrm>
        </p:spPr>
        <p:txBody>
          <a:bodyPr/>
          <a:p>
            <a:r>
              <a:rPr lang="en-US" altLang="en-GB" b="1">
                <a:solidFill>
                  <a:srgbClr val="FF0000"/>
                </a:solidFill>
                <a:effectLst>
                  <a:outerShdw blurRad="38100" dist="38100" dir="2700000" algn="tl">
                    <a:srgbClr val="000000">
                      <a:alpha val="43137"/>
                    </a:srgbClr>
                  </a:outerShdw>
                </a:effectLst>
              </a:rPr>
              <a:t>FILES</a:t>
            </a:r>
            <a:endParaRPr lang="en-US" altLang="en-GB" b="1">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609600" y="593725"/>
            <a:ext cx="10972800" cy="4953000"/>
          </a:xfrm>
        </p:spPr>
        <p:txBody>
          <a:bodyPr/>
          <a:p>
            <a:pPr marL="0" indent="0">
              <a:buFont typeface="Wingdings" panose="05000000000000000000" charset="0"/>
              <a:buNone/>
            </a:pPr>
            <a:r>
              <a:rPr lang="en-US" altLang="en-GB" sz="2000">
                <a:effectLst/>
                <a:sym typeface="+mn-ea"/>
              </a:rPr>
              <a:t>JULY 2024</a:t>
            </a:r>
            <a:endParaRPr lang="en-US" altLang="en-GB" sz="2000">
              <a:effectLst/>
              <a:sym typeface="+mn-ea"/>
            </a:endParaRPr>
          </a:p>
          <a:p>
            <a:pPr>
              <a:buFont typeface="Wingdings" panose="05000000000000000000" charset="0"/>
              <a:buChar char="ü"/>
            </a:pPr>
            <a:r>
              <a:rPr lang="en-US" altLang="en-GB" sz="2000">
                <a:effectLst/>
                <a:sym typeface="+mn-ea"/>
              </a:rPr>
              <a:t>L3_1</a:t>
            </a:r>
            <a:endParaRPr lang="en-US" altLang="en-GB" sz="2000">
              <a:effectLst/>
              <a:sym typeface="+mn-ea"/>
            </a:endParaRPr>
          </a:p>
          <a:p>
            <a:pPr>
              <a:buFont typeface="Wingdings" panose="05000000000000000000" charset="0"/>
              <a:buChar char="ü"/>
            </a:pPr>
            <a:r>
              <a:rPr lang="en-US" altLang="en-GB" sz="2000">
                <a:effectLst/>
                <a:sym typeface="+mn-ea"/>
              </a:rPr>
              <a:t>L3_2</a:t>
            </a:r>
            <a:endParaRPr lang="en-US" altLang="en-GB" sz="2000">
              <a:effectLst/>
              <a:sym typeface="+mn-ea"/>
            </a:endParaRPr>
          </a:p>
          <a:p>
            <a:pPr>
              <a:buFont typeface="Wingdings" panose="05000000000000000000" charset="0"/>
              <a:buChar char="ü"/>
            </a:pPr>
            <a:r>
              <a:rPr lang="en-US" altLang="en-GB" sz="2000">
                <a:effectLst/>
                <a:sym typeface="+mn-ea"/>
              </a:rPr>
              <a:t>L3_4</a:t>
            </a:r>
            <a:endParaRPr lang="en-US" altLang="en-GB" sz="2000">
              <a:effectLst/>
              <a:sym typeface="+mn-ea"/>
            </a:endParaRPr>
          </a:p>
          <a:p>
            <a:pPr>
              <a:buFont typeface="Wingdings" panose="05000000000000000000" charset="0"/>
              <a:buChar char="ü"/>
            </a:pPr>
            <a:r>
              <a:rPr lang="en-US" altLang="en-GB" sz="2000">
                <a:effectLst/>
                <a:sym typeface="+mn-ea"/>
              </a:rPr>
              <a:t>18H 1</a:t>
            </a:r>
            <a:endParaRPr lang="en-US" altLang="en-GB" sz="2000">
              <a:effectLst/>
              <a:sym typeface="+mn-ea"/>
            </a:endParaRPr>
          </a:p>
          <a:p>
            <a:pPr>
              <a:buFont typeface="Wingdings" panose="05000000000000000000" charset="0"/>
              <a:buChar char="ü"/>
            </a:pPr>
            <a:r>
              <a:rPr lang="en-US" altLang="en-GB" sz="2000">
                <a:effectLst/>
                <a:sym typeface="+mn-ea"/>
              </a:rPr>
              <a:t>18H 4</a:t>
            </a:r>
            <a:endParaRPr lang="en-US" altLang="en-GB" sz="2000">
              <a:effectLst/>
              <a:sym typeface="+mn-ea"/>
            </a:endParaRPr>
          </a:p>
          <a:p>
            <a:pPr marL="0" indent="0">
              <a:buFont typeface="Wingdings" panose="05000000000000000000" charset="0"/>
              <a:buNone/>
            </a:pPr>
            <a:r>
              <a:rPr lang="en-US" altLang="en-GB" sz="2000">
                <a:effectLst/>
                <a:sym typeface="+mn-ea"/>
              </a:rPr>
              <a:t>DECEMBER 2022</a:t>
            </a:r>
            <a:endParaRPr lang="en-US" altLang="en-GB" sz="2000">
              <a:effectLst/>
              <a:sym typeface="+mn-ea"/>
            </a:endParaRPr>
          </a:p>
          <a:p>
            <a:pPr>
              <a:buFont typeface="Wingdings" panose="05000000000000000000" charset="0"/>
              <a:buChar char="ü"/>
            </a:pPr>
            <a:r>
              <a:rPr lang="en-US" altLang="en-GB" sz="2000">
                <a:sym typeface="+mn-ea"/>
              </a:rPr>
              <a:t>0h_1</a:t>
            </a:r>
            <a:endParaRPr lang="en-US" altLang="en-GB" sz="2000"/>
          </a:p>
          <a:p>
            <a:pPr>
              <a:buFont typeface="Wingdings" panose="05000000000000000000" charset="0"/>
              <a:buChar char="ü"/>
            </a:pPr>
            <a:r>
              <a:rPr lang="en-US" altLang="en-GB" sz="2000">
                <a:sym typeface="+mn-ea"/>
              </a:rPr>
              <a:t>0h_2</a:t>
            </a:r>
            <a:endParaRPr lang="en-US" altLang="en-GB" sz="2000"/>
          </a:p>
          <a:p>
            <a:pPr>
              <a:buFont typeface="Wingdings" panose="05000000000000000000" charset="0"/>
              <a:buChar char="ü"/>
            </a:pPr>
            <a:r>
              <a:rPr lang="en-US" altLang="en-GB" sz="2000">
                <a:sym typeface="+mn-ea"/>
              </a:rPr>
              <a:t>4h_1</a:t>
            </a:r>
            <a:endParaRPr lang="en-US" altLang="en-GB" sz="2000"/>
          </a:p>
          <a:p>
            <a:pPr>
              <a:buFont typeface="Wingdings" panose="05000000000000000000" charset="0"/>
              <a:buChar char="ü"/>
            </a:pPr>
            <a:r>
              <a:rPr lang="en-US" altLang="en-GB" sz="2000">
                <a:sym typeface="+mn-ea"/>
              </a:rPr>
              <a:t>4h_2</a:t>
            </a:r>
            <a:endParaRPr lang="en-US" altLang="en-GB" sz="2000">
              <a:sym typeface="+mn-ea"/>
            </a:endParaRPr>
          </a:p>
          <a:p>
            <a:pPr>
              <a:buFont typeface="Wingdings" panose="05000000000000000000" charset="0"/>
              <a:buChar char="ü"/>
            </a:pPr>
            <a:r>
              <a:rPr lang="en-US" altLang="en-GB" sz="2000"/>
              <a:t>8h_1</a:t>
            </a:r>
            <a:endParaRPr lang="en-US" altLang="en-GB" sz="2000"/>
          </a:p>
          <a:p>
            <a:pPr>
              <a:buFont typeface="Wingdings" panose="05000000000000000000" charset="0"/>
              <a:buChar char="ü"/>
            </a:pPr>
            <a:r>
              <a:rPr lang="en-US" altLang="en-GB" sz="2000"/>
              <a:t>8h_2</a:t>
            </a:r>
            <a:endParaRPr lang="en-US" altLang="en-GB" sz="2000">
              <a:solidFill>
                <a:schemeClr val="tx1"/>
              </a:solidFill>
              <a:effectLst/>
            </a:endParaRPr>
          </a:p>
          <a:p>
            <a:pPr marL="0" indent="0">
              <a:buFont typeface="Wingdings" panose="05000000000000000000" charset="0"/>
              <a:buNone/>
            </a:pPr>
            <a:endParaRPr lang="en-US" altLang="en-GB" sz="2000">
              <a:solidFill>
                <a:schemeClr val="tx1"/>
              </a:solidFill>
              <a:effectLs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ítulo 1"/>
          <p:cNvSpPr>
            <a:spLocks noGrp="1"/>
          </p:cNvSpPr>
          <p:nvPr>
            <p:ph type="title"/>
          </p:nvPr>
        </p:nvSpPr>
        <p:spPr>
          <a:xfrm>
            <a:off x="792480" y="3048000"/>
            <a:ext cx="10972800" cy="762000"/>
          </a:xfrm>
        </p:spPr>
        <p:txBody>
          <a:bodyPr lIns="91440" tIns="45720" rIns="91440" bIns="45720" anchor="ctr" anchorCtr="0"/>
          <a:lstStyle/>
          <a:p>
            <a:r>
              <a:rPr lang="en-US" altLang="en-GB" sz="2400" b="1" dirty="0">
                <a:solidFill>
                  <a:srgbClr val="FF0000"/>
                </a:solidFill>
                <a:cs typeface="Arial" panose="020B0604020202020204"/>
              </a:rPr>
              <a:t>DECEMBER 2022</a:t>
            </a:r>
            <a:endParaRPr lang="en-US" altLang="en-GB" b="1" dirty="0">
              <a:solidFill>
                <a:srgbClr val="FF0000"/>
              </a:solidFill>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SEGMENTATION</a:t>
            </a:r>
            <a:endParaRPr lang="en-US" altLang="en-GB" b="1">
              <a:solidFill>
                <a:srgbClr val="FF0000"/>
              </a:solidFill>
            </a:endParaRPr>
          </a:p>
        </p:txBody>
      </p:sp>
      <p:pic>
        <p:nvPicPr>
          <p:cNvPr id="4" name="Picture 3" descr="seg 1"/>
          <p:cNvPicPr>
            <a:picLocks noChangeAspect="1"/>
          </p:cNvPicPr>
          <p:nvPr/>
        </p:nvPicPr>
        <p:blipFill>
          <a:blip r:embed="rId1"/>
          <a:stretch>
            <a:fillRect/>
          </a:stretch>
        </p:blipFill>
        <p:spPr>
          <a:xfrm>
            <a:off x="735330" y="1407160"/>
            <a:ext cx="4382135" cy="5370830"/>
          </a:xfrm>
          <a:prstGeom prst="rect">
            <a:avLst/>
          </a:prstGeom>
        </p:spPr>
      </p:pic>
      <p:pic>
        <p:nvPicPr>
          <p:cNvPr id="5" name="Picture 4" descr="seg 1"/>
          <p:cNvPicPr>
            <a:picLocks noChangeAspect="1"/>
          </p:cNvPicPr>
          <p:nvPr/>
        </p:nvPicPr>
        <p:blipFill>
          <a:blip r:embed="rId2"/>
          <a:stretch>
            <a:fillRect/>
          </a:stretch>
        </p:blipFill>
        <p:spPr>
          <a:xfrm>
            <a:off x="5959475" y="1860550"/>
            <a:ext cx="6232525" cy="3618230"/>
          </a:xfrm>
          <a:prstGeom prst="rect">
            <a:avLst/>
          </a:prstGeom>
        </p:spPr>
      </p:pic>
      <p:sp>
        <p:nvSpPr>
          <p:cNvPr id="6" name="Text Box 5"/>
          <p:cNvSpPr txBox="1"/>
          <p:nvPr/>
        </p:nvSpPr>
        <p:spPr>
          <a:xfrm>
            <a:off x="1834515" y="858520"/>
            <a:ext cx="1562735" cy="368300"/>
          </a:xfrm>
          <a:prstGeom prst="rect">
            <a:avLst/>
          </a:prstGeom>
          <a:noFill/>
        </p:spPr>
        <p:txBody>
          <a:bodyPr wrap="square" rtlCol="0">
            <a:spAutoFit/>
          </a:bodyPr>
          <a:p>
            <a:r>
              <a:rPr lang="en-US" altLang="en-GB" b="1"/>
              <a:t>0H 1</a:t>
            </a:r>
            <a:endParaRPr lang="en-US" altLang="en-GB" b="1"/>
          </a:p>
        </p:txBody>
      </p:sp>
      <p:sp>
        <p:nvSpPr>
          <p:cNvPr id="7" name="Text Box 6"/>
          <p:cNvSpPr txBox="1"/>
          <p:nvPr/>
        </p:nvSpPr>
        <p:spPr>
          <a:xfrm>
            <a:off x="8294370" y="1353820"/>
            <a:ext cx="1562735" cy="368300"/>
          </a:xfrm>
          <a:prstGeom prst="rect">
            <a:avLst/>
          </a:prstGeom>
          <a:noFill/>
        </p:spPr>
        <p:txBody>
          <a:bodyPr wrap="square" rtlCol="0">
            <a:spAutoFit/>
          </a:bodyPr>
          <a:p>
            <a:r>
              <a:rPr lang="en-US" altLang="en-GB" b="1"/>
              <a:t>0H 2</a:t>
            </a:r>
            <a:endParaRPr lang="en-US" altLang="en-GB"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SEGMENTATION</a:t>
            </a:r>
            <a:endParaRPr lang="en-US" altLang="en-GB" b="1">
              <a:solidFill>
                <a:srgbClr val="FF0000"/>
              </a:solidFill>
            </a:endParaRPr>
          </a:p>
        </p:txBody>
      </p:sp>
      <p:sp>
        <p:nvSpPr>
          <p:cNvPr id="6" name="Text Box 5"/>
          <p:cNvSpPr txBox="1"/>
          <p:nvPr/>
        </p:nvSpPr>
        <p:spPr>
          <a:xfrm>
            <a:off x="1834515" y="858520"/>
            <a:ext cx="1562735" cy="368300"/>
          </a:xfrm>
          <a:prstGeom prst="rect">
            <a:avLst/>
          </a:prstGeom>
          <a:noFill/>
        </p:spPr>
        <p:txBody>
          <a:bodyPr wrap="square" rtlCol="0">
            <a:spAutoFit/>
          </a:bodyPr>
          <a:p>
            <a:r>
              <a:rPr lang="en-US" altLang="en-GB" b="1"/>
              <a:t>4H 1</a:t>
            </a:r>
            <a:endParaRPr lang="en-US" altLang="en-GB" b="1"/>
          </a:p>
        </p:txBody>
      </p:sp>
      <p:sp>
        <p:nvSpPr>
          <p:cNvPr id="7" name="Text Box 6"/>
          <p:cNvSpPr txBox="1"/>
          <p:nvPr/>
        </p:nvSpPr>
        <p:spPr>
          <a:xfrm>
            <a:off x="8294370" y="1353820"/>
            <a:ext cx="1562735" cy="368300"/>
          </a:xfrm>
          <a:prstGeom prst="rect">
            <a:avLst/>
          </a:prstGeom>
          <a:noFill/>
        </p:spPr>
        <p:txBody>
          <a:bodyPr wrap="square" rtlCol="0">
            <a:spAutoFit/>
          </a:bodyPr>
          <a:p>
            <a:r>
              <a:rPr lang="en-US" altLang="en-GB" b="1"/>
              <a:t>4H 2</a:t>
            </a:r>
            <a:endParaRPr lang="en-US" altLang="en-GB" b="1"/>
          </a:p>
        </p:txBody>
      </p:sp>
      <p:pic>
        <p:nvPicPr>
          <p:cNvPr id="3" name="Picture 2" descr="seg 1"/>
          <p:cNvPicPr>
            <a:picLocks noChangeAspect="1"/>
          </p:cNvPicPr>
          <p:nvPr/>
        </p:nvPicPr>
        <p:blipFill>
          <a:blip r:embed="rId1"/>
          <a:stretch>
            <a:fillRect/>
          </a:stretch>
        </p:blipFill>
        <p:spPr>
          <a:xfrm>
            <a:off x="219075" y="1552575"/>
            <a:ext cx="5234940" cy="3627120"/>
          </a:xfrm>
          <a:prstGeom prst="rect">
            <a:avLst/>
          </a:prstGeom>
        </p:spPr>
      </p:pic>
      <p:pic>
        <p:nvPicPr>
          <p:cNvPr id="8" name="Picture 7" descr="seg 1"/>
          <p:cNvPicPr>
            <a:picLocks noChangeAspect="1"/>
          </p:cNvPicPr>
          <p:nvPr/>
        </p:nvPicPr>
        <p:blipFill>
          <a:blip r:embed="rId2"/>
          <a:stretch>
            <a:fillRect/>
          </a:stretch>
        </p:blipFill>
        <p:spPr>
          <a:xfrm>
            <a:off x="6398895" y="2170430"/>
            <a:ext cx="5183505" cy="30092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SEGMENTATION</a:t>
            </a:r>
            <a:endParaRPr lang="en-US" altLang="en-GB" b="1">
              <a:solidFill>
                <a:srgbClr val="FF0000"/>
              </a:solidFill>
            </a:endParaRPr>
          </a:p>
        </p:txBody>
      </p:sp>
      <p:sp>
        <p:nvSpPr>
          <p:cNvPr id="6" name="Text Box 5"/>
          <p:cNvSpPr txBox="1"/>
          <p:nvPr/>
        </p:nvSpPr>
        <p:spPr>
          <a:xfrm>
            <a:off x="1834515" y="858520"/>
            <a:ext cx="1562735" cy="368300"/>
          </a:xfrm>
          <a:prstGeom prst="rect">
            <a:avLst/>
          </a:prstGeom>
          <a:noFill/>
        </p:spPr>
        <p:txBody>
          <a:bodyPr wrap="square" rtlCol="0">
            <a:spAutoFit/>
          </a:bodyPr>
          <a:p>
            <a:r>
              <a:rPr lang="en-US" altLang="en-GB" b="1"/>
              <a:t>8H 1</a:t>
            </a:r>
            <a:endParaRPr lang="en-US" altLang="en-GB" b="1"/>
          </a:p>
        </p:txBody>
      </p:sp>
      <p:sp>
        <p:nvSpPr>
          <p:cNvPr id="7" name="Text Box 6"/>
          <p:cNvSpPr txBox="1"/>
          <p:nvPr/>
        </p:nvSpPr>
        <p:spPr>
          <a:xfrm>
            <a:off x="8294370" y="1353820"/>
            <a:ext cx="1562735" cy="368300"/>
          </a:xfrm>
          <a:prstGeom prst="rect">
            <a:avLst/>
          </a:prstGeom>
          <a:noFill/>
        </p:spPr>
        <p:txBody>
          <a:bodyPr wrap="square" rtlCol="0">
            <a:spAutoFit/>
          </a:bodyPr>
          <a:p>
            <a:r>
              <a:rPr lang="en-US" altLang="en-GB" b="1"/>
              <a:t>8H 2</a:t>
            </a:r>
            <a:endParaRPr lang="en-US" altLang="en-GB" b="1"/>
          </a:p>
        </p:txBody>
      </p:sp>
      <p:pic>
        <p:nvPicPr>
          <p:cNvPr id="4" name="Picture 3" descr="seg 1"/>
          <p:cNvPicPr>
            <a:picLocks noChangeAspect="1"/>
          </p:cNvPicPr>
          <p:nvPr/>
        </p:nvPicPr>
        <p:blipFill>
          <a:blip r:embed="rId1"/>
          <a:stretch>
            <a:fillRect/>
          </a:stretch>
        </p:blipFill>
        <p:spPr>
          <a:xfrm>
            <a:off x="0" y="1762760"/>
            <a:ext cx="5802630" cy="3917315"/>
          </a:xfrm>
          <a:prstGeom prst="rect">
            <a:avLst/>
          </a:prstGeom>
        </p:spPr>
      </p:pic>
      <p:pic>
        <p:nvPicPr>
          <p:cNvPr id="5" name="Picture 4" descr="seg 1"/>
          <p:cNvPicPr>
            <a:picLocks noChangeAspect="1"/>
          </p:cNvPicPr>
          <p:nvPr/>
        </p:nvPicPr>
        <p:blipFill>
          <a:blip r:embed="rId2"/>
          <a:stretch>
            <a:fillRect/>
          </a:stretch>
        </p:blipFill>
        <p:spPr>
          <a:xfrm>
            <a:off x="6511925" y="2072640"/>
            <a:ext cx="5680075" cy="32969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0"/>
            <a:ext cx="10972800" cy="762000"/>
          </a:xfrm>
        </p:spPr>
        <p:txBody>
          <a:bodyPr lIns="91440" tIns="45720" rIns="91440" bIns="45720" anchor="ctr" anchorCtr="0"/>
          <a:lstStyle/>
          <a:p>
            <a:r>
              <a:rPr lang="en-US" altLang="en-GB" b="1" dirty="0">
                <a:solidFill>
                  <a:srgbClr val="FF0000"/>
                </a:solidFill>
                <a:cs typeface="Arial" panose="020B0604020202020204"/>
              </a:rPr>
              <a:t>DATASETS</a:t>
            </a:r>
            <a:endParaRPr lang="en-US" altLang="en-GB" b="1" dirty="0">
              <a:solidFill>
                <a:srgbClr val="FF0000"/>
              </a:solidFill>
              <a:cs typeface="Arial" panose="020B0604020202020204"/>
            </a:endParaRPr>
          </a:p>
        </p:txBody>
      </p:sp>
      <p:pic>
        <p:nvPicPr>
          <p:cNvPr id="3" name="Picture 2"/>
          <p:cNvPicPr>
            <a:picLocks noChangeAspect="1"/>
          </p:cNvPicPr>
          <p:nvPr/>
        </p:nvPicPr>
        <p:blipFill>
          <a:blip r:embed="rId1"/>
          <a:stretch>
            <a:fillRect/>
          </a:stretch>
        </p:blipFill>
        <p:spPr>
          <a:xfrm>
            <a:off x="1511935" y="548640"/>
            <a:ext cx="8906510" cy="5895340"/>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b="1" dirty="0">
                <a:solidFill>
                  <a:srgbClr val="FF0000"/>
                </a:solidFill>
                <a:cs typeface="Arial" panose="020B0604020202020204"/>
              </a:rPr>
              <a:t>PLOT</a:t>
            </a:r>
            <a:endParaRPr lang="en-US" altLang="en-GB" b="1" dirty="0">
              <a:solidFill>
                <a:srgbClr val="FF0000"/>
              </a:solidFill>
              <a:cs typeface="Arial" panose="020B0604020202020204"/>
            </a:endParaRPr>
          </a:p>
        </p:txBody>
      </p:sp>
      <p:pic>
        <p:nvPicPr>
          <p:cNvPr id="3" name="Picture 2" descr="December_2022_scatter"/>
          <p:cNvPicPr>
            <a:picLocks noChangeAspect="1"/>
          </p:cNvPicPr>
          <p:nvPr/>
        </p:nvPicPr>
        <p:blipFill>
          <a:blip r:embed="rId1"/>
          <a:stretch>
            <a:fillRect/>
          </a:stretch>
        </p:blipFill>
        <p:spPr>
          <a:xfrm>
            <a:off x="1351915" y="1262380"/>
            <a:ext cx="9111615" cy="5003165"/>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ítulo 1"/>
          <p:cNvSpPr>
            <a:spLocks noGrp="1"/>
          </p:cNvSpPr>
          <p:nvPr>
            <p:ph type="title"/>
          </p:nvPr>
        </p:nvSpPr>
        <p:spPr>
          <a:xfrm>
            <a:off x="792480" y="3048000"/>
            <a:ext cx="10972800" cy="762000"/>
          </a:xfrm>
        </p:spPr>
        <p:txBody>
          <a:bodyPr lIns="91440" tIns="45720" rIns="91440" bIns="45720" anchor="ctr" anchorCtr="0"/>
          <a:lstStyle/>
          <a:p>
            <a:r>
              <a:rPr lang="en-US" altLang="en-GB" sz="2400" b="1" dirty="0">
                <a:solidFill>
                  <a:srgbClr val="FF0000"/>
                </a:solidFill>
                <a:cs typeface="Arial" panose="020B0604020202020204"/>
              </a:rPr>
              <a:t>JULY 2024</a:t>
            </a:r>
            <a:endParaRPr lang="en-US" altLang="en-GB" b="1" dirty="0">
              <a:solidFill>
                <a:srgbClr val="FF0000"/>
              </a:solidFill>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SEGMENTATION</a:t>
            </a:r>
            <a:endParaRPr lang="en-US" altLang="en-GB" b="1">
              <a:solidFill>
                <a:srgbClr val="FF0000"/>
              </a:solidFill>
            </a:endParaRPr>
          </a:p>
        </p:txBody>
      </p:sp>
      <p:sp>
        <p:nvSpPr>
          <p:cNvPr id="6" name="Text Box 5"/>
          <p:cNvSpPr txBox="1"/>
          <p:nvPr/>
        </p:nvSpPr>
        <p:spPr>
          <a:xfrm>
            <a:off x="1834515" y="858520"/>
            <a:ext cx="1562735" cy="368300"/>
          </a:xfrm>
          <a:prstGeom prst="rect">
            <a:avLst/>
          </a:prstGeom>
          <a:noFill/>
        </p:spPr>
        <p:txBody>
          <a:bodyPr wrap="square" rtlCol="0">
            <a:spAutoFit/>
          </a:bodyPr>
          <a:p>
            <a:r>
              <a:rPr lang="en-US" altLang="en-GB" b="1"/>
              <a:t>L3 1</a:t>
            </a:r>
            <a:endParaRPr lang="en-US" altLang="en-GB" b="1"/>
          </a:p>
        </p:txBody>
      </p:sp>
      <p:sp>
        <p:nvSpPr>
          <p:cNvPr id="7" name="Text Box 6"/>
          <p:cNvSpPr txBox="1"/>
          <p:nvPr/>
        </p:nvSpPr>
        <p:spPr>
          <a:xfrm>
            <a:off x="8294370" y="1353820"/>
            <a:ext cx="1562735" cy="368300"/>
          </a:xfrm>
          <a:prstGeom prst="rect">
            <a:avLst/>
          </a:prstGeom>
          <a:noFill/>
        </p:spPr>
        <p:txBody>
          <a:bodyPr wrap="square" rtlCol="0">
            <a:spAutoFit/>
          </a:bodyPr>
          <a:p>
            <a:r>
              <a:rPr lang="en-US" altLang="en-GB" b="1"/>
              <a:t>L3 2</a:t>
            </a:r>
            <a:endParaRPr lang="en-US" altLang="en-GB" b="1"/>
          </a:p>
        </p:txBody>
      </p:sp>
      <p:pic>
        <p:nvPicPr>
          <p:cNvPr id="3" name="Picture 2" descr="SEG 1"/>
          <p:cNvPicPr>
            <a:picLocks noChangeAspect="1"/>
          </p:cNvPicPr>
          <p:nvPr/>
        </p:nvPicPr>
        <p:blipFill>
          <a:blip r:embed="rId1"/>
          <a:stretch>
            <a:fillRect/>
          </a:stretch>
        </p:blipFill>
        <p:spPr>
          <a:xfrm>
            <a:off x="6096000" y="2188210"/>
            <a:ext cx="5634355" cy="3270885"/>
          </a:xfrm>
          <a:prstGeom prst="rect">
            <a:avLst/>
          </a:prstGeom>
        </p:spPr>
      </p:pic>
      <p:pic>
        <p:nvPicPr>
          <p:cNvPr id="8" name="Picture 7" descr="seg 1"/>
          <p:cNvPicPr>
            <a:picLocks noChangeAspect="1"/>
          </p:cNvPicPr>
          <p:nvPr/>
        </p:nvPicPr>
        <p:blipFill>
          <a:blip r:embed="rId2"/>
          <a:stretch>
            <a:fillRect/>
          </a:stretch>
        </p:blipFill>
        <p:spPr>
          <a:xfrm>
            <a:off x="145415" y="1657350"/>
            <a:ext cx="5240655" cy="30422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SEGMENTATION</a:t>
            </a:r>
            <a:endParaRPr lang="en-US" altLang="en-GB" b="1">
              <a:solidFill>
                <a:srgbClr val="FF0000"/>
              </a:solidFill>
            </a:endParaRPr>
          </a:p>
        </p:txBody>
      </p:sp>
      <p:sp>
        <p:nvSpPr>
          <p:cNvPr id="6" name="Text Box 5"/>
          <p:cNvSpPr txBox="1"/>
          <p:nvPr/>
        </p:nvSpPr>
        <p:spPr>
          <a:xfrm>
            <a:off x="1834515" y="858520"/>
            <a:ext cx="1562735" cy="368300"/>
          </a:xfrm>
          <a:prstGeom prst="rect">
            <a:avLst/>
          </a:prstGeom>
          <a:noFill/>
        </p:spPr>
        <p:txBody>
          <a:bodyPr wrap="square" rtlCol="0">
            <a:spAutoFit/>
          </a:bodyPr>
          <a:p>
            <a:r>
              <a:rPr lang="en-US" altLang="en-GB" b="1"/>
              <a:t>L3 4</a:t>
            </a:r>
            <a:endParaRPr lang="en-US" altLang="en-GB" b="1"/>
          </a:p>
        </p:txBody>
      </p:sp>
      <p:pic>
        <p:nvPicPr>
          <p:cNvPr id="4" name="Picture 3" descr="SEG 1"/>
          <p:cNvPicPr>
            <a:picLocks noChangeAspect="1"/>
          </p:cNvPicPr>
          <p:nvPr/>
        </p:nvPicPr>
        <p:blipFill>
          <a:blip r:embed="rId1"/>
          <a:stretch>
            <a:fillRect/>
          </a:stretch>
        </p:blipFill>
        <p:spPr>
          <a:xfrm>
            <a:off x="2908935" y="1226820"/>
            <a:ext cx="8274050" cy="48031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b="1">
                <a:solidFill>
                  <a:srgbClr val="FF0000"/>
                </a:solidFill>
              </a:rPr>
              <a:t>SEGMENTATION</a:t>
            </a:r>
            <a:endParaRPr lang="en-US" altLang="en-GB" b="1">
              <a:solidFill>
                <a:srgbClr val="FF0000"/>
              </a:solidFill>
            </a:endParaRPr>
          </a:p>
        </p:txBody>
      </p:sp>
      <p:sp>
        <p:nvSpPr>
          <p:cNvPr id="6" name="Text Box 5"/>
          <p:cNvSpPr txBox="1"/>
          <p:nvPr/>
        </p:nvSpPr>
        <p:spPr>
          <a:xfrm>
            <a:off x="1834515" y="858520"/>
            <a:ext cx="1562735" cy="368300"/>
          </a:xfrm>
          <a:prstGeom prst="rect">
            <a:avLst/>
          </a:prstGeom>
          <a:noFill/>
        </p:spPr>
        <p:txBody>
          <a:bodyPr wrap="square" rtlCol="0">
            <a:spAutoFit/>
          </a:bodyPr>
          <a:p>
            <a:r>
              <a:rPr lang="en-US" altLang="en-GB" b="1"/>
              <a:t>18H 1</a:t>
            </a:r>
            <a:endParaRPr lang="en-US" altLang="en-GB" b="1"/>
          </a:p>
        </p:txBody>
      </p:sp>
      <p:sp>
        <p:nvSpPr>
          <p:cNvPr id="7" name="Text Box 6"/>
          <p:cNvSpPr txBox="1"/>
          <p:nvPr/>
        </p:nvSpPr>
        <p:spPr>
          <a:xfrm>
            <a:off x="7666990" y="879475"/>
            <a:ext cx="1562735" cy="368300"/>
          </a:xfrm>
          <a:prstGeom prst="rect">
            <a:avLst/>
          </a:prstGeom>
          <a:noFill/>
        </p:spPr>
        <p:txBody>
          <a:bodyPr wrap="square" rtlCol="0">
            <a:spAutoFit/>
          </a:bodyPr>
          <a:p>
            <a:r>
              <a:rPr lang="en-US" altLang="en-GB" b="1"/>
              <a:t>18H 4</a:t>
            </a:r>
            <a:endParaRPr lang="en-US" altLang="en-GB" b="1"/>
          </a:p>
        </p:txBody>
      </p:sp>
      <p:pic>
        <p:nvPicPr>
          <p:cNvPr id="3" name="Picture 2" descr="SEG 1"/>
          <p:cNvPicPr>
            <a:picLocks noChangeAspect="1"/>
          </p:cNvPicPr>
          <p:nvPr/>
        </p:nvPicPr>
        <p:blipFill>
          <a:blip r:embed="rId1"/>
          <a:stretch>
            <a:fillRect/>
          </a:stretch>
        </p:blipFill>
        <p:spPr>
          <a:xfrm>
            <a:off x="0" y="1870710"/>
            <a:ext cx="5212080" cy="3328035"/>
          </a:xfrm>
          <a:prstGeom prst="rect">
            <a:avLst/>
          </a:prstGeom>
        </p:spPr>
      </p:pic>
      <p:pic>
        <p:nvPicPr>
          <p:cNvPr id="8" name="Picture 7" descr="SEG 1"/>
          <p:cNvPicPr>
            <a:picLocks noChangeAspect="1"/>
          </p:cNvPicPr>
          <p:nvPr/>
        </p:nvPicPr>
        <p:blipFill>
          <a:blip r:embed="rId2"/>
          <a:stretch>
            <a:fillRect/>
          </a:stretch>
        </p:blipFill>
        <p:spPr>
          <a:xfrm>
            <a:off x="5826760" y="1938020"/>
            <a:ext cx="5616575" cy="326072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0"/>
            <a:ext cx="10972800" cy="762000"/>
          </a:xfrm>
        </p:spPr>
        <p:txBody>
          <a:bodyPr lIns="91440" tIns="45720" rIns="91440" bIns="45720" anchor="ctr" anchorCtr="0"/>
          <a:lstStyle/>
          <a:p>
            <a:r>
              <a:rPr lang="en-US" altLang="en-GB" b="1" dirty="0">
                <a:solidFill>
                  <a:srgbClr val="FF0000"/>
                </a:solidFill>
                <a:cs typeface="Arial" panose="020B0604020202020204"/>
              </a:rPr>
              <a:t>DATASETS L3</a:t>
            </a:r>
            <a:endParaRPr lang="en-US" altLang="en-GB" b="1" dirty="0">
              <a:solidFill>
                <a:srgbClr val="FF0000"/>
              </a:solidFill>
              <a:cs typeface="Arial" panose="020B0604020202020204"/>
            </a:endParaRPr>
          </a:p>
        </p:txBody>
      </p:sp>
      <p:pic>
        <p:nvPicPr>
          <p:cNvPr id="4" name="Picture 3"/>
          <p:cNvPicPr>
            <a:picLocks noChangeAspect="1"/>
          </p:cNvPicPr>
          <p:nvPr/>
        </p:nvPicPr>
        <p:blipFill>
          <a:blip r:embed="rId1"/>
          <a:stretch>
            <a:fillRect/>
          </a:stretch>
        </p:blipFill>
        <p:spPr>
          <a:xfrm>
            <a:off x="712470" y="762000"/>
            <a:ext cx="1390650" cy="6191250"/>
          </a:xfrm>
          <a:prstGeom prst="rect">
            <a:avLst/>
          </a:prstGeom>
        </p:spPr>
      </p:pic>
      <p:pic>
        <p:nvPicPr>
          <p:cNvPr id="5" name="Picture 4"/>
          <p:cNvPicPr>
            <a:picLocks noChangeAspect="1"/>
          </p:cNvPicPr>
          <p:nvPr/>
        </p:nvPicPr>
        <p:blipFill>
          <a:blip r:embed="rId2"/>
          <a:stretch>
            <a:fillRect/>
          </a:stretch>
        </p:blipFill>
        <p:spPr>
          <a:xfrm>
            <a:off x="2952750" y="762000"/>
            <a:ext cx="1657350" cy="6010275"/>
          </a:xfrm>
          <a:prstGeom prst="rect">
            <a:avLst/>
          </a:prstGeom>
        </p:spPr>
      </p:pic>
      <p:pic>
        <p:nvPicPr>
          <p:cNvPr id="6" name="Picture 5"/>
          <p:cNvPicPr>
            <a:picLocks noChangeAspect="1"/>
          </p:cNvPicPr>
          <p:nvPr/>
        </p:nvPicPr>
        <p:blipFill>
          <a:blip r:embed="rId3"/>
          <a:stretch>
            <a:fillRect/>
          </a:stretch>
        </p:blipFill>
        <p:spPr>
          <a:xfrm>
            <a:off x="4610100" y="762000"/>
            <a:ext cx="1579880" cy="6191250"/>
          </a:xfrm>
          <a:prstGeom prst="rect">
            <a:avLst/>
          </a:prstGeom>
        </p:spPr>
      </p:pic>
      <p:pic>
        <p:nvPicPr>
          <p:cNvPr id="7" name="Picture 6"/>
          <p:cNvPicPr>
            <a:picLocks noChangeAspect="1"/>
          </p:cNvPicPr>
          <p:nvPr/>
        </p:nvPicPr>
        <p:blipFill>
          <a:blip r:embed="rId4"/>
          <a:stretch>
            <a:fillRect/>
          </a:stretch>
        </p:blipFill>
        <p:spPr>
          <a:xfrm>
            <a:off x="6189980" y="762000"/>
            <a:ext cx="1247775" cy="5657850"/>
          </a:xfrm>
          <a:prstGeom prst="rect">
            <a:avLst/>
          </a:prstGeom>
        </p:spPr>
      </p:pic>
      <p:pic>
        <p:nvPicPr>
          <p:cNvPr id="8" name="Picture 7"/>
          <p:cNvPicPr>
            <a:picLocks noChangeAspect="1"/>
          </p:cNvPicPr>
          <p:nvPr/>
        </p:nvPicPr>
        <p:blipFill>
          <a:blip r:embed="rId5"/>
          <a:stretch>
            <a:fillRect/>
          </a:stretch>
        </p:blipFill>
        <p:spPr>
          <a:xfrm>
            <a:off x="9017635" y="273050"/>
            <a:ext cx="1491615" cy="8562975"/>
          </a:xfrm>
          <a:prstGeom prst="rect">
            <a:avLst/>
          </a:prstGeom>
        </p:spPr>
      </p:pic>
      <p:sp>
        <p:nvSpPr>
          <p:cNvPr id="9" name="Text Box 8"/>
          <p:cNvSpPr txBox="1"/>
          <p:nvPr/>
        </p:nvSpPr>
        <p:spPr>
          <a:xfrm>
            <a:off x="0" y="1842135"/>
            <a:ext cx="1562735" cy="368300"/>
          </a:xfrm>
          <a:prstGeom prst="rect">
            <a:avLst/>
          </a:prstGeom>
          <a:noFill/>
        </p:spPr>
        <p:txBody>
          <a:bodyPr wrap="square" rtlCol="0">
            <a:spAutoFit/>
          </a:bodyPr>
          <a:p>
            <a:r>
              <a:rPr lang="en-US" altLang="en-GB" b="1"/>
              <a:t>L3 1</a:t>
            </a:r>
            <a:endParaRPr lang="en-US" altLang="en-GB" b="1"/>
          </a:p>
        </p:txBody>
      </p:sp>
      <p:sp>
        <p:nvSpPr>
          <p:cNvPr id="10" name="Text Box 9"/>
          <p:cNvSpPr txBox="1"/>
          <p:nvPr/>
        </p:nvSpPr>
        <p:spPr>
          <a:xfrm>
            <a:off x="4747260" y="273050"/>
            <a:ext cx="1562735" cy="368300"/>
          </a:xfrm>
          <a:prstGeom prst="rect">
            <a:avLst/>
          </a:prstGeom>
          <a:noFill/>
        </p:spPr>
        <p:txBody>
          <a:bodyPr wrap="square" rtlCol="0">
            <a:spAutoFit/>
          </a:bodyPr>
          <a:p>
            <a:r>
              <a:rPr lang="en-US" altLang="en-GB" b="1"/>
              <a:t>L3 2</a:t>
            </a:r>
            <a:endParaRPr lang="en-US" altLang="en-GB" b="1"/>
          </a:p>
        </p:txBody>
      </p:sp>
      <p:sp>
        <p:nvSpPr>
          <p:cNvPr id="11" name="Text Box 10"/>
          <p:cNvSpPr txBox="1"/>
          <p:nvPr/>
        </p:nvSpPr>
        <p:spPr>
          <a:xfrm>
            <a:off x="10629265" y="2305685"/>
            <a:ext cx="1562735" cy="368300"/>
          </a:xfrm>
          <a:prstGeom prst="rect">
            <a:avLst/>
          </a:prstGeom>
          <a:noFill/>
        </p:spPr>
        <p:txBody>
          <a:bodyPr wrap="square" rtlCol="0">
            <a:spAutoFit/>
          </a:bodyPr>
          <a:p>
            <a:r>
              <a:rPr lang="en-US" altLang="en-GB" b="1"/>
              <a:t>L3 4</a:t>
            </a:r>
            <a:endParaRPr lang="en-US" altLang="en-GB" b="1"/>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0"/>
            <a:ext cx="10972800" cy="762000"/>
          </a:xfrm>
        </p:spPr>
        <p:txBody>
          <a:bodyPr lIns="91440" tIns="45720" rIns="91440" bIns="45720" anchor="ctr" anchorCtr="0"/>
          <a:lstStyle/>
          <a:p>
            <a:r>
              <a:rPr lang="en-US" altLang="en-GB" b="1" dirty="0">
                <a:solidFill>
                  <a:srgbClr val="FF0000"/>
                </a:solidFill>
                <a:cs typeface="Arial" panose="020B0604020202020204"/>
              </a:rPr>
              <a:t>DATASETS 18h</a:t>
            </a:r>
            <a:endParaRPr lang="en-US" altLang="en-GB" b="1" dirty="0">
              <a:solidFill>
                <a:srgbClr val="FF0000"/>
              </a:solidFill>
              <a:cs typeface="Arial" panose="020B0604020202020204"/>
            </a:endParaRPr>
          </a:p>
        </p:txBody>
      </p:sp>
      <p:pic>
        <p:nvPicPr>
          <p:cNvPr id="3" name="Picture 2"/>
          <p:cNvPicPr>
            <a:picLocks noChangeAspect="1"/>
          </p:cNvPicPr>
          <p:nvPr/>
        </p:nvPicPr>
        <p:blipFill>
          <a:blip r:embed="rId1"/>
          <a:stretch>
            <a:fillRect/>
          </a:stretch>
        </p:blipFill>
        <p:spPr>
          <a:xfrm>
            <a:off x="1249045" y="2035175"/>
            <a:ext cx="2362200" cy="1590675"/>
          </a:xfrm>
          <a:prstGeom prst="rect">
            <a:avLst/>
          </a:prstGeom>
        </p:spPr>
      </p:pic>
      <p:pic>
        <p:nvPicPr>
          <p:cNvPr id="9" name="Picture 8"/>
          <p:cNvPicPr>
            <a:picLocks noChangeAspect="1"/>
          </p:cNvPicPr>
          <p:nvPr/>
        </p:nvPicPr>
        <p:blipFill>
          <a:blip r:embed="rId2"/>
          <a:stretch>
            <a:fillRect/>
          </a:stretch>
        </p:blipFill>
        <p:spPr>
          <a:xfrm>
            <a:off x="6139815" y="1897380"/>
            <a:ext cx="2286000" cy="1866900"/>
          </a:xfrm>
          <a:prstGeom prst="rect">
            <a:avLst/>
          </a:prstGeom>
        </p:spPr>
      </p:pic>
      <p:sp>
        <p:nvSpPr>
          <p:cNvPr id="10" name="Text Box 9"/>
          <p:cNvSpPr txBox="1"/>
          <p:nvPr/>
        </p:nvSpPr>
        <p:spPr>
          <a:xfrm>
            <a:off x="1525905" y="4041140"/>
            <a:ext cx="1562735" cy="368300"/>
          </a:xfrm>
          <a:prstGeom prst="rect">
            <a:avLst/>
          </a:prstGeom>
          <a:noFill/>
        </p:spPr>
        <p:txBody>
          <a:bodyPr wrap="square" rtlCol="0">
            <a:spAutoFit/>
          </a:bodyPr>
          <a:p>
            <a:r>
              <a:rPr lang="en-US" altLang="en-GB" b="1"/>
              <a:t>18H 1</a:t>
            </a:r>
            <a:endParaRPr lang="en-US" altLang="en-GB" b="1"/>
          </a:p>
        </p:txBody>
      </p:sp>
      <p:sp>
        <p:nvSpPr>
          <p:cNvPr id="11" name="Text Box 10"/>
          <p:cNvSpPr txBox="1"/>
          <p:nvPr/>
        </p:nvSpPr>
        <p:spPr>
          <a:xfrm>
            <a:off x="6706870" y="4168140"/>
            <a:ext cx="1562735" cy="368300"/>
          </a:xfrm>
          <a:prstGeom prst="rect">
            <a:avLst/>
          </a:prstGeom>
          <a:noFill/>
        </p:spPr>
        <p:txBody>
          <a:bodyPr wrap="square" rtlCol="0">
            <a:spAutoFit/>
          </a:bodyPr>
          <a:p>
            <a:r>
              <a:rPr lang="en-US" altLang="en-GB" b="1"/>
              <a:t>18H 4</a:t>
            </a:r>
            <a:endParaRPr lang="en-US" altLang="en-GB" b="1"/>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190500"/>
            <a:ext cx="10972800" cy="762000"/>
          </a:xfrm>
        </p:spPr>
        <p:txBody>
          <a:bodyPr lIns="91440" tIns="45720" rIns="91440" bIns="45720" anchor="ctr" anchorCtr="0"/>
          <a:lstStyle/>
          <a:p>
            <a:r>
              <a:rPr lang="en-US" altLang="en-GB" b="1" dirty="0">
                <a:solidFill>
                  <a:srgbClr val="FF0000"/>
                </a:solidFill>
                <a:cs typeface="Arial" panose="020B0604020202020204"/>
              </a:rPr>
              <a:t>PLOT</a:t>
            </a:r>
            <a:endParaRPr lang="en-US" altLang="en-GB" b="1" dirty="0">
              <a:solidFill>
                <a:srgbClr val="FF0000"/>
              </a:solidFill>
              <a:cs typeface="Arial" panose="020B0604020202020204"/>
            </a:endParaRPr>
          </a:p>
        </p:txBody>
      </p:sp>
      <p:pic>
        <p:nvPicPr>
          <p:cNvPr id="5" name="Picture 4" descr="July_2024_scatter_NEW_DATA"/>
          <p:cNvPicPr>
            <a:picLocks noChangeAspect="1"/>
          </p:cNvPicPr>
          <p:nvPr/>
        </p:nvPicPr>
        <p:blipFill>
          <a:blip r:embed="rId1"/>
          <a:stretch>
            <a:fillRect/>
          </a:stretch>
        </p:blipFill>
        <p:spPr>
          <a:xfrm>
            <a:off x="1390650" y="1194435"/>
            <a:ext cx="8138160" cy="446849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1_Green Color">
  <a:themeElements>
    <a:clrScheme name="">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00206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2421</Words>
  <Application>WPS Presentation</Application>
  <PresentationFormat>Panorámica</PresentationFormat>
  <Paragraphs>124</Paragraphs>
  <Slides>21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Arial</vt:lpstr>
      <vt:lpstr>SimSun</vt:lpstr>
      <vt:lpstr>Wingdings</vt:lpstr>
      <vt:lpstr>Wingdings</vt:lpstr>
      <vt:lpstr>Arial</vt:lpstr>
      <vt:lpstr>Microsoft YaHei</vt:lpstr>
      <vt:lpstr>Arial Unicode MS</vt:lpstr>
      <vt:lpstr>Calibri</vt:lpstr>
      <vt:lpstr>1_Green Color</vt:lpstr>
      <vt:lpstr>PowerPoint 演示文稿</vt:lpstr>
      <vt:lpstr> SCRIPT LOGIC</vt:lpstr>
      <vt:lpstr>HOW ARE PEAKS AND DIAMETERS OBTAINED?</vt:lpstr>
      <vt:lpstr>Radial intensity profile </vt:lpstr>
      <vt:lpstr>FWHM</vt:lpstr>
      <vt:lpstr>FWHM</vt:lpstr>
      <vt:lpstr>SUMMARY</vt:lpstr>
      <vt:lpstr>FILES</vt:lpstr>
      <vt:lpstr>40A_UAS-TMEM1923x-HA x 71G10 40A MARCM_L3_1_Airy_010724</vt:lpstr>
      <vt:lpstr>PowerPoint 演示文稿</vt:lpstr>
      <vt:lpstr>SEGMENTATION</vt:lpstr>
      <vt:lpstr>SEGMENTATION</vt:lpstr>
      <vt:lpstr>DETECTION VIDEO</vt:lpstr>
      <vt:lpstr>SEGMENTATION</vt:lpstr>
      <vt:lpstr>DECEMBER 2022</vt:lpstr>
      <vt:lpstr>SEGMENTATION</vt:lpstr>
      <vt:lpstr>SEGMENTATION</vt:lpstr>
      <vt:lpstr>SEGMENTATION</vt:lpstr>
      <vt:lpstr>DATASETS</vt:lpstr>
      <vt:lpstr>DATASETS L3</vt:lpstr>
      <vt:lpstr>PLOT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Nahuel-Hernan Ramos</dc:creator>
  <cp:lastModifiedBy>nahue</cp:lastModifiedBy>
  <cp:revision>902</cp:revision>
  <dcterms:created xsi:type="dcterms:W3CDTF">2024-11-18T13:41:00Z</dcterms:created>
  <dcterms:modified xsi:type="dcterms:W3CDTF">2025-12-29T09:57:51Z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F191C369A8644033AD727FBC34D1538D_13</vt:lpwstr>
  </property>
  <property fmtid="{D5CDD505-2E9C-101B-9397-08002B2CF9AE}" pid="3" name="KSOProductBuildVer">
    <vt:lpwstr>2057-12.2.0.23196</vt:lpwstr>
  </property>
</Properties>
</file>