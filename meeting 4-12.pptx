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3" r:id="rId3"/>
    <p:sldId id="667" r:id="rId5"/>
    <p:sldId id="519" r:id="rId6"/>
    <p:sldId id="676" r:id="rId7"/>
    <p:sldId id="678" r:id="rId8"/>
    <p:sldId id="680" r:id="rId9"/>
    <p:sldId id="682" r:id="rId10"/>
    <p:sldId id="684" r:id="rId11"/>
    <p:sldId id="686" r:id="rId12"/>
    <p:sldId id="670" r:id="rId13"/>
    <p:sldId id="522" r:id="rId14"/>
    <p:sldId id="524" r:id="rId15"/>
    <p:sldId id="597" r:id="rId16"/>
    <p:sldId id="599" r:id="rId17"/>
    <p:sldId id="625" r:id="rId18"/>
    <p:sldId id="671" r:id="rId19"/>
    <p:sldId id="635" r:id="rId20"/>
    <p:sldId id="637" r:id="rId21"/>
    <p:sldId id="639" r:id="rId22"/>
    <p:sldId id="641" r:id="rId23"/>
    <p:sldId id="672" r:id="rId24"/>
    <p:sldId id="616" r:id="rId25"/>
    <p:sldId id="617" r:id="rId26"/>
    <p:sldId id="618" r:id="rId27"/>
    <p:sldId id="619" r:id="rId28"/>
    <p:sldId id="673" r:id="rId29"/>
    <p:sldId id="620" r:id="rId30"/>
    <p:sldId id="687" r:id="rId31"/>
    <p:sldId id="622" r:id="rId32"/>
    <p:sldId id="62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4.png"/><Relationship Id="rId2" Type="http://schemas.openxmlformats.org/officeDocument/2006/relationships/image" Target="../media/image6.png"/><Relationship Id="rId19" Type="http://schemas.openxmlformats.org/officeDocument/2006/relationships/image" Target="../media/image23.png"/><Relationship Id="rId18" Type="http://schemas.openxmlformats.org/officeDocument/2006/relationships/image" Target="../media/image22.png"/><Relationship Id="rId17" Type="http://schemas.openxmlformats.org/officeDocument/2006/relationships/image" Target="../media/image21.png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4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tags" Target="../tags/tag2.xml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8.png"/><Relationship Id="rId3" Type="http://schemas.openxmlformats.org/officeDocument/2006/relationships/tags" Target="../tags/tag3.xml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5.png"/><Relationship Id="rId15" Type="http://schemas.openxmlformats.org/officeDocument/2006/relationships/image" Target="../media/image84.png"/><Relationship Id="rId14" Type="http://schemas.openxmlformats.org/officeDocument/2006/relationships/image" Target="../media/image83.png"/><Relationship Id="rId13" Type="http://schemas.openxmlformats.org/officeDocument/2006/relationships/image" Target="../media/image82.png"/><Relationship Id="rId12" Type="http://schemas.openxmlformats.org/officeDocument/2006/relationships/image" Target="../media/image81.png"/><Relationship Id="rId11" Type="http://schemas.openxmlformats.org/officeDocument/2006/relationships/image" Target="../media/image80.png"/><Relationship Id="rId10" Type="http://schemas.openxmlformats.org/officeDocument/2006/relationships/image" Target="../media/image79.png"/><Relationship Id="rId1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png"/><Relationship Id="rId3" Type="http://schemas.openxmlformats.org/officeDocument/2006/relationships/tags" Target="../tags/tag4.xml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99.png"/><Relationship Id="rId7" Type="http://schemas.openxmlformats.org/officeDocument/2006/relationships/image" Target="../media/image98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117.png"/><Relationship Id="rId25" Type="http://schemas.openxmlformats.org/officeDocument/2006/relationships/image" Target="../media/image116.png"/><Relationship Id="rId24" Type="http://schemas.openxmlformats.org/officeDocument/2006/relationships/image" Target="../media/image115.png"/><Relationship Id="rId23" Type="http://schemas.openxmlformats.org/officeDocument/2006/relationships/image" Target="../media/image114.png"/><Relationship Id="rId22" Type="http://schemas.openxmlformats.org/officeDocument/2006/relationships/image" Target="../media/image113.png"/><Relationship Id="rId21" Type="http://schemas.openxmlformats.org/officeDocument/2006/relationships/image" Target="../media/image112.png"/><Relationship Id="rId20" Type="http://schemas.openxmlformats.org/officeDocument/2006/relationships/image" Target="../media/image111.png"/><Relationship Id="rId2" Type="http://schemas.openxmlformats.org/officeDocument/2006/relationships/image" Target="../media/image93.png"/><Relationship Id="rId19" Type="http://schemas.openxmlformats.org/officeDocument/2006/relationships/image" Target="../media/image110.png"/><Relationship Id="rId18" Type="http://schemas.openxmlformats.org/officeDocument/2006/relationships/image" Target="../media/image109.png"/><Relationship Id="rId17" Type="http://schemas.openxmlformats.org/officeDocument/2006/relationships/image" Target="../media/image108.png"/><Relationship Id="rId16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5.png"/><Relationship Id="rId13" Type="http://schemas.openxmlformats.org/officeDocument/2006/relationships/image" Target="../media/image104.png"/><Relationship Id="rId12" Type="http://schemas.openxmlformats.org/officeDocument/2006/relationships/image" Target="../media/image103.png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1" Type="http://schemas.openxmlformats.org/officeDocument/2006/relationships/image" Target="../media/image9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1.png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2.png"/><Relationship Id="rId3" Type="http://schemas.openxmlformats.org/officeDocument/2006/relationships/tags" Target="../tags/tag5.xml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3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png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151.png"/><Relationship Id="rId27" Type="http://schemas.openxmlformats.org/officeDocument/2006/relationships/image" Target="../media/image150.png"/><Relationship Id="rId26" Type="http://schemas.openxmlformats.org/officeDocument/2006/relationships/image" Target="../media/image149.png"/><Relationship Id="rId25" Type="http://schemas.openxmlformats.org/officeDocument/2006/relationships/image" Target="../media/image148.png"/><Relationship Id="rId24" Type="http://schemas.openxmlformats.org/officeDocument/2006/relationships/image" Target="../media/image147.png"/><Relationship Id="rId23" Type="http://schemas.openxmlformats.org/officeDocument/2006/relationships/image" Target="../media/image146.png"/><Relationship Id="rId22" Type="http://schemas.openxmlformats.org/officeDocument/2006/relationships/image" Target="../media/image145.png"/><Relationship Id="rId21" Type="http://schemas.openxmlformats.org/officeDocument/2006/relationships/image" Target="../media/image144.png"/><Relationship Id="rId20" Type="http://schemas.openxmlformats.org/officeDocument/2006/relationships/image" Target="../media/image143.png"/><Relationship Id="rId2" Type="http://schemas.openxmlformats.org/officeDocument/2006/relationships/image" Target="../media/image125.png"/><Relationship Id="rId19" Type="http://schemas.openxmlformats.org/officeDocument/2006/relationships/image" Target="../media/image142.png"/><Relationship Id="rId18" Type="http://schemas.openxmlformats.org/officeDocument/2006/relationships/image" Target="../media/image141.png"/><Relationship Id="rId17" Type="http://schemas.openxmlformats.org/officeDocument/2006/relationships/image" Target="../media/image140.png"/><Relationship Id="rId16" Type="http://schemas.openxmlformats.org/officeDocument/2006/relationships/image" Target="../media/image139.png"/><Relationship Id="rId15" Type="http://schemas.openxmlformats.org/officeDocument/2006/relationships/image" Target="../media/image138.png"/><Relationship Id="rId14" Type="http://schemas.openxmlformats.org/officeDocument/2006/relationships/image" Target="../media/image137.png"/><Relationship Id="rId13" Type="http://schemas.openxmlformats.org/officeDocument/2006/relationships/image" Target="../media/image136.png"/><Relationship Id="rId12" Type="http://schemas.openxmlformats.org/officeDocument/2006/relationships/image" Target="../media/image135.png"/><Relationship Id="rId11" Type="http://schemas.openxmlformats.org/officeDocument/2006/relationships/image" Target="../media/image134.png"/><Relationship Id="rId10" Type="http://schemas.openxmlformats.org/officeDocument/2006/relationships/image" Target="../media/image133.png"/><Relationship Id="rId1" Type="http://schemas.openxmlformats.org/officeDocument/2006/relationships/image" Target="../media/image12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4695" y="1720850"/>
            <a:ext cx="10338435" cy="2900680"/>
          </a:xfrm>
        </p:spPr>
        <p:txBody>
          <a:bodyPr lIns="91440" tIns="45720" rIns="91440" bIns="45720" anchor="t">
            <a:noAutofit/>
          </a:bodyPr>
          <a:lstStyle/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3D Image Segmentation and Quantification of Lysosomes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4/12/2025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MEETING</a:t>
            </a:r>
            <a:endParaRPr lang="en-US" altLang="en-GB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9950"/>
            <a:ext cx="10972800" cy="495300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en-GB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progress these last few weeks</a:t>
            </a:r>
            <a:r>
              <a:rPr lang="en-US" altLang="en-US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Checked the size.</a:t>
            </a: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Included additional metrics such as mean and standard deviation.</a:t>
            </a: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MANUAL.vs.AUTOMATIC.</a:t>
            </a: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0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 the script can assign serial order numbers to lysosome and cell IDs.</a:t>
            </a: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GB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Review possible over-detection in some images. </a:t>
            </a:r>
            <a:endParaRPr lang="en-US" altLang="en-GB" sz="2000" b="1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2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 am working in the automatization of same parameters to avoid or reduce over deteccion on all images.</a:t>
            </a:r>
            <a:endParaRPr lang="en-US" altLang="en-GB" sz="2000" b="1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ˣ"/>
            </a:pPr>
            <a:r>
              <a:rPr lang="en-US" altLang="en-GB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Verify cases where there are lysosomes outside with a different cell ID.</a:t>
            </a:r>
            <a:endParaRPr lang="en-US" altLang="en-GB" sz="20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will start working on this point next week.</a:t>
            </a:r>
            <a:endParaRPr lang="en-US" altLang="en-GB" sz="20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GB" sz="2000" b="1" u="sng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OREN</a:t>
            </a:r>
            <a:r>
              <a:rPr lang="en-US" altLang="en-GB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: One addition/clarification - need to find a way to limit cell size to a certain (lower) limit so to exclude these fragments being counted as a cell…</a:t>
            </a:r>
            <a:r>
              <a:rPr lang="en-US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 </a:t>
            </a:r>
            <a:endParaRPr lang="en-US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endParaRPr lang="en-US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200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4455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67385"/>
            <a:ext cx="10972800" cy="4953000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Airy scan_40A_UAS-TMEM-HA_CB_0h_1_051222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Airy scan_40A_UAS-TMEM-HA_CB_0h_2_051222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Airy scan_40A_UAS-TMEM-HA_CB_4h_1_051222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Airy scan_40A_UAS-TMEM-HA_CB_4h_2_051222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TMEM-HA 6h CB airy_3_170722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/>
              <a:t>40A_UAS-TMEM192-3xHA x 40A 71G10 MARCM_around 12h - for quantification_4 Airy-CBs_300425</a:t>
            </a:r>
            <a:endParaRPr lang="en-US" altLang="en-GB" sz="2800"/>
          </a:p>
          <a:p>
            <a:pPr>
              <a:buFont typeface="Wingdings" panose="05000000000000000000" charset="0"/>
              <a:buChar char="ü"/>
            </a:pPr>
            <a:r>
              <a:rPr lang="en-US" altLang="en-GB" sz="2800">
                <a:solidFill>
                  <a:schemeClr val="tx1"/>
                </a:solidFill>
                <a:effectLst/>
              </a:rPr>
              <a:t>40A_UAS-TMEM192-3xHA x 40A 71G10 MARCM_around 12h - for quantification_3 Airy-CBs_300425</a:t>
            </a:r>
            <a:endParaRPr lang="en-US" altLang="en-GB" sz="280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800">
                <a:solidFill>
                  <a:schemeClr val="tx1"/>
                </a:solidFill>
                <a:effectLst/>
              </a:rPr>
              <a:t>40A_UAS-TMEM1923x-HA x 71G10 40A MARCM_L3_2_Airy_010724</a:t>
            </a:r>
            <a:endParaRPr lang="en-US" altLang="en-GB" sz="280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 sz="2800">
                <a:solidFill>
                  <a:schemeClr val="tx1"/>
                </a:solidFill>
                <a:effectLst/>
              </a:rPr>
              <a:t>40A_UAS-TMEM1923x-HA x 71G10 40A MARCM_L3_1_Airy_010724</a:t>
            </a:r>
            <a:endParaRPr lang="en-US" altLang="en-GB" sz="280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92480" y="30480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40A_UAS-TMEM1923x-HA x 71G10 40A MARCM_L3_1_Airy_010724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DETECTION VIDEO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4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820420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9" name="Picture 8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812800"/>
            <a:ext cx="10048875" cy="583311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146925" y="2796540"/>
            <a:ext cx="549910" cy="44386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014845" y="4542155"/>
            <a:ext cx="549910" cy="44386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840605" y="4098290"/>
            <a:ext cx="549910" cy="44386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GB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GB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GB" altLang="en-US" sz="2400" b="1" dirty="0">
                <a:solidFill>
                  <a:srgbClr val="FF0000"/>
                </a:solidFill>
                <a:cs typeface="Arial" panose="020B0604020202020204"/>
              </a:rPr>
              <a:t>METRICS</a:t>
            </a:r>
            <a:endParaRPr lang="en-GB" altLang="en-US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2967990"/>
            <a:ext cx="1409700" cy="1514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45" y="1407795"/>
            <a:ext cx="3826510" cy="22136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952500"/>
            <a:ext cx="1428750" cy="657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240" y="479425"/>
            <a:ext cx="1609725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360" y="1757680"/>
            <a:ext cx="1552575" cy="58102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7927975" y="1137285"/>
            <a:ext cx="106045" cy="7042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595" y="2428875"/>
            <a:ext cx="1791970" cy="492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605" y="3011170"/>
            <a:ext cx="1419225" cy="61912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8690610" y="2997200"/>
            <a:ext cx="574675" cy="12065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5285" y="3940175"/>
            <a:ext cx="2390775" cy="695325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endCxn id="17" idx="3"/>
          </p:cNvCxnSpPr>
          <p:nvPr/>
        </p:nvCxnSpPr>
        <p:spPr>
          <a:xfrm flipH="1" flipV="1">
            <a:off x="6466840" y="2369820"/>
            <a:ext cx="1882140" cy="1676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0245" y="2069465"/>
            <a:ext cx="1966595" cy="6000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1575" y="4801870"/>
            <a:ext cx="2286000" cy="59055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8348980" y="2921000"/>
            <a:ext cx="795020" cy="18192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128635" y="2967990"/>
            <a:ext cx="612775" cy="26822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310" y="5688965"/>
            <a:ext cx="2352675" cy="609600"/>
          </a:xfrm>
          <a:prstGeom prst="rect">
            <a:avLst/>
          </a:prstGeom>
        </p:spPr>
      </p:pic>
      <p:cxnSp>
        <p:nvCxnSpPr>
          <p:cNvPr id="22" name="Straight Arrow Connector 21"/>
          <p:cNvCxnSpPr>
            <a:endCxn id="23" idx="0"/>
          </p:cNvCxnSpPr>
          <p:nvPr/>
        </p:nvCxnSpPr>
        <p:spPr>
          <a:xfrm flipH="1">
            <a:off x="6878955" y="2785745"/>
            <a:ext cx="1155065" cy="24676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5150" y="5253355"/>
            <a:ext cx="2466975" cy="619125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 flipH="1">
            <a:off x="5341620" y="2680970"/>
            <a:ext cx="2164715" cy="3448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95085" y="2921000"/>
            <a:ext cx="1111250" cy="15798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127115" y="2997200"/>
            <a:ext cx="1127125" cy="5746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7305" y="2785745"/>
            <a:ext cx="1504315" cy="65722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8540" y="4500880"/>
            <a:ext cx="1638300" cy="6286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6450" y="3606165"/>
            <a:ext cx="1504950" cy="59055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9440" y="2537460"/>
            <a:ext cx="1870710" cy="53911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35" y="2486025"/>
            <a:ext cx="1697355" cy="5905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66645" y="3872230"/>
            <a:ext cx="1285875" cy="62865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9870" y="4016375"/>
            <a:ext cx="1476375" cy="619125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H="1">
            <a:off x="1816100" y="4002405"/>
            <a:ext cx="126365" cy="11404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8475" y="5129530"/>
            <a:ext cx="2447925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M</a:t>
            </a:r>
            <a:r>
              <a:rPr lang="en-GB" altLang="en-US" sz="2400" b="1" dirty="0">
                <a:solidFill>
                  <a:srgbClr val="FF0000"/>
                </a:solidFill>
                <a:cs typeface="Arial" panose="020B0604020202020204"/>
              </a:rPr>
              <a:t>ETRICS</a:t>
            </a:r>
            <a:endParaRPr lang="en-GB" altLang="en-US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795" y="1865630"/>
            <a:ext cx="4244975" cy="3126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40" y="1865630"/>
            <a:ext cx="1590675" cy="619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60" y="2800350"/>
            <a:ext cx="2438400" cy="628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0" y="2265680"/>
            <a:ext cx="1590675" cy="628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670" y="3867785"/>
            <a:ext cx="1562100" cy="68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140" y="2614295"/>
            <a:ext cx="2324100" cy="54292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3556635" y="3587750"/>
            <a:ext cx="812165" cy="3384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505" y="3693795"/>
            <a:ext cx="2447925" cy="66675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3126105" y="4053205"/>
            <a:ext cx="1253490" cy="8693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485640" y="4356735"/>
            <a:ext cx="105410" cy="10350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69180" y="4207510"/>
            <a:ext cx="1465580" cy="10979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645" y="4922520"/>
            <a:ext cx="2305050" cy="609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9320" y="5391785"/>
            <a:ext cx="2438400" cy="638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760" y="5276850"/>
            <a:ext cx="2466975" cy="62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>
                <a:solidFill>
                  <a:srgbClr val="FF0000"/>
                </a:solidFill>
                <a:sym typeface="+mn-ea"/>
              </a:rPr>
              <a:t>DATASET LYSOSOMES(ORDER FOR CELL ID)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530" y="1236980"/>
            <a:ext cx="2638425" cy="1085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205" y="2827655"/>
            <a:ext cx="1743075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205" y="4113530"/>
            <a:ext cx="1781175" cy="809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52500"/>
            <a:ext cx="7193280" cy="5913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1"/>
          <p:cNvSpPr>
            <a:spLocks noGrp="1"/>
          </p:cNvSpPr>
          <p:nvPr/>
        </p:nvSpPr>
        <p:spPr>
          <a:xfrm>
            <a:off x="736600" y="278638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Airy scan_40A_UAS-TMEM-HA_CB_0h_1_051222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 VIDEO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773430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SEGMENTATION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4" name="Picture 3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320" y="847090"/>
            <a:ext cx="10087610" cy="5855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METRICS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913765"/>
            <a:ext cx="4476750" cy="580072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889250" y="1629410"/>
            <a:ext cx="521970" cy="59880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3236595" y="4562475"/>
            <a:ext cx="521970" cy="59880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714625" y="5721350"/>
            <a:ext cx="521970" cy="59880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335" y="1747520"/>
            <a:ext cx="2085975" cy="1800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345" y="1137920"/>
            <a:ext cx="2343150" cy="609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870" y="1325245"/>
            <a:ext cx="2352675" cy="6762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1812290"/>
            <a:ext cx="2324100" cy="62865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H="1">
            <a:off x="7531735" y="2545715"/>
            <a:ext cx="1583055" cy="12573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515" y="2374265"/>
            <a:ext cx="2343150" cy="6572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7060" y="2505710"/>
            <a:ext cx="2419350" cy="666750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H="1">
            <a:off x="7501890" y="2799715"/>
            <a:ext cx="1303655" cy="12604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4510" y="4060190"/>
            <a:ext cx="2409825" cy="6381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1435" y="3237230"/>
            <a:ext cx="23717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METRICS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675" y="2153285"/>
            <a:ext cx="1466850" cy="1123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105" y="2733675"/>
            <a:ext cx="1885950" cy="1390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80" y="1668780"/>
            <a:ext cx="2362200" cy="6953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15" y="1725930"/>
            <a:ext cx="2352675" cy="6381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7010" y="2882900"/>
            <a:ext cx="2419350" cy="6477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185" y="3137535"/>
            <a:ext cx="2419350" cy="6191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635" y="3842385"/>
            <a:ext cx="2343150" cy="6381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5795" y="4760595"/>
            <a:ext cx="2314575" cy="619125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 flipH="1">
            <a:off x="8919210" y="3655060"/>
            <a:ext cx="347345" cy="10998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635" y="2914650"/>
            <a:ext cx="2409825" cy="647700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 flipV="1">
            <a:off x="9362440" y="1780540"/>
            <a:ext cx="823595" cy="11303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6475" y="1186180"/>
            <a:ext cx="2295525" cy="5905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6480" y="760730"/>
            <a:ext cx="2314575" cy="647700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H="1" flipV="1">
            <a:off x="8810625" y="1416685"/>
            <a:ext cx="306070" cy="15132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6535" y="2202815"/>
            <a:ext cx="2352675" cy="65722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6505" y="3890645"/>
            <a:ext cx="2333625" cy="628650"/>
          </a:xfrm>
          <a:prstGeom prst="rect">
            <a:avLst/>
          </a:prstGeom>
        </p:spPr>
      </p:pic>
      <p:cxnSp>
        <p:nvCxnSpPr>
          <p:cNvPr id="35" name="Straight Arrow Connector 34"/>
          <p:cNvCxnSpPr>
            <a:endCxn id="34" idx="0"/>
          </p:cNvCxnSpPr>
          <p:nvPr/>
        </p:nvCxnSpPr>
        <p:spPr>
          <a:xfrm flipH="1">
            <a:off x="7493635" y="3380105"/>
            <a:ext cx="1202055" cy="5105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0870" y="2933700"/>
            <a:ext cx="2333625" cy="62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DATASETS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4275" y="1719580"/>
            <a:ext cx="2667000" cy="1047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45" y="3289935"/>
            <a:ext cx="1724025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520" y="4821555"/>
            <a:ext cx="1762125" cy="514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" y="1360170"/>
            <a:ext cx="8515350" cy="465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5010" y="3044825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Airy scan_40A_UAS-TMEM-HA_CB_0h_2_051222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 VIDEO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773430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SEGMENTATION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675640"/>
            <a:ext cx="10235565" cy="59416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378700" y="1793240"/>
            <a:ext cx="636270" cy="6654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7505700" y="3615690"/>
            <a:ext cx="636270" cy="6654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3465830" y="4281170"/>
            <a:ext cx="636270" cy="6654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869430" y="4946650"/>
            <a:ext cx="636270" cy="6654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METRICS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0450" y="4211320"/>
            <a:ext cx="2181225" cy="18288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760" y="1256665"/>
            <a:ext cx="3158490" cy="186626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1582420"/>
            <a:ext cx="885825" cy="31337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05" y="3992245"/>
            <a:ext cx="2381250" cy="7239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555" y="3929380"/>
            <a:ext cx="2381250" cy="6191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4855210"/>
            <a:ext cx="2400300" cy="67627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900" y="4618990"/>
            <a:ext cx="2390775" cy="6477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8665" y="5354320"/>
            <a:ext cx="2238375" cy="6858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8175" y="5531485"/>
            <a:ext cx="1333500" cy="63817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685" y="2265680"/>
            <a:ext cx="2381250" cy="6477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8720" y="1296670"/>
            <a:ext cx="2333625" cy="60007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8905" y="2016760"/>
            <a:ext cx="1912620" cy="57340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4575" y="2710815"/>
            <a:ext cx="2343150" cy="6477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028190"/>
            <a:ext cx="2333625" cy="56197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5905" y="833120"/>
            <a:ext cx="2362200" cy="657225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>
            <a:off x="2444115" y="1861185"/>
            <a:ext cx="113030" cy="124269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1415" y="3068320"/>
            <a:ext cx="2343150" cy="62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DATASETS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6330" y="965835"/>
            <a:ext cx="2667000" cy="1047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695" y="2395220"/>
            <a:ext cx="1771650" cy="523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645" y="3131185"/>
            <a:ext cx="1790700" cy="1000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5" y="1054100"/>
            <a:ext cx="7800975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960" y="2846070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Airy scan_40A_UAS-TMEM-HA_CB_4h_1_051222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 VIDEO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6240" y="878205"/>
            <a:ext cx="11399520" cy="5699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SEGMENTATION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Picture 3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773430"/>
            <a:ext cx="10473690" cy="608012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47660" y="3924935"/>
            <a:ext cx="626745" cy="59817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5536565" y="4319905"/>
            <a:ext cx="626745" cy="59817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5782945" y="2021205"/>
            <a:ext cx="626745" cy="59817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2614930" y="2619375"/>
            <a:ext cx="626745" cy="59817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5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7150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METRICS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1060450"/>
            <a:ext cx="1381125" cy="219075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05" y="475615"/>
            <a:ext cx="1800225" cy="202882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9435"/>
            <a:ext cx="1790700" cy="157162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025" y="3578225"/>
            <a:ext cx="1381125" cy="162877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640080"/>
            <a:ext cx="2314575" cy="61912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90" y="1716405"/>
            <a:ext cx="2390775" cy="6477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335" y="2762250"/>
            <a:ext cx="2381250" cy="66675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949065"/>
            <a:ext cx="1851660" cy="47815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860290"/>
            <a:ext cx="1365250" cy="34671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2595" y="4559300"/>
            <a:ext cx="2362200" cy="6477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9570" y="5294630"/>
            <a:ext cx="2333625" cy="6477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" y="6113780"/>
            <a:ext cx="2352675" cy="590550"/>
          </a:xfrm>
          <a:prstGeom prst="rect">
            <a:avLst/>
          </a:prstGeom>
        </p:spPr>
      </p:pic>
      <p:cxnSp>
        <p:nvCxnSpPr>
          <p:cNvPr id="48" name="Straight Arrow Connector 47"/>
          <p:cNvCxnSpPr>
            <a:endCxn id="47" idx="0"/>
          </p:cNvCxnSpPr>
          <p:nvPr/>
        </p:nvCxnSpPr>
        <p:spPr>
          <a:xfrm>
            <a:off x="1224280" y="5728970"/>
            <a:ext cx="231775" cy="3848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7905" y="331470"/>
            <a:ext cx="2324100" cy="60007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8515" y="331470"/>
            <a:ext cx="2324100" cy="6096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1840" y="1373505"/>
            <a:ext cx="2390775" cy="65722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4600" y="941070"/>
            <a:ext cx="1986280" cy="51435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0025" y="2030730"/>
            <a:ext cx="2314575" cy="638175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94190" y="1590675"/>
            <a:ext cx="2257425" cy="628650"/>
          </a:xfrm>
          <a:prstGeom prst="rect">
            <a:avLst/>
          </a:prstGeom>
        </p:spPr>
      </p:pic>
      <p:cxnSp>
        <p:nvCxnSpPr>
          <p:cNvPr id="55" name="Straight Arrow Connector 54"/>
          <p:cNvCxnSpPr/>
          <p:nvPr/>
        </p:nvCxnSpPr>
        <p:spPr>
          <a:xfrm>
            <a:off x="9074150" y="1809115"/>
            <a:ext cx="344805" cy="6705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6" name="Picture 5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8955" y="2354580"/>
            <a:ext cx="2390775" cy="657225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2790" y="3090545"/>
            <a:ext cx="2295525" cy="657225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05475" y="3429000"/>
            <a:ext cx="2305050" cy="581025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05475" y="4427220"/>
            <a:ext cx="2362200" cy="62865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2790" y="3768090"/>
            <a:ext cx="2333625" cy="619125"/>
          </a:xfrm>
          <a:prstGeom prst="rect">
            <a:avLst/>
          </a:prstGeom>
        </p:spPr>
      </p:pic>
      <p:cxnSp>
        <p:nvCxnSpPr>
          <p:cNvPr id="61" name="Straight Arrow Connector 60"/>
          <p:cNvCxnSpPr/>
          <p:nvPr/>
        </p:nvCxnSpPr>
        <p:spPr>
          <a:xfrm>
            <a:off x="8646160" y="4587240"/>
            <a:ext cx="795020" cy="2298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" name="Picture 6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48165" y="4530725"/>
            <a:ext cx="2343150" cy="676275"/>
          </a:xfrm>
          <a:prstGeom prst="rect">
            <a:avLst/>
          </a:prstGeom>
        </p:spPr>
      </p:pic>
      <p:cxnSp>
        <p:nvCxnSpPr>
          <p:cNvPr id="63" name="Straight Arrow Connector 62"/>
          <p:cNvCxnSpPr/>
          <p:nvPr/>
        </p:nvCxnSpPr>
        <p:spPr>
          <a:xfrm flipH="1">
            <a:off x="7161530" y="4883785"/>
            <a:ext cx="1341120" cy="8140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4" name="Picture 6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1420" y="5697855"/>
            <a:ext cx="2381250" cy="60007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64600" y="5207000"/>
            <a:ext cx="234315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DATASETS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859790"/>
            <a:ext cx="2638425" cy="1047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005" y="2200275"/>
            <a:ext cx="1762125" cy="12287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430" y="3871595"/>
            <a:ext cx="1790700" cy="714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70280"/>
            <a:ext cx="7715250" cy="5572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2846070"/>
            <a:ext cx="10972800" cy="582613"/>
          </a:xfrm>
        </p:spPr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Airy scan_40A_UAS-TMEM-HA_CB_4h_2_051222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DETECTION VIDEO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ch2_raw_and_fused_all_viz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5795" y="877570"/>
            <a:ext cx="10936605" cy="5401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SEGMENTATION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285" y="963295"/>
            <a:ext cx="9663430" cy="560959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886575" y="1899285"/>
            <a:ext cx="675005" cy="6273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5701030" y="3348355"/>
            <a:ext cx="675005" cy="6273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6096000" y="4382770"/>
            <a:ext cx="675005" cy="62738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6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METRICS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485" y="1272540"/>
            <a:ext cx="1990725" cy="1943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845" y="4398645"/>
            <a:ext cx="2105025" cy="1533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810" y="4175125"/>
            <a:ext cx="1676400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5" y="255270"/>
            <a:ext cx="1400175" cy="790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315" y="255270"/>
            <a:ext cx="2438400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920" y="927100"/>
            <a:ext cx="2314575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275" y="1560830"/>
            <a:ext cx="1706880" cy="4927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5245" y="2077720"/>
            <a:ext cx="1692910" cy="4216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7585" y="2711450"/>
            <a:ext cx="2083435" cy="5441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5" y="2733040"/>
            <a:ext cx="2169160" cy="5226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85" y="1929765"/>
            <a:ext cx="1437640" cy="6286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0990" y="4802505"/>
            <a:ext cx="1854835" cy="4768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0300" y="5448935"/>
            <a:ext cx="1765300" cy="4832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30" y="5086350"/>
            <a:ext cx="1828800" cy="44640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7810" y="3373755"/>
            <a:ext cx="2092960" cy="55372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685" y="4045585"/>
            <a:ext cx="1878965" cy="50419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V="1">
            <a:off x="2362835" y="3954145"/>
            <a:ext cx="67310" cy="68453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1457325" y="4549775"/>
            <a:ext cx="775970" cy="3397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415" y="5829300"/>
            <a:ext cx="2217420" cy="548005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22" idx="0"/>
          </p:cNvCxnSpPr>
          <p:nvPr/>
        </p:nvCxnSpPr>
        <p:spPr>
          <a:xfrm flipH="1">
            <a:off x="1254125" y="4951095"/>
            <a:ext cx="1239520" cy="8782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92945" y="4476750"/>
            <a:ext cx="2362200" cy="6096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6405" y="5339080"/>
            <a:ext cx="1774190" cy="4902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3730" y="5790565"/>
            <a:ext cx="2352675" cy="6191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24395" y="5320665"/>
            <a:ext cx="1456055" cy="36576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3700" y="4645025"/>
            <a:ext cx="2305050" cy="571500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8862060" y="5279390"/>
            <a:ext cx="1120775" cy="11658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41" idx="3"/>
          </p:cNvCxnSpPr>
          <p:nvPr/>
        </p:nvCxnSpPr>
        <p:spPr>
          <a:xfrm flipH="1" flipV="1">
            <a:off x="6864985" y="3728085"/>
            <a:ext cx="1454785" cy="1280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879590" y="2872740"/>
            <a:ext cx="1677035" cy="19297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8124825" y="2144395"/>
            <a:ext cx="669925" cy="25857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8862060" y="2719070"/>
            <a:ext cx="517525" cy="198183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571230" y="3868420"/>
            <a:ext cx="1402080" cy="12839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82835" y="6200775"/>
            <a:ext cx="2156460" cy="59055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48850" y="3215640"/>
            <a:ext cx="2343150" cy="61912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0825" y="2077720"/>
            <a:ext cx="2362200" cy="61912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89700" y="1542415"/>
            <a:ext cx="2305050" cy="6096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85460" y="2487295"/>
            <a:ext cx="1304925" cy="62865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31360" y="3408680"/>
            <a:ext cx="2333625" cy="638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DATASETS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855" y="1023620"/>
            <a:ext cx="2628900" cy="1009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245" y="2615565"/>
            <a:ext cx="1895475" cy="1028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4526915"/>
            <a:ext cx="1704975" cy="485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33450"/>
            <a:ext cx="7762875" cy="592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</p:tagLst>
</file>

<file path=ppt/tags/tag3.xml><?xml version="1.0" encoding="utf-8"?>
<p:tagLst xmlns:p="http://schemas.openxmlformats.org/presentationml/2006/main">
  <p:tag name="KSO_WM_MEDIACOVER_FLAG" val="1"/>
  <p:tag name="KSO_WM_UNIT_MEDIACOVER_BTN_STATE" val="1"/>
</p:tagLst>
</file>

<file path=ppt/tags/tag4.xml><?xml version="1.0" encoding="utf-8"?>
<p:tagLst xmlns:p="http://schemas.openxmlformats.org/presentationml/2006/main">
  <p:tag name="KSO_WM_MEDIACOVER_FLAG" val="1"/>
  <p:tag name="KSO_WM_UNIT_MEDIACOVER_BTN_STATE" val="1"/>
</p:tagLst>
</file>

<file path=ppt/tags/tag5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1674</Words>
  <Application>WPS Presentation</Application>
  <PresentationFormat>Panorámica</PresentationFormat>
  <Paragraphs>121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SimSun</vt:lpstr>
      <vt:lpstr>Wingdings</vt:lpstr>
      <vt:lpstr>Wingdings</vt:lpstr>
      <vt:lpstr>Arial</vt:lpstr>
      <vt:lpstr>Microsoft YaHei</vt:lpstr>
      <vt:lpstr>Arial Unicode MS</vt:lpstr>
      <vt:lpstr>Calibri</vt:lpstr>
      <vt:lpstr>1_Green Color</vt:lpstr>
      <vt:lpstr>PowerPoint 演示文稿</vt:lpstr>
      <vt:lpstr>LAST MEETING</vt:lpstr>
      <vt:lpstr>FILES</vt:lpstr>
      <vt:lpstr>40A_UAS-TMEM1923x-HA x 71G10 40A MARCM_L3_1_Airy_010724</vt:lpstr>
      <vt:lpstr>DETECTION VIDEO</vt:lpstr>
      <vt:lpstr>SEGMENTATION</vt:lpstr>
      <vt:lpstr>METRICS</vt:lpstr>
      <vt:lpstr>METRICS</vt:lpstr>
      <vt:lpstr>DATASET LYSOSOMES(ORDER FOR CELL ID)</vt:lpstr>
      <vt:lpstr>PowerPoint 演示文稿</vt:lpstr>
      <vt:lpstr>DETECTION VIDEO</vt:lpstr>
      <vt:lpstr>SEGMENTATION</vt:lpstr>
      <vt:lpstr>METRICS</vt:lpstr>
      <vt:lpstr>METRICS</vt:lpstr>
      <vt:lpstr>DATASETS</vt:lpstr>
      <vt:lpstr>Airy scan_40A_UAS-TMEM-HA_CB_0h_2_051222</vt:lpstr>
      <vt:lpstr>DETECTION VIDEO</vt:lpstr>
      <vt:lpstr>SEGMENTATION</vt:lpstr>
      <vt:lpstr>METRICS</vt:lpstr>
      <vt:lpstr>DATASETS</vt:lpstr>
      <vt:lpstr>Airy scan_40A_UAS-TMEM-HA_CB_4h_1_051222</vt:lpstr>
      <vt:lpstr>DETECTION VIDEO</vt:lpstr>
      <vt:lpstr>SEGMENTATION</vt:lpstr>
      <vt:lpstr>METRICS</vt:lpstr>
      <vt:lpstr>DATASETS</vt:lpstr>
      <vt:lpstr>Airy scan_40A_UAS-TMEM-HA_CB_4h_2_051222</vt:lpstr>
      <vt:lpstr>DETECTION VIDEO</vt:lpstr>
      <vt:lpstr>SEGMENTATION</vt:lpstr>
      <vt:lpstr>METRICS</vt:lpstr>
      <vt:lpstr>DATASETS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Nahuel-Hernan Ramos</dc:creator>
  <cp:lastModifiedBy>nahue</cp:lastModifiedBy>
  <cp:revision>769</cp:revision>
  <dcterms:created xsi:type="dcterms:W3CDTF">2024-11-18T13:41:00Z</dcterms:created>
  <dcterms:modified xsi:type="dcterms:W3CDTF">2025-12-03T10:00:00Z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FFF0C6D95A634534AC36C6F8A2C3A8A5_13</vt:lpwstr>
  </property>
  <property fmtid="{D5CDD505-2E9C-101B-9397-08002B2CF9AE}" pid="3" name="KSOProductBuildVer">
    <vt:lpwstr>2057-12.2.0.23155</vt:lpwstr>
  </property>
</Properties>
</file>