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880" cy="574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880" cy="574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76960" cy="4944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76960" cy="4944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507680" cy="1317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50520" cy="8161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50520" cy="3676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75720" cy="8161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75720" cy="3676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7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8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" name="PlaceHolder 1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4720" cy="1592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4280" cy="4865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4720" cy="3803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4720" cy="1592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4280" cy="4865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4720" cy="3803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35280" cy="592920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18640" cy="592920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48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35360" cy="1074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880" cy="574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4880" cy="494496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880" cy="5745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4880" cy="4944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4200" cy="6850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07680" cy="2844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07680" cy="14922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5272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36800" cy="468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30560" cy="289260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19/2/2025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64880" cy="75420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AXONS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GUI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228600" y="685800"/>
            <a:ext cx="11655000" cy="909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New parameters in Advanced Settings:</a:t>
            </a:r>
            <a:r>
              <a:rPr lang="en-US" sz="3000" b="0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Coseno minimum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Intensity minimum fraction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Local Threshold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OpenSymbol"/>
              <a:buChar char="▪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OpenSymbol"/>
              <a:buChar char="▪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-45720"/>
            <a:ext cx="1096488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Coseno minimum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228600" y="685800"/>
            <a:ext cx="11655000" cy="66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Are the two pieces pointing toward each other?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Imagine two broken sticks on a table then: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If both sticks are pointing at each other → it makes sense to connect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If one stick is pointing sideways → connecting them would look unnatural.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What it actually measures?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compares: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direction of neurite A, direction of neurite B and direction of the line between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calculates a value between: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 min = -1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(completely opposite)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                 cos min = 0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(90° angle)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       cos min = +1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(perfectly aligned)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1371600" y="5029200"/>
            <a:ext cx="228240" cy="1371240"/>
          </a:xfrm>
          <a:prstGeom prst="up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78" name=""/>
          <p:cNvSpPr/>
          <p:nvPr/>
        </p:nvSpPr>
        <p:spPr>
          <a:xfrm>
            <a:off x="2057400" y="5029200"/>
            <a:ext cx="228240" cy="1371240"/>
          </a:xfrm>
          <a:prstGeom prst="down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79" name=""/>
          <p:cNvSpPr/>
          <p:nvPr/>
        </p:nvSpPr>
        <p:spPr>
          <a:xfrm>
            <a:off x="5715000" y="5029200"/>
            <a:ext cx="228240" cy="1371240"/>
          </a:xfrm>
          <a:prstGeom prst="down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0" name=""/>
          <p:cNvSpPr/>
          <p:nvPr/>
        </p:nvSpPr>
        <p:spPr>
          <a:xfrm>
            <a:off x="5943600" y="6400800"/>
            <a:ext cx="1599840" cy="228240"/>
          </a:xfrm>
          <a:prstGeom prst="leftArrow">
            <a:avLst>
              <a:gd name="adj1" fmla="val 50000"/>
              <a:gd name="adj2" fmla="val 175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1" name=""/>
          <p:cNvSpPr/>
          <p:nvPr/>
        </p:nvSpPr>
        <p:spPr>
          <a:xfrm>
            <a:off x="9601200" y="5029200"/>
            <a:ext cx="228240" cy="4568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2" name=""/>
          <p:cNvSpPr/>
          <p:nvPr/>
        </p:nvSpPr>
        <p:spPr>
          <a:xfrm>
            <a:off x="9601200" y="5715000"/>
            <a:ext cx="228240" cy="45684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3" name=""/>
          <p:cNvSpPr/>
          <p:nvPr/>
        </p:nvSpPr>
        <p:spPr>
          <a:xfrm>
            <a:off x="1371960" y="5029200"/>
            <a:ext cx="228240" cy="1371240"/>
          </a:xfrm>
          <a:prstGeom prst="up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4" name=""/>
          <p:cNvSpPr/>
          <p:nvPr/>
        </p:nvSpPr>
        <p:spPr>
          <a:xfrm>
            <a:off x="6172200" y="511200"/>
            <a:ext cx="5486040" cy="1180800"/>
          </a:xfrm>
          <a:prstGeom prst="rect">
            <a:avLst/>
          </a:prstGeom>
          <a:solidFill>
            <a:srgbClr val="b7b3ca"/>
          </a:solidFill>
          <a:ln w="183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800080"/>
                </a:solidFill>
                <a:effectLst/>
                <a:uFillTx/>
                <a:latin typeface="Arial"/>
              </a:rPr>
              <a:t>This value is called the cosine of the angle.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800080"/>
                </a:solidFill>
                <a:effectLst/>
                <a:uFillTx/>
                <a:latin typeface="Arial"/>
              </a:rPr>
              <a:t>What cos_min does?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Only connect fragments if their alignment is at least this good.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-45720"/>
            <a:ext cx="1096488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Coseno minimum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6" name=""/>
          <p:cNvGraphicFramePr/>
          <p:nvPr/>
        </p:nvGraphicFramePr>
        <p:xfrm>
          <a:off x="183960" y="671760"/>
          <a:ext cx="7613280" cy="412056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HIGH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0.6-0.8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-Only connect pieces that are very well aligned.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-Very safe.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-May miss curved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“Only connect if they are almost in a straight line.”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LOW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0.2-0.3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-Connect curved or bending neurites.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-Helps fragmented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-Risk of connecting wrong things.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“Even if they bend a bit, it’s fine.”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7" name=""/>
          <p:cNvGraphicFramePr/>
          <p:nvPr/>
        </p:nvGraphicFramePr>
        <p:xfrm>
          <a:off x="6164640" y="4948560"/>
          <a:ext cx="5075280" cy="173160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Almost perfectly straight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Some bending allowed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Quite flexible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Anything goes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 minimum fraction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228600" y="685800"/>
            <a:ext cx="11655000" cy="703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Is the path between them bright enough?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Now imagine drawing a line between two broken neurite ends.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That line passes through some pixels.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3465a4"/>
                </a:solidFill>
                <a:effectLst/>
                <a:uFillTx/>
                <a:latin typeface="Arial"/>
                <a:ea typeface="SimSun"/>
              </a:rPr>
              <a:t>This parameter asks: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3465a4"/>
                </a:solidFill>
                <a:effectLst/>
                <a:uFillTx/>
                <a:latin typeface="Arial"/>
                <a:ea typeface="SimSun"/>
              </a:rPr>
              <a:t>“Are most of those pixels bright like neurites?”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What it actually measures?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checks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: Fraction of pixels along the bridge path that are bright enough.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What intensity_min_frac does?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says: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“Only connect if at least X% of the path looks like real neurite signal.”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609480" y="-45720"/>
            <a:ext cx="1096488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 minimum fraction  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1" name=""/>
          <p:cNvGraphicFramePr/>
          <p:nvPr/>
        </p:nvGraphicFramePr>
        <p:xfrm>
          <a:off x="183960" y="671760"/>
          <a:ext cx="11017080" cy="6109920"/>
        </p:xfrm>
        <a:graphic>
          <a:graphicData uri="http://schemas.openxmlformats.org/drawingml/2006/table">
            <a:tbl>
              <a:tblPr/>
              <a:tblGrid>
                <a:gridCol w="3672000"/>
                <a:gridCol w="3672360"/>
                <a:gridCol w="3673080"/>
              </a:tblGrid>
              <a:tr h="60264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intensity_min_frac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77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HIGH 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0.7-0.8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Only connect through bright regions.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-Very safe.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 May fail if neurites are dim.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“The path must look very clearly like neurite.”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7768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LOW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0.4-0.5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Works for faint neurites.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Bridges gaps in low signal.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 May connect through noisy background.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“It’s okay if only half the path looks bright.”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Intensity_min_fract.VS.cos_min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228600" y="685800"/>
            <a:ext cx="11655000" cy="718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 Big Difference Between Them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How They Work Together?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Connection is allowed only if: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✔ The pieces are pointing toward each other (cos_min)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✔ The path between them looks bright enough (intensity_min_frac)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So you get: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Geometric check + Intensity check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"/>
          <p:cNvGraphicFramePr/>
          <p:nvPr/>
        </p:nvGraphicFramePr>
        <p:xfrm>
          <a:off x="457200" y="1200960"/>
          <a:ext cx="10743480" cy="1314360"/>
        </p:xfrm>
        <a:graphic>
          <a:graphicData uri="http://schemas.openxmlformats.org/drawingml/2006/table">
            <a:tbl>
              <a:tblPr/>
              <a:tblGrid>
                <a:gridCol w="3580560"/>
                <a:gridCol w="3580560"/>
                <a:gridCol w="3582720"/>
              </a:tblGrid>
              <a:tr h="32796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Parameter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Checks WHAT?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Geometry (shape &amp; direction)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One checks structure alignment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intensity_min_frac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Signal (brightness along path)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One checks image intensity quality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5" name=""/>
          <p:cNvSpPr/>
          <p:nvPr/>
        </p:nvSpPr>
        <p:spPr>
          <a:xfrm>
            <a:off x="6172200" y="4473360"/>
            <a:ext cx="4876560" cy="2155680"/>
          </a:xfrm>
          <a:prstGeom prst="rect">
            <a:avLst/>
          </a:prstGeom>
          <a:solidFill>
            <a:srgbClr val="b7b3ca"/>
          </a:solidFill>
          <a:ln w="183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Summary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cos_min: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Are they pointing at each other?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intensity_min_frac: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Does the connection path actually look like neurite?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Intensity_min_fract.VS.cos_min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228600" y="685800"/>
            <a:ext cx="11655000" cy="275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Examples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"/>
          <p:cNvGraphicFramePr/>
          <p:nvPr/>
        </p:nvGraphicFramePr>
        <p:xfrm>
          <a:off x="2107080" y="713520"/>
          <a:ext cx="8686440" cy="1040040"/>
        </p:xfrm>
        <a:graphic>
          <a:graphicData uri="http://schemas.openxmlformats.org/drawingml/2006/table">
            <a:tbl>
              <a:tblPr/>
              <a:tblGrid>
                <a:gridCol w="2894760"/>
                <a:gridCol w="2894760"/>
                <a:gridCol w="2897280"/>
              </a:tblGrid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INTESITY_MIN_FRACT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Very straight and bright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0.5–0.6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Curved and dim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0.2–0.3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0.4–0.5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99" name=""/>
          <p:cNvPicPr/>
          <p:nvPr/>
        </p:nvPicPr>
        <p:blipFill>
          <a:blip r:embed="rId1"/>
          <a:stretch/>
        </p:blipFill>
        <p:spPr>
          <a:xfrm>
            <a:off x="3061440" y="1888200"/>
            <a:ext cx="6768000" cy="4512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232200" y="1828800"/>
            <a:ext cx="11655000" cy="606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 parameters: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block size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offset std multiplier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They control how the neurite mask is created from the CH2 image.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So they determine: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Which pixels become neurite (white) and which become background (black)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/>
          <p:nvPr/>
        </p:nvSpPr>
        <p:spPr>
          <a:xfrm>
            <a:off x="609840" y="45720"/>
            <a:ext cx="1096488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Local Threshold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"/>
          <p:cNvPicPr/>
          <p:nvPr/>
        </p:nvPicPr>
        <p:blipFill>
          <a:blip r:embed="rId1"/>
          <a:stretch/>
        </p:blipFill>
        <p:spPr>
          <a:xfrm>
            <a:off x="1600200" y="685800"/>
            <a:ext cx="8735040" cy="1018800"/>
          </a:xfrm>
          <a:prstGeom prst="rect">
            <a:avLst/>
          </a:prstGeom>
          <a:noFill/>
          <a:ln w="36720">
            <a:solidFill>
              <a:srgbClr val="3465a4"/>
            </a:solidFill>
            <a:round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"/>
          <p:cNvSpPr/>
          <p:nvPr/>
        </p:nvSpPr>
        <p:spPr>
          <a:xfrm>
            <a:off x="228600" y="685800"/>
            <a:ext cx="11655000" cy="39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How big is the neighborhood we look at?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Imagine you are deciding:Is this pixel part of a neurite?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Instead of comparing it to the whole image, you compare it only to pixels around it. How big that local neighborhood is.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Example: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block_size = 3-&gt;Each pixel is compared to the average of a 3 × 3 square around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2"/>
          <p:cNvSpPr/>
          <p:nvPr/>
        </p:nvSpPr>
        <p:spPr>
          <a:xfrm>
            <a:off x="609840" y="-720"/>
            <a:ext cx="10964880" cy="58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3429000" y="3657600"/>
            <a:ext cx="685800" cy="685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4800960" y="5029200"/>
            <a:ext cx="685800" cy="685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114800" y="5029200"/>
            <a:ext cx="685800" cy="685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3429360" y="5029200"/>
            <a:ext cx="685800" cy="685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4800600" y="4343400"/>
            <a:ext cx="685800" cy="685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4800600" y="3657600"/>
            <a:ext cx="685800" cy="685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4115160" y="4343400"/>
            <a:ext cx="685800" cy="685800"/>
          </a:xfrm>
          <a:prstGeom prst="rect">
            <a:avLst/>
          </a:prstGeom>
          <a:solidFill>
            <a:srgbClr val="fff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114800" y="3657600"/>
            <a:ext cx="685800" cy="685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3429360" y="4343400"/>
            <a:ext cx="685800" cy="685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7086600" y="3657600"/>
            <a:ext cx="685800" cy="68580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8458560" y="5029200"/>
            <a:ext cx="685800" cy="68580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7772400" y="5029200"/>
            <a:ext cx="685800" cy="68580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7086960" y="5029200"/>
            <a:ext cx="685800" cy="68580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8458200" y="4343400"/>
            <a:ext cx="685800" cy="68580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8458200" y="3657600"/>
            <a:ext cx="685800" cy="68580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7772760" y="4343400"/>
            <a:ext cx="685800" cy="68580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7772400" y="3657600"/>
            <a:ext cx="685800" cy="68580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7086960" y="4343400"/>
            <a:ext cx="685800" cy="68580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9372600" y="3657600"/>
            <a:ext cx="685800" cy="68580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9372600" y="4800600"/>
            <a:ext cx="685800" cy="68580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10058400" y="3657600"/>
            <a:ext cx="20574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FOREGROUND  (NEURITES)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10058400" y="4800600"/>
            <a:ext cx="20574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BACKGROUND (NOT NEURITES)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4"/>
          <p:cNvSpPr/>
          <p:nvPr/>
        </p:nvSpPr>
        <p:spPr>
          <a:xfrm>
            <a:off x="609840" y="45720"/>
            <a:ext cx="1096488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8" name=""/>
          <p:cNvGraphicFramePr/>
          <p:nvPr/>
        </p:nvGraphicFramePr>
        <p:xfrm>
          <a:off x="1827000" y="733680"/>
          <a:ext cx="8458200" cy="5715000"/>
        </p:xfrm>
        <a:graphic>
          <a:graphicData uri="http://schemas.openxmlformats.org/drawingml/2006/table">
            <a:tbl>
              <a:tblPr/>
              <a:tblGrid>
                <a:gridCol w="2113560"/>
                <a:gridCol w="1047600"/>
                <a:gridCol w="3818880"/>
                <a:gridCol w="1478160"/>
              </a:tblGrid>
              <a:tr h="2721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SIZE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DESCRIPTION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MEANING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695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BIG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201-301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Threshold changes slowly across image.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Good for smooth illumination.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Good for thick neurites.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May miss very thin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Can create small gaps in thin areas.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simply words: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“You judge brightness compared to a large region.”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Smooth, conservative mask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697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SMALL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51-91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Detects thin neurites </a:t>
                      </a: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better.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Adapts quickly to </a:t>
                      </a: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local changes.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More sensitive to </a:t>
                      </a: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noise.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 Mask may look </a:t>
                      </a: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patchy.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simply words: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“You judge brightness </a:t>
                      </a: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compared to a tiny </a:t>
                      </a: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neighborhood.”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Sensit</a:t>
                      </a: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ive, </a:t>
                      </a: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detail</a:t>
                      </a: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ed </a:t>
                      </a: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mask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-1440"/>
            <a:ext cx="10964880" cy="58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228600" y="685800"/>
            <a:ext cx="11655000" cy="75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How strict are we?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This controls how much we lower the threshold so this value decides how easy it is for a pixel to be considered neurite.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pixels along that line are mostly bright (neurite-like) → accept the bridge.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line goes through dark background → reject it.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B) Shortest-path stitching in an intensity cost map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Instead of a straight line, search for a path between endpoints in a small region, make bright pixels “cheap” to pass and dark pixels “expensive.”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a low-cost (bright-following) path exists, connect along it and helps follow curved neurites and avoids dark gaps.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Then ask: Is there a low-cost path between the two endpoints inside a small box?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yes → connect along that curved path.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the only possible path goes through dark pixels (high cost) → don’t connect.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/>
          <p:nvPr/>
        </p:nvSpPr>
        <p:spPr>
          <a:xfrm>
            <a:off x="914400" y="914400"/>
            <a:ext cx="1005480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6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Add new layers to filter per cells ID and lysosomes ID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5"/>
          <p:cNvSpPr/>
          <p:nvPr/>
        </p:nvSpPr>
        <p:spPr>
          <a:xfrm>
            <a:off x="609480" y="235800"/>
            <a:ext cx="1096488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VIEWER LAYERS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459360" y="71640"/>
            <a:ext cx="10964880" cy="6343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FILES: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-Airy scan_40A_UAS-TMEM-HA_axon_0h_again_2_051222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-Airy scan_40A_UAS-TMEM-HA_axon_0h_again_3_051222</a:t>
            </a:r>
            <a:br>
              <a:rPr sz="3200"/>
            </a:br>
            <a:br>
              <a:rPr sz="3200"/>
            </a:br>
            <a:br>
              <a:rPr sz="3200"/>
            </a:b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609480" y="140760"/>
            <a:ext cx="2589120" cy="67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s 104"/>
          <p:cNvSpPr/>
          <p:nvPr/>
        </p:nvSpPr>
        <p:spPr>
          <a:xfrm>
            <a:off x="0" y="1143000"/>
            <a:ext cx="2509560" cy="5252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 = 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609480" y="140040"/>
            <a:ext cx="10964880" cy="67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7" name="Picture 108"/>
          <p:cNvPicPr/>
          <p:nvPr/>
        </p:nvPicPr>
        <p:blipFill>
          <a:blip r:embed="rId1"/>
          <a:stretch/>
        </p:blipFill>
        <p:spPr>
          <a:xfrm>
            <a:off x="457200" y="914400"/>
            <a:ext cx="4959360" cy="525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8" name="Picture 109"/>
          <p:cNvPicPr/>
          <p:nvPr/>
        </p:nvPicPr>
        <p:blipFill>
          <a:blip r:embed="rId2"/>
          <a:stretch/>
        </p:blipFill>
        <p:spPr>
          <a:xfrm>
            <a:off x="5718600" y="951840"/>
            <a:ext cx="4338360" cy="522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609480" y="140040"/>
            <a:ext cx="10964880" cy="67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ectangles 111"/>
          <p:cNvSpPr/>
          <p:nvPr/>
        </p:nvSpPr>
        <p:spPr>
          <a:xfrm>
            <a:off x="360" y="1143360"/>
            <a:ext cx="2509560" cy="52527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 = 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609480" y="140040"/>
            <a:ext cx="10964880" cy="67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Picture 115"/>
          <p:cNvPicPr/>
          <p:nvPr/>
        </p:nvPicPr>
        <p:blipFill>
          <a:blip r:embed="rId1"/>
          <a:stretch/>
        </p:blipFill>
        <p:spPr>
          <a:xfrm>
            <a:off x="475920" y="914400"/>
            <a:ext cx="5234040" cy="546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3" name="Picture 116"/>
          <p:cNvPicPr/>
          <p:nvPr/>
        </p:nvPicPr>
        <p:blipFill>
          <a:blip r:embed="rId2"/>
          <a:stretch/>
        </p:blipFill>
        <p:spPr>
          <a:xfrm>
            <a:off x="5943600" y="914400"/>
            <a:ext cx="4825800" cy="5481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1192</TotalTime>
  <Application>LibreOffice/25.8.4.2$Windows_X86_64 LibreOffice_project/290daaa01b999472f0c7a3890eb6a550fd74c6df</Application>
  <AppVersion>15.0000</AppVersion>
  <Words>3518</Words>
  <Paragraphs>166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2026-02-17T17:42:22Z</dcterms:modified>
  <cp:revision>1027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01A98073925847589F8FCE52CF4D9B10_13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15</vt:i4>
  </property>
</Properties>
</file>