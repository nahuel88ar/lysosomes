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7696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7696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07680" cy="1317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0520" cy="816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0520" cy="367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75720" cy="816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75720" cy="367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7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8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720" cy="1592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4280" cy="4865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720" cy="3803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720" cy="1592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4280" cy="4865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720" cy="3803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35280" cy="59292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8640" cy="59292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8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35360" cy="1074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880" cy="49449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88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07680" cy="2844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07680" cy="1492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0560" cy="28926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19/2/2025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4880" cy="7542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GUI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28600" y="685800"/>
            <a:ext cx="11655000" cy="909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New parameters in Advanced Settings:</a:t>
            </a:r>
            <a:r>
              <a:rPr lang="en-US" sz="3000" b="0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Coseno minimum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Intensity minimum fraction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Local Threshold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OpenSymbol"/>
              <a:buChar char="▪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OpenSymbol"/>
              <a:buChar char="▪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28600" y="685800"/>
            <a:ext cx="11655000" cy="66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Are the two pieces pointing toward each other?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Imagine two broken sticks on a table then: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both sticks are pointing at each other → it makes sense to connect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one stick is pointing sideways → connecting them would look unnatural.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compares: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direction of neurite A, direction of neurite B and direction of the line between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calculates a value between: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 min = -1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(completely opposite)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          cos min = 0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(90° angle)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cos min = +1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(perfectly aligned)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1371600" y="5029200"/>
            <a:ext cx="228240" cy="137124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8" name=""/>
          <p:cNvSpPr/>
          <p:nvPr/>
        </p:nvSpPr>
        <p:spPr>
          <a:xfrm>
            <a:off x="2057400" y="5029200"/>
            <a:ext cx="228240" cy="137124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9" name=""/>
          <p:cNvSpPr/>
          <p:nvPr/>
        </p:nvSpPr>
        <p:spPr>
          <a:xfrm>
            <a:off x="5715000" y="5029200"/>
            <a:ext cx="228240" cy="137124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0" name=""/>
          <p:cNvSpPr/>
          <p:nvPr/>
        </p:nvSpPr>
        <p:spPr>
          <a:xfrm>
            <a:off x="5943600" y="6400800"/>
            <a:ext cx="1599840" cy="228240"/>
          </a:xfrm>
          <a:prstGeom prst="leftArrow">
            <a:avLst>
              <a:gd name="adj1" fmla="val 50000"/>
              <a:gd name="adj2" fmla="val 175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1" name=""/>
          <p:cNvSpPr/>
          <p:nvPr/>
        </p:nvSpPr>
        <p:spPr>
          <a:xfrm>
            <a:off x="9601200" y="5029200"/>
            <a:ext cx="228240" cy="456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2" name=""/>
          <p:cNvSpPr/>
          <p:nvPr/>
        </p:nvSpPr>
        <p:spPr>
          <a:xfrm>
            <a:off x="9601200" y="5715000"/>
            <a:ext cx="228240" cy="45684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3" name=""/>
          <p:cNvSpPr/>
          <p:nvPr/>
        </p:nvSpPr>
        <p:spPr>
          <a:xfrm>
            <a:off x="1371960" y="5029200"/>
            <a:ext cx="228240" cy="137124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4" name=""/>
          <p:cNvSpPr/>
          <p:nvPr/>
        </p:nvSpPr>
        <p:spPr>
          <a:xfrm>
            <a:off x="6172200" y="511200"/>
            <a:ext cx="5486040" cy="118080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</a:rPr>
              <a:t>This value is called the cosine of the angle.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</a:rPr>
              <a:t>What cos_min does?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Only connect fragments if their alignment is at least this good.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"/>
          <p:cNvGraphicFramePr/>
          <p:nvPr/>
        </p:nvGraphicFramePr>
        <p:xfrm>
          <a:off x="183960" y="671760"/>
          <a:ext cx="7613280" cy="412056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0.6-0.8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-Only connect pieces that are very well aligned.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-May miss curved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“Only connect if they are almost in a straight line.”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0.2-0.3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-Connect curved or bending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-Helps fragmented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-Risk of connecting wrong things.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“Even if they bend a bit, it’s fine.”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7" name=""/>
          <p:cNvGraphicFramePr/>
          <p:nvPr/>
        </p:nvGraphicFramePr>
        <p:xfrm>
          <a:off x="6164640" y="4948560"/>
          <a:ext cx="5075280" cy="17316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Almost perfectly straight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Some bending allowed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Quite flexible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Anything goes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228600" y="685800"/>
            <a:ext cx="11655000" cy="70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Is the path between them bright enough?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Now imagine drawing a line between two broken neurite ends.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That line passes through some pixels.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This parameter asks: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“Are most of those pixels bright like neurites?”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checks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: Fraction of pixels along the bridge path that are bright enough.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intensity_min_frac does?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says: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“Only connect if at least X% of the path looks like real neurite signal.”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 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"/>
          <p:cNvGraphicFramePr/>
          <p:nvPr/>
        </p:nvGraphicFramePr>
        <p:xfrm>
          <a:off x="183960" y="671760"/>
          <a:ext cx="11017080" cy="6109920"/>
        </p:xfrm>
        <a:graphic>
          <a:graphicData uri="http://schemas.openxmlformats.org/drawingml/2006/table">
            <a:tbl>
              <a:tblPr/>
              <a:tblGrid>
                <a:gridCol w="3672000"/>
                <a:gridCol w="3672360"/>
                <a:gridCol w="3673080"/>
              </a:tblGrid>
              <a:tr h="60264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0.7-0.8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Only connect through bright regions.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fail if neurites are dim.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“The path must look very clearly like neurite.”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68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0.4-0.5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Works for faint neurites.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Bridges gaps in low signal.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connect through noisy background.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“It’s okay if only half the path looks bright.  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Intensity_min_fract.VS.cos_min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28600" y="685800"/>
            <a:ext cx="11655000" cy="718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Big Difference Between Them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How They Work Together?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Connection is allowed only if: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pieces are pointing toward each other (cos_min)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path between them looks bright enough (intensity_min_frac)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So you get: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Geometric check + Intensity check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457200" y="1200960"/>
          <a:ext cx="10743480" cy="1314360"/>
        </p:xfrm>
        <a:graphic>
          <a:graphicData uri="http://schemas.openxmlformats.org/drawingml/2006/table">
            <a:tbl>
              <a:tblPr/>
              <a:tblGrid>
                <a:gridCol w="3580560"/>
                <a:gridCol w="3580560"/>
                <a:gridCol w="3582720"/>
              </a:tblGrid>
              <a:tr h="3279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Parameter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Checks WHAT?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Geometry (shape &amp; direction)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structure alignment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Signal (brightness along path)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image intensity quality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5" name=""/>
          <p:cNvSpPr/>
          <p:nvPr/>
        </p:nvSpPr>
        <p:spPr>
          <a:xfrm>
            <a:off x="6172200" y="4473360"/>
            <a:ext cx="4876560" cy="215568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Summary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cos_min: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Are they pointing at each other?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intensity_min_frac: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Does the connection path actually look like neurite?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Intensity_min_fract.VS.cos_min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28600" y="685800"/>
            <a:ext cx="11655000" cy="275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Examples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"/>
          <p:cNvGraphicFramePr/>
          <p:nvPr/>
        </p:nvGraphicFramePr>
        <p:xfrm>
          <a:off x="2107080" y="713520"/>
          <a:ext cx="8686440" cy="1040040"/>
        </p:xfrm>
        <a:graphic>
          <a:graphicData uri="http://schemas.openxmlformats.org/drawingml/2006/table">
            <a:tbl>
              <a:tblPr/>
              <a:tblGrid>
                <a:gridCol w="2894760"/>
                <a:gridCol w="2894760"/>
                <a:gridCol w="2897280"/>
              </a:tblGrid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INTESITY_MIN_FRACT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Very straight and bright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0.5–0.6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Curved and dim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0.2–0.3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0.4–0.5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99" name=""/>
          <p:cNvPicPr/>
          <p:nvPr/>
        </p:nvPicPr>
        <p:blipFill>
          <a:blip r:embed="rId1"/>
          <a:stretch/>
        </p:blipFill>
        <p:spPr>
          <a:xfrm>
            <a:off x="3061440" y="1888200"/>
            <a:ext cx="6768000" cy="451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232200" y="1828800"/>
            <a:ext cx="11655000" cy="606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parameters: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They control how the neurite mask is created from the CH2 image.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So they determine: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Which pixels become neurite (white) and which become background (black)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/>
          <p:nvPr/>
        </p:nvSpPr>
        <p:spPr>
          <a:xfrm>
            <a:off x="609840" y="45720"/>
            <a:ext cx="1096488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Local Threshold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"/>
          <p:cNvPicPr/>
          <p:nvPr/>
        </p:nvPicPr>
        <p:blipFill>
          <a:blip r:embed="rId1"/>
          <a:stretch/>
        </p:blipFill>
        <p:spPr>
          <a:xfrm>
            <a:off x="1600200" y="685800"/>
            <a:ext cx="8735040" cy="1018800"/>
          </a:xfrm>
          <a:prstGeom prst="rect">
            <a:avLst/>
          </a:prstGeom>
          <a:noFill/>
          <a:ln w="36720">
            <a:solidFill>
              <a:srgbClr val="3465a4"/>
            </a:solidFill>
            <a:round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/>
          <p:nvPr/>
        </p:nvSpPr>
        <p:spPr>
          <a:xfrm>
            <a:off x="228600" y="685800"/>
            <a:ext cx="11655000" cy="75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A) Intensity-aware bridging(straight bridge + intensity check)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Try to connect two nearby neurite endpoints with a candidate line/tube, only keep the bridge if most of the path stays bright (neurite-like) or reject bridges that pass through dark/background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pixels along that line are mostly bright (neurite-like) → accept the bridge.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line goes through dark background → reject it.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B) Shortest-path stitching in an intensity cost map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Instead of a straight line, search for a path between endpoints in a small region, make bright pixels “cheap” to pass and dark pixels “expensive.”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a low-cost (bright-following) path exists, connect along it and helps follow curved neurites and avoids dark gaps.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Then ask: Is there a low-cost path between the two endpoints inside a small box?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yes → connect along that curved path.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only possible path goes through dark pixels (high cost) → don’t connect.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/>
          <p:nvPr/>
        </p:nvSpPr>
        <p:spPr>
          <a:xfrm>
            <a:off x="609840" y="-720"/>
            <a:ext cx="10964880" cy="5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228600" y="685800"/>
            <a:ext cx="11655000" cy="75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A) Intensity-aware bridging(straight bridge + intensity check)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Try to connect two nearby neurite endpoints with a candidate line/tube, only keep the bridge if most of the path stays bright (neurite-like) or reject bridges that pass through dark/background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pixels along that line are mostly bright (neurite-like) → accept the bridge.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line goes through dark background → reject it.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B) Shortest-path stitching in an intensity cost map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Instead of a straight line, search for a path between endpoints in a small region, make bright pixels “cheap” to pass and dark pixels “expensive.”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a low-cost (bright-following) path exists, connect along it and helps follow curved neurites and avoids dark gaps.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Then ask: Is there a low-cost path between the two endpoints inside a small box?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yes → connect along that curved path.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only possible path goes through dark pixels (high cost) → don’t connect.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914400" y="914400"/>
            <a:ext cx="100548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Add new layers to filter per cells ID and lysosomes ID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5"/>
          <p:cNvSpPr/>
          <p:nvPr/>
        </p:nvSpPr>
        <p:spPr>
          <a:xfrm>
            <a:off x="609480" y="235800"/>
            <a:ext cx="109648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VIEWER LAYERS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9360" y="71640"/>
            <a:ext cx="10964880" cy="634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FILES: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scan_40A_UAS-TMEM-HA_axon_0h_again_2_051222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scan_40A_UAS-TMEM-HA_axon_0h_again_3_051222</a:t>
            </a:r>
            <a:br>
              <a:rPr sz="3200"/>
            </a:br>
            <a:br>
              <a:rPr sz="3200"/>
            </a:br>
            <a:br>
              <a:rPr sz="3200"/>
            </a:b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140760"/>
            <a:ext cx="2589120" cy="67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s 104"/>
          <p:cNvSpPr/>
          <p:nvPr/>
        </p:nvSpPr>
        <p:spPr>
          <a:xfrm>
            <a:off x="0" y="1143000"/>
            <a:ext cx="2509560" cy="5252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Picture 108"/>
          <p:cNvPicPr/>
          <p:nvPr/>
        </p:nvPicPr>
        <p:blipFill>
          <a:blip r:embed="rId1"/>
          <a:stretch/>
        </p:blipFill>
        <p:spPr>
          <a:xfrm>
            <a:off x="457200" y="914400"/>
            <a:ext cx="4959360" cy="52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" name="Picture 109"/>
          <p:cNvPicPr/>
          <p:nvPr/>
        </p:nvPicPr>
        <p:blipFill>
          <a:blip r:embed="rId2"/>
          <a:stretch/>
        </p:blipFill>
        <p:spPr>
          <a:xfrm>
            <a:off x="5718600" y="951840"/>
            <a:ext cx="4338360" cy="522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Rectangles 111"/>
          <p:cNvSpPr/>
          <p:nvPr/>
        </p:nvSpPr>
        <p:spPr>
          <a:xfrm>
            <a:off x="360" y="1143360"/>
            <a:ext cx="2509560" cy="5252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Picture 115"/>
          <p:cNvPicPr/>
          <p:nvPr/>
        </p:nvPicPr>
        <p:blipFill>
          <a:blip r:embed="rId1"/>
          <a:stretch/>
        </p:blipFill>
        <p:spPr>
          <a:xfrm>
            <a:off x="475920" y="914400"/>
            <a:ext cx="5234040" cy="546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Picture 116"/>
          <p:cNvPicPr/>
          <p:nvPr/>
        </p:nvPicPr>
        <p:blipFill>
          <a:blip r:embed="rId2"/>
          <a:stretch/>
        </p:blipFill>
        <p:spPr>
          <a:xfrm>
            <a:off x="5943600" y="914400"/>
            <a:ext cx="4825800" cy="5481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1140</TotalTime>
  <Application>LibreOffice/25.8.4.2$Windows_X86_64 LibreOffice_project/290daaa01b999472f0c7a3890eb6a550fd74c6df</Application>
  <AppVersion>15.0000</AppVersion>
  <Words>3518</Words>
  <Paragraphs>166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2026-02-17T16:20:47Z</dcterms:modified>
  <cp:revision>1022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15</vt:i4>
  </property>
</Properties>
</file>