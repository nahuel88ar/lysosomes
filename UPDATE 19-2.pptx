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520" cy="494460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Master title </a:t>
            </a: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452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7320" cy="2844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title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7320" cy="1491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4520" cy="5742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660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6600" cy="49446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7320" cy="1317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0160" cy="81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0160" cy="367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5360" cy="8157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5360" cy="367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360" cy="1591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3920" cy="4865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360" cy="3803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4360" cy="1591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3920" cy="4865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4360" cy="3803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4920" cy="59288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8280" cy="59288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6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5000" cy="1074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236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6440" cy="468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0200" cy="28922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19/2/2025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4520" cy="75384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GUI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4640" cy="90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New parameters in Advanced Settings:</a:t>
            </a: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Coseno minimum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 minimum fraction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Local Threshold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OpenSymbol"/>
              <a:buChar char="▪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minimum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4640" cy="66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Are the two pieces pointing toward each other?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Imagine two broken sticks on a table then: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both sticks are pointing at each other → it makes sense to connect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If one stick is pointing sideways → connecting them would look unnatural.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compares: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direction of neurite A, direction of neurite B and direction of the line between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calculates a value between: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 min = -1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(completely opposite)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          cos min = 0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(90° angle)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     cos min = +1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(perfectly aligned)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371600" y="5029200"/>
            <a:ext cx="227880" cy="137088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8" name=""/>
          <p:cNvSpPr/>
          <p:nvPr/>
        </p:nvSpPr>
        <p:spPr>
          <a:xfrm>
            <a:off x="2057400" y="5029200"/>
            <a:ext cx="227880" cy="137088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79" name=""/>
          <p:cNvSpPr/>
          <p:nvPr/>
        </p:nvSpPr>
        <p:spPr>
          <a:xfrm>
            <a:off x="5715000" y="5029200"/>
            <a:ext cx="227880" cy="1370880"/>
          </a:xfrm>
          <a:prstGeom prst="down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0" name=""/>
          <p:cNvSpPr/>
          <p:nvPr/>
        </p:nvSpPr>
        <p:spPr>
          <a:xfrm>
            <a:off x="5943600" y="6400800"/>
            <a:ext cx="1599480" cy="227880"/>
          </a:xfrm>
          <a:prstGeom prst="leftArrow">
            <a:avLst>
              <a:gd name="adj1" fmla="val 50000"/>
              <a:gd name="adj2" fmla="val 175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1" name=""/>
          <p:cNvSpPr/>
          <p:nvPr/>
        </p:nvSpPr>
        <p:spPr>
          <a:xfrm>
            <a:off x="9601200" y="5029200"/>
            <a:ext cx="227880" cy="456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2" name=""/>
          <p:cNvSpPr/>
          <p:nvPr/>
        </p:nvSpPr>
        <p:spPr>
          <a:xfrm>
            <a:off x="9601200" y="5715000"/>
            <a:ext cx="227880" cy="45648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3" name=""/>
          <p:cNvSpPr/>
          <p:nvPr/>
        </p:nvSpPr>
        <p:spPr>
          <a:xfrm>
            <a:off x="1371960" y="5029200"/>
            <a:ext cx="227880" cy="1370880"/>
          </a:xfrm>
          <a:prstGeom prst="upArrow">
            <a:avLst>
              <a:gd name="adj1" fmla="val 50000"/>
              <a:gd name="adj2" fmla="val 150000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84" name=""/>
          <p:cNvSpPr/>
          <p:nvPr/>
        </p:nvSpPr>
        <p:spPr>
          <a:xfrm>
            <a:off x="6172200" y="511200"/>
            <a:ext cx="5485680" cy="118044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  <a:ea typeface="SimSun"/>
              </a:rPr>
              <a:t>This value is called the cosine of the angle.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800080"/>
                </a:solidFill>
                <a:effectLst/>
                <a:uFillTx/>
                <a:latin typeface="Arial"/>
                <a:ea typeface="SimSun"/>
              </a:rPr>
              <a:t>What cos_min does?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Only connect fragments if their alignment is at least this good.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Coseno 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minimu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6" name=""/>
          <p:cNvGraphicFramePr/>
          <p:nvPr/>
        </p:nvGraphicFramePr>
        <p:xfrm>
          <a:off x="183960" y="671760"/>
          <a:ext cx="7613280" cy="41205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0.6-0.8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connect pieces that are very well aligned.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-May miss curved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connect if they are almost in a straight line.”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0.2-0.3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-Connect curved or bending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-Helps fragmented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-Risk of connecting wrong things.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if they bend a bit, it’s fine.”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7" name=""/>
          <p:cNvGraphicFramePr/>
          <p:nvPr/>
        </p:nvGraphicFramePr>
        <p:xfrm>
          <a:off x="6164640" y="4948560"/>
          <a:ext cx="5075280" cy="1731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Almost perfectly straight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Some bending allowed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Quite flexible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Anything goes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228600" y="685800"/>
            <a:ext cx="11654640" cy="70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Is the path between them bright enough?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Now imagine drawing a line between two broken neurite ends.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That line passes through some pixels.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This parameter asks: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3465a4"/>
                </a:solidFill>
                <a:effectLst/>
                <a:uFillTx/>
                <a:latin typeface="Arial"/>
                <a:ea typeface="SimSun"/>
              </a:rPr>
              <a:t>“Are most of those pixels bright like neurites?”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it actually measures?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checks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Fraction of pixels along the bridge path that are bright enough.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What intensity_min_frac does?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It says: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“Only connect if at least X% of the path looks like real neurite signal.”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-46080"/>
            <a:ext cx="10964520" cy="67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 minimum fraction  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"/>
          <p:cNvGraphicFramePr/>
          <p:nvPr/>
        </p:nvGraphicFramePr>
        <p:xfrm>
          <a:off x="183960" y="671760"/>
          <a:ext cx="11017080" cy="6109920"/>
        </p:xfrm>
        <a:graphic>
          <a:graphicData uri="http://schemas.openxmlformats.org/drawingml/2006/table">
            <a:tbl>
              <a:tblPr/>
              <a:tblGrid>
                <a:gridCol w="3672000"/>
                <a:gridCol w="3672360"/>
                <a:gridCol w="3673080"/>
              </a:tblGrid>
              <a:tr h="6026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is it mean?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0.7-0.8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Only connect through bright regions.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-Very safe.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fail if neurites are dim.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“The path must look very clearly like neurite.”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776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0.4-0.5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Works for faint neurites.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 Bridges gaps in low signal.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 May connect through noisy background.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“It’s okay if only half the path looks bright.”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 and 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8600" y="685800"/>
            <a:ext cx="11654640" cy="71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Big Difference Between Them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How They Work Together?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Connection is allowed only if: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pieces are pointing toward each other (cos_min)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✔ The path between them looks bright enough (intensity_min_frac)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 you get: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Geometric check + Intensity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00960"/>
          <a:ext cx="10743480" cy="1314360"/>
        </p:xfrm>
        <a:graphic>
          <a:graphicData uri="http://schemas.openxmlformats.org/drawingml/2006/table">
            <a:tbl>
              <a:tblPr/>
              <a:tblGrid>
                <a:gridCol w="3580560"/>
                <a:gridCol w="3580560"/>
                <a:gridCol w="3582720"/>
              </a:tblGrid>
              <a:tr h="3279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Parameter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Checks WHAT?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Geometry (shape &amp; direction)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structure alignment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intensity_min_frac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 (brightness along path)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One checks image intensity quality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6172200" y="4473360"/>
            <a:ext cx="4876200" cy="2155320"/>
          </a:xfrm>
          <a:prstGeom prst="rect">
            <a:avLst/>
          </a:prstGeom>
          <a:solidFill>
            <a:srgbClr val="b7b3ca"/>
          </a:solidFill>
          <a:ln w="183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Summary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Are they pointing at each other?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intensity_min_frac: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Does the connection path actually look like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Intensity_min_fract and cos_min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8600" y="685800"/>
            <a:ext cx="1165464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Examples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2894760"/>
                <a:gridCol w="2897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COS_MIN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INTESITY_MIN_FRACT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straight and bright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0.5–0.6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Curved and dim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0.2–0.3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0.4–0.5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3061440" y="1888200"/>
            <a:ext cx="6767640" cy="451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232200" y="1828800"/>
            <a:ext cx="11654640" cy="606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parameters: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 offset std multiplier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They control how the neurite mask is created from the CH2 image.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So they determine: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Which pixels become neurite (white) and which become background (black)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/>
          <p:nvPr/>
        </p:nvSpPr>
        <p:spPr>
          <a:xfrm>
            <a:off x="609840" y="45720"/>
            <a:ext cx="109645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Local Threshold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1600200" y="685800"/>
            <a:ext cx="8734680" cy="101844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>
            <a:off x="228600" y="685800"/>
            <a:ext cx="1165464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big is the neighborhood we look 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Imagine you are deciding:Is this pixel part of a neurite?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Instead of comparing it to the whole image, you compare it only to pixels around it. How big that local neighborhood is.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Example: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block_size = 3-&gt;Each pixel is compared to the average of a 3 × 3 square around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/>
          <p:nvPr/>
        </p:nvSpPr>
        <p:spPr>
          <a:xfrm>
            <a:off x="609840" y="-720"/>
            <a:ext cx="1096452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34290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480096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11480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429360" y="50292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800600" y="43434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8006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115160" y="4343400"/>
            <a:ext cx="685440" cy="685440"/>
          </a:xfrm>
          <a:prstGeom prst="rect">
            <a:avLst/>
          </a:prstGeom>
          <a:solidFill>
            <a:srgbClr val="fff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114800" y="36576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429360" y="4343400"/>
            <a:ext cx="685440" cy="685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70866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5" name=""/>
          <p:cNvSpPr/>
          <p:nvPr/>
        </p:nvSpPr>
        <p:spPr>
          <a:xfrm>
            <a:off x="845856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6" name=""/>
          <p:cNvSpPr/>
          <p:nvPr/>
        </p:nvSpPr>
        <p:spPr>
          <a:xfrm>
            <a:off x="777240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7" name=""/>
          <p:cNvSpPr/>
          <p:nvPr/>
        </p:nvSpPr>
        <p:spPr>
          <a:xfrm>
            <a:off x="7086960" y="50292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8" name=""/>
          <p:cNvSpPr/>
          <p:nvPr/>
        </p:nvSpPr>
        <p:spPr>
          <a:xfrm>
            <a:off x="8458200" y="43434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19" name=""/>
          <p:cNvSpPr/>
          <p:nvPr/>
        </p:nvSpPr>
        <p:spPr>
          <a:xfrm>
            <a:off x="84582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0" name=""/>
          <p:cNvSpPr/>
          <p:nvPr/>
        </p:nvSpPr>
        <p:spPr>
          <a:xfrm>
            <a:off x="7772760" y="43434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1" name=""/>
          <p:cNvSpPr/>
          <p:nvPr/>
        </p:nvSpPr>
        <p:spPr>
          <a:xfrm>
            <a:off x="77724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2" name=""/>
          <p:cNvSpPr/>
          <p:nvPr/>
        </p:nvSpPr>
        <p:spPr>
          <a:xfrm>
            <a:off x="7086960" y="43434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3" name=""/>
          <p:cNvSpPr/>
          <p:nvPr/>
        </p:nvSpPr>
        <p:spPr>
          <a:xfrm>
            <a:off x="9372600" y="3657600"/>
            <a:ext cx="685440" cy="685440"/>
          </a:xfrm>
          <a:prstGeom prst="rect">
            <a:avLst/>
          </a:prstGeom>
          <a:solidFill>
            <a:srgbClr val="ffb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4" name=""/>
          <p:cNvSpPr/>
          <p:nvPr/>
        </p:nvSpPr>
        <p:spPr>
          <a:xfrm>
            <a:off x="9372600" y="4800600"/>
            <a:ext cx="685440" cy="6854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SimSun"/>
            </a:endParaRPr>
          </a:p>
        </p:txBody>
      </p:sp>
      <p:sp>
        <p:nvSpPr>
          <p:cNvPr id="125" name=""/>
          <p:cNvSpPr/>
          <p:nvPr/>
        </p:nvSpPr>
        <p:spPr>
          <a:xfrm>
            <a:off x="10058400" y="3657600"/>
            <a:ext cx="2057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FOREGROUND  (NEURITES)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10058400" y="4800600"/>
            <a:ext cx="2057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BACKGROUND (NOT NEURITES)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4"/>
          <p:cNvSpPr/>
          <p:nvPr/>
        </p:nvSpPr>
        <p:spPr>
          <a:xfrm>
            <a:off x="609840" y="45720"/>
            <a:ext cx="1096452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1827000" y="733680"/>
          <a:ext cx="8457840" cy="5825160"/>
        </p:xfrm>
        <a:graphic>
          <a:graphicData uri="http://schemas.openxmlformats.org/drawingml/2006/table">
            <a:tbl>
              <a:tblPr/>
              <a:tblGrid>
                <a:gridCol w="2113560"/>
                <a:gridCol w="1047600"/>
                <a:gridCol w="3818880"/>
                <a:gridCol w="14781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MEANING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69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201-301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Threshold changes slowly across image.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smooth illumination.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thick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May miss very thin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Can create small gaps in thin areas.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large region.”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Smooth, conservative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697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51-91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thin neurites better.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Adapts quickly to local changes.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More sensitive to noise.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 Mask may look patchy.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tiny neighborhood.”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Sensitive, detailed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228600" y="685800"/>
            <a:ext cx="11654640" cy="38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strict are we?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This controls how much we lower the threshold so this value decides how easy it is for a pixel to be considered neurite.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1626840" y="1883520"/>
          <a:ext cx="5846760" cy="4822920"/>
        </p:xfrm>
        <a:graphic>
          <a:graphicData uri="http://schemas.openxmlformats.org/drawingml/2006/table">
            <a:tbl>
              <a:tblPr/>
              <a:tblGrid>
                <a:gridCol w="1770480"/>
                <a:gridCol w="877680"/>
                <a:gridCol w="31989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70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0.20–0.30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-Dim neurites kept.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-Fewer gaps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-More noise included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slightly bright pixels are allowed.”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70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0.05–0.10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-Strict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bright neurites kept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-Dim neurites may disappear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clearly bright pixels count.”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-1800"/>
            <a:ext cx="10964520" cy="5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 and 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228600" y="685800"/>
            <a:ext cx="1165464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Comparison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4" name=""/>
          <p:cNvGraphicFramePr/>
          <p:nvPr/>
        </p:nvGraphicFramePr>
        <p:xfrm>
          <a:off x="2107080" y="713520"/>
          <a:ext cx="868644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3176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it controls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block_size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LOCAL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offset_std_mult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STRICT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5" name=""/>
          <p:cNvSpPr txBox="1"/>
          <p:nvPr/>
        </p:nvSpPr>
        <p:spPr>
          <a:xfrm>
            <a:off x="140400" y="2057400"/>
            <a:ext cx="9918000" cy="533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They Work Together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block + small offset: Very conservative mask → possible broken branches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block + large offset: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Very permissive mask → noise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block_size =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“How big is the area I compare each pixel to?”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offset_std_mult =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“How easy do I allow pixels to pass the threshold?”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If you see broken branches</a:t>
            </a:r>
            <a:endParaRPr lang="en-US" sz="12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Increase offset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Or decrease block_size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see too much noise</a:t>
            </a:r>
            <a:endParaRPr lang="en-US" sz="12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Decrease offset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Or increase block_size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"/>
          <p:cNvGraphicFramePr/>
          <p:nvPr/>
        </p:nvGraphicFramePr>
        <p:xfrm>
          <a:off x="6841800" y="2035080"/>
          <a:ext cx="5075280" cy="173124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Situation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 COMBINATIONS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Thick bright axons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151–201 + 0.12–0.15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Thin dim neurites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91–151 + 0.18–0.22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noisy image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 + 0.08–0.12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Highly fragmented mask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101 + 0.18–0.22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37" name=""/>
          <p:cNvGraphicFramePr/>
          <p:nvPr/>
        </p:nvGraphicFramePr>
        <p:xfrm>
          <a:off x="6944760" y="4153680"/>
          <a:ext cx="5075280" cy="173124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You want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 this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continuity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Increase offset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Less noise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Decrease offset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sensitivity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Decrease block 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smooth mask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Increase block 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914400" y="914400"/>
            <a:ext cx="10054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6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Add new layers to filter per cells ID and lysosomes ID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5"/>
          <p:cNvSpPr/>
          <p:nvPr/>
        </p:nvSpPr>
        <p:spPr>
          <a:xfrm>
            <a:off x="609480" y="235800"/>
            <a:ext cx="1096452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VIEWER LAYERS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9360" y="71280"/>
            <a:ext cx="10964520" cy="634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-Airy scan_40A_UAS-TMEM-HA_axon_0h_again_3_051222</a:t>
            </a:r>
            <a:br>
              <a:rPr sz="3200"/>
            </a:br>
            <a:br>
              <a:rPr sz="3200"/>
            </a:b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09480" y="140400"/>
            <a:ext cx="2588760" cy="67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s 104"/>
          <p:cNvSpPr/>
          <p:nvPr/>
        </p:nvSpPr>
        <p:spPr>
          <a:xfrm>
            <a:off x="0" y="1143000"/>
            <a:ext cx="2509200" cy="5252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9000" cy="52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5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8000" cy="522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s 111"/>
          <p:cNvSpPr/>
          <p:nvPr/>
        </p:nvSpPr>
        <p:spPr>
          <a:xfrm>
            <a:off x="360" y="1143360"/>
            <a:ext cx="2509200" cy="5252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139680"/>
            <a:ext cx="10964520" cy="67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115"/>
          <p:cNvPicPr/>
          <p:nvPr/>
        </p:nvPicPr>
        <p:blipFill>
          <a:blip r:embed="rId1"/>
          <a:stretch/>
        </p:blipFill>
        <p:spPr>
          <a:xfrm>
            <a:off x="475920" y="914400"/>
            <a:ext cx="5233680" cy="546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116"/>
          <p:cNvPicPr/>
          <p:nvPr/>
        </p:nvPicPr>
        <p:blipFill>
          <a:blip r:embed="rId2"/>
          <a:stretch/>
        </p:blipFill>
        <p:spPr>
          <a:xfrm>
            <a:off x="5943600" y="914400"/>
            <a:ext cx="4825440" cy="5481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1336</TotalTime>
  <Application>LibreOffice/25.8.4.2$Windows_X86_64 LibreOffice_project/290daaa01b999472f0c7a3890eb6a550fd74c6df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2026-02-18T14:45:04Z</dcterms:modified>
  <cp:revision>1033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