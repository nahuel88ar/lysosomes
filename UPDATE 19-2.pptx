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3120" cy="6849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840240" y="365040"/>
            <a:ext cx="10506600" cy="13165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840240" y="1681200"/>
            <a:ext cx="5149440" cy="8150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840240" y="2505240"/>
            <a:ext cx="5149440" cy="36756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74640" cy="8150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74640" cy="36756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6"/>
          <p:cNvSpPr>
            <a:spLocks noGrp="1"/>
          </p:cNvSpPr>
          <p:nvPr>
            <p:ph type="dt" idx="1"/>
          </p:nvPr>
        </p:nvSpPr>
        <p:spPr>
          <a:xfrm>
            <a:off x="609480" y="6245280"/>
            <a:ext cx="2835720" cy="467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7"/>
          <p:cNvSpPr>
            <a:spLocks noGrp="1"/>
          </p:cNvSpPr>
          <p:nvPr>
            <p:ph type="ftr" idx="2"/>
          </p:nvPr>
        </p:nvSpPr>
        <p:spPr>
          <a:xfrm>
            <a:off x="4165560" y="6245280"/>
            <a:ext cx="3851640" cy="467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8"/>
          <p:cNvSpPr>
            <a:spLocks noGrp="1"/>
          </p:cNvSpPr>
          <p:nvPr>
            <p:ph type="sldNum" idx="3"/>
          </p:nvPr>
        </p:nvSpPr>
        <p:spPr>
          <a:xfrm>
            <a:off x="8737560" y="6245280"/>
            <a:ext cx="2835720" cy="467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3120" cy="6849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dt" idx="4"/>
          </p:nvPr>
        </p:nvSpPr>
        <p:spPr>
          <a:xfrm>
            <a:off x="609480" y="6245280"/>
            <a:ext cx="2835720" cy="467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ftr" idx="5"/>
          </p:nvPr>
        </p:nvSpPr>
        <p:spPr>
          <a:xfrm>
            <a:off x="4165560" y="6245280"/>
            <a:ext cx="3851640" cy="467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sldNum" idx="6"/>
          </p:nvPr>
        </p:nvSpPr>
        <p:spPr>
          <a:xfrm>
            <a:off x="8737560" y="6245280"/>
            <a:ext cx="2835720" cy="467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3120" cy="6849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40240" y="457200"/>
            <a:ext cx="3923640" cy="1591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5183640" y="987480"/>
            <a:ext cx="6163200" cy="48646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840240" y="2057400"/>
            <a:ext cx="3923640" cy="38026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dt" idx="7"/>
          </p:nvPr>
        </p:nvSpPr>
        <p:spPr>
          <a:xfrm>
            <a:off x="609480" y="6245280"/>
            <a:ext cx="2835720" cy="467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ftr" idx="8"/>
          </p:nvPr>
        </p:nvSpPr>
        <p:spPr>
          <a:xfrm>
            <a:off x="4165560" y="6245280"/>
            <a:ext cx="3851640" cy="467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6"/>
          <p:cNvSpPr>
            <a:spLocks noGrp="1"/>
          </p:cNvSpPr>
          <p:nvPr>
            <p:ph type="sldNum" idx="9"/>
          </p:nvPr>
        </p:nvSpPr>
        <p:spPr>
          <a:xfrm>
            <a:off x="8737560" y="6245280"/>
            <a:ext cx="2835720" cy="467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3120" cy="6849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40240" y="457200"/>
            <a:ext cx="3923640" cy="1591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183640" y="987480"/>
            <a:ext cx="6163200" cy="48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43164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36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36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360" lvl="4" indent="-216000">
              <a:lnSpc>
                <a:spcPct val="10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840240" y="2057400"/>
            <a:ext cx="3923640" cy="38026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10"/>
          </p:nvPr>
        </p:nvSpPr>
        <p:spPr>
          <a:xfrm>
            <a:off x="609480" y="6245280"/>
            <a:ext cx="2835720" cy="467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ftr" idx="11"/>
          </p:nvPr>
        </p:nvSpPr>
        <p:spPr>
          <a:xfrm>
            <a:off x="4165560" y="6245280"/>
            <a:ext cx="3851640" cy="467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sldNum" idx="12"/>
          </p:nvPr>
        </p:nvSpPr>
        <p:spPr>
          <a:xfrm>
            <a:off x="8737560" y="6245280"/>
            <a:ext cx="2835720" cy="467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3120" cy="6849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839080" y="190440"/>
            <a:ext cx="2734200" cy="5928120"/>
          </a:xfrm>
          <a:prstGeom prst="rect">
            <a:avLst/>
          </a:prstGeom>
          <a:noFill/>
          <a:ln w="9360">
            <a:noFill/>
          </a:ln>
        </p:spPr>
        <p:txBody>
          <a:bodyPr lIns="45000" rIns="45000" tIns="90000" bIns="90000" anchor="ctr" vert="eaVer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609480" y="190440"/>
            <a:ext cx="8017560" cy="5928120"/>
          </a:xfrm>
          <a:prstGeom prst="rect">
            <a:avLst/>
          </a:prstGeom>
          <a:noFill/>
          <a:ln w="9360">
            <a:noFill/>
          </a:ln>
        </p:spPr>
        <p:txBody>
          <a:bodyPr lIns="45000" rIns="45000" tIns="90000" bIns="9000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3"/>
          </p:nvPr>
        </p:nvSpPr>
        <p:spPr>
          <a:xfrm>
            <a:off x="609480" y="6245280"/>
            <a:ext cx="2835720" cy="467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4"/>
          </p:nvPr>
        </p:nvSpPr>
        <p:spPr>
          <a:xfrm>
            <a:off x="4165560" y="6245280"/>
            <a:ext cx="3851640" cy="467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15"/>
          </p:nvPr>
        </p:nvSpPr>
        <p:spPr>
          <a:xfrm>
            <a:off x="8737560" y="6245280"/>
            <a:ext cx="2835720" cy="467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10" hidden="1"/>
          <p:cNvPicPr/>
          <p:nvPr/>
        </p:nvPicPr>
        <p:blipFill>
          <a:blip r:embed="rId2"/>
          <a:stretch/>
        </p:blipFill>
        <p:spPr>
          <a:xfrm>
            <a:off x="0" y="0"/>
            <a:ext cx="12183120" cy="6849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" name="Picture 3"/>
          <p:cNvPicPr/>
          <p:nvPr/>
        </p:nvPicPr>
        <p:blipFill>
          <a:blip r:embed="rId3"/>
          <a:stretch/>
        </p:blipFill>
        <p:spPr>
          <a:xfrm>
            <a:off x="0" y="0"/>
            <a:ext cx="12183120" cy="6849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24240" y="3718080"/>
            <a:ext cx="10934280" cy="10735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dt" idx="16"/>
          </p:nvPr>
        </p:nvSpPr>
        <p:spPr>
          <a:xfrm>
            <a:off x="609480" y="6245280"/>
            <a:ext cx="2835720" cy="467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ftr" idx="17"/>
          </p:nvPr>
        </p:nvSpPr>
        <p:spPr>
          <a:xfrm>
            <a:off x="4165560" y="6245280"/>
            <a:ext cx="3851640" cy="467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sldNum" idx="18"/>
          </p:nvPr>
        </p:nvSpPr>
        <p:spPr>
          <a:xfrm>
            <a:off x="8737560" y="6245280"/>
            <a:ext cx="2835720" cy="467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3120" cy="6849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63800" cy="5734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10963800" cy="4943880"/>
          </a:xfrm>
          <a:prstGeom prst="rect">
            <a:avLst/>
          </a:prstGeom>
          <a:noFill/>
          <a:ln w="9360">
            <a:noFill/>
          </a:ln>
        </p:spPr>
        <p:txBody>
          <a:bodyPr lIns="45000" rIns="45000" tIns="90000" bIns="9000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19"/>
          </p:nvPr>
        </p:nvSpPr>
        <p:spPr>
          <a:xfrm>
            <a:off x="609480" y="6245280"/>
            <a:ext cx="2835720" cy="467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20"/>
          </p:nvPr>
        </p:nvSpPr>
        <p:spPr>
          <a:xfrm>
            <a:off x="4165560" y="6245280"/>
            <a:ext cx="3851640" cy="467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21"/>
          </p:nvPr>
        </p:nvSpPr>
        <p:spPr>
          <a:xfrm>
            <a:off x="8737560" y="6245280"/>
            <a:ext cx="2835720" cy="467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3120" cy="6849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63800" cy="5734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10963800" cy="49438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dt" idx="22"/>
          </p:nvPr>
        </p:nvSpPr>
        <p:spPr>
          <a:xfrm>
            <a:off x="609480" y="6245280"/>
            <a:ext cx="2835720" cy="467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ftr" idx="23"/>
          </p:nvPr>
        </p:nvSpPr>
        <p:spPr>
          <a:xfrm>
            <a:off x="4165560" y="6245280"/>
            <a:ext cx="3851640" cy="467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24"/>
          </p:nvPr>
        </p:nvSpPr>
        <p:spPr>
          <a:xfrm>
            <a:off x="8737560" y="6245280"/>
            <a:ext cx="2835720" cy="467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3120" cy="6849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06600" cy="28436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06600" cy="14911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25"/>
          </p:nvPr>
        </p:nvSpPr>
        <p:spPr>
          <a:xfrm>
            <a:off x="609480" y="6245280"/>
            <a:ext cx="2835720" cy="467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26"/>
          </p:nvPr>
        </p:nvSpPr>
        <p:spPr>
          <a:xfrm>
            <a:off x="4165560" y="6245280"/>
            <a:ext cx="3851640" cy="467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27"/>
          </p:nvPr>
        </p:nvSpPr>
        <p:spPr>
          <a:xfrm>
            <a:off x="8737560" y="6245280"/>
            <a:ext cx="2835720" cy="467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3120" cy="6849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63800" cy="5734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dt" idx="28"/>
          </p:nvPr>
        </p:nvSpPr>
        <p:spPr>
          <a:xfrm>
            <a:off x="609480" y="6245280"/>
            <a:ext cx="2835720" cy="467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ftr" idx="29"/>
          </p:nvPr>
        </p:nvSpPr>
        <p:spPr>
          <a:xfrm>
            <a:off x="4165560" y="6245280"/>
            <a:ext cx="3851640" cy="467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sldNum" idx="30"/>
          </p:nvPr>
        </p:nvSpPr>
        <p:spPr>
          <a:xfrm>
            <a:off x="8737560" y="6245280"/>
            <a:ext cx="2835720" cy="467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3120" cy="6849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63800" cy="5734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5375880" cy="49438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6197760" y="1174680"/>
            <a:ext cx="5375880" cy="49438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dt" idx="31"/>
          </p:nvPr>
        </p:nvSpPr>
        <p:spPr>
          <a:xfrm>
            <a:off x="609480" y="6245280"/>
            <a:ext cx="2835720" cy="467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ftr" idx="32"/>
          </p:nvPr>
        </p:nvSpPr>
        <p:spPr>
          <a:xfrm>
            <a:off x="4165560" y="6245280"/>
            <a:ext cx="3851640" cy="467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sldNum" idx="33"/>
          </p:nvPr>
        </p:nvSpPr>
        <p:spPr>
          <a:xfrm>
            <a:off x="8737560" y="6245280"/>
            <a:ext cx="2835720" cy="467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8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8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8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ubTitle"/>
          </p:nvPr>
        </p:nvSpPr>
        <p:spPr>
          <a:xfrm>
            <a:off x="734760" y="1720800"/>
            <a:ext cx="10329480" cy="2891520"/>
          </a:xfrm>
          <a:prstGeom prst="rect">
            <a:avLst/>
          </a:prstGeom>
          <a:noFill/>
          <a:ln w="9360">
            <a:noFill/>
          </a:ln>
        </p:spPr>
        <p:txBody>
          <a:bodyPr lIns="91440" rIns="91440" tIns="45720" bIns="45720" anchor="t">
            <a:noAutofit/>
          </a:bodyPr>
          <a:p>
            <a:pPr algn="ctr">
              <a:lnSpc>
                <a:spcPct val="100000"/>
              </a:lnSpc>
              <a:spcBef>
                <a:spcPts val="859"/>
              </a:spcBef>
              <a:tabLst>
                <a:tab algn="l" pos="0"/>
              </a:tabLst>
            </a:pP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3D Image Segmentation and Quantification of Lysosomes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859"/>
              </a:spcBef>
              <a:tabLst>
                <a:tab algn="l" pos="0"/>
              </a:tabLst>
            </a:pP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19/2/2025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859"/>
              </a:spcBef>
              <a:tabLst>
                <a:tab algn="l" pos="0"/>
              </a:tabLst>
            </a:pP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143000" y="2743200"/>
            <a:ext cx="10963800" cy="753120"/>
          </a:xfrm>
          <a:prstGeom prst="rect">
            <a:avLst/>
          </a:prstGeom>
          <a:noFill/>
          <a:ln w="936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AXONS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480" y="-2520"/>
            <a:ext cx="10963800" cy="58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GUI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228600" y="685800"/>
            <a:ext cx="11653920" cy="909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2a6099"/>
                </a:solidFill>
                <a:effectLst/>
                <a:uFillTx/>
                <a:latin typeface="Arial"/>
                <a:ea typeface="SimSun"/>
              </a:rPr>
              <a:t>New parameters in Advanced Settings:</a:t>
            </a:r>
            <a:r>
              <a:rPr lang="en-US" sz="3000" b="0" u="none" strike="noStrike">
                <a:solidFill>
                  <a:srgbClr val="2a6099"/>
                </a:solidFill>
                <a:effectLst/>
                <a:uFillTx/>
                <a:latin typeface="Arial"/>
                <a:ea typeface="SimSun"/>
              </a:rPr>
              <a:t> 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Coseno minimum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Intensity minimum fraction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 Local Threshold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OpenSymbol"/>
              <a:buChar char="▪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Threshold block size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OpenSymbol"/>
              <a:buChar char="▪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Threshold offset std multiplier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-2520"/>
            <a:ext cx="10963800" cy="58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GUI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"/>
          <p:cNvPicPr/>
          <p:nvPr/>
        </p:nvPicPr>
        <p:blipFill>
          <a:blip r:embed="rId1"/>
          <a:stretch/>
        </p:blipFill>
        <p:spPr>
          <a:xfrm>
            <a:off x="1530360" y="228600"/>
            <a:ext cx="5491440" cy="6400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-46800"/>
            <a:ext cx="10963800" cy="67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Coseno minimum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228600" y="685800"/>
            <a:ext cx="11653920" cy="66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Are the two pieces pointing toward each other?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  Imagine two broken sticks on a table then: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  If both sticks are pointing at each other → it makes sense to connect them.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  If one stick is pointing sideways → connecting them would look unnatural.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1" u="none" strike="noStrike">
                <a:solidFill>
                  <a:srgbClr val="2a6099"/>
                </a:solidFill>
                <a:effectLst/>
                <a:uFillTx/>
                <a:latin typeface="Arial"/>
                <a:ea typeface="SimSun"/>
              </a:rPr>
              <a:t>What it actually measures?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It compares: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 direction of neurite A, direction of neurite B and direction of the line between them.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It calculates a value between: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cos min = 0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(90° angle)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          cos min = +1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(perfectly aligned)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  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457200" y="5030280"/>
            <a:ext cx="227160" cy="1370160"/>
          </a:xfrm>
          <a:prstGeom prst="downArrow">
            <a:avLst>
              <a:gd name="adj1" fmla="val 50000"/>
              <a:gd name="adj2" fmla="val 150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SimSun"/>
            </a:endParaRPr>
          </a:p>
        </p:txBody>
      </p:sp>
      <p:sp>
        <p:nvSpPr>
          <p:cNvPr id="80" name=""/>
          <p:cNvSpPr/>
          <p:nvPr/>
        </p:nvSpPr>
        <p:spPr>
          <a:xfrm>
            <a:off x="685800" y="6400800"/>
            <a:ext cx="1598760" cy="227160"/>
          </a:xfrm>
          <a:prstGeom prst="leftArrow">
            <a:avLst>
              <a:gd name="adj1" fmla="val 50000"/>
              <a:gd name="adj2" fmla="val 175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SimSun"/>
            </a:endParaRPr>
          </a:p>
        </p:txBody>
      </p:sp>
      <p:sp>
        <p:nvSpPr>
          <p:cNvPr id="81" name=""/>
          <p:cNvSpPr/>
          <p:nvPr/>
        </p:nvSpPr>
        <p:spPr>
          <a:xfrm>
            <a:off x="4801680" y="5029200"/>
            <a:ext cx="227160" cy="4557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SimSun"/>
            </a:endParaRPr>
          </a:p>
        </p:txBody>
      </p:sp>
      <p:sp>
        <p:nvSpPr>
          <p:cNvPr id="82" name=""/>
          <p:cNvSpPr/>
          <p:nvPr/>
        </p:nvSpPr>
        <p:spPr>
          <a:xfrm>
            <a:off x="4800600" y="5716080"/>
            <a:ext cx="227160" cy="45576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SimSun"/>
            </a:endParaRPr>
          </a:p>
        </p:txBody>
      </p:sp>
      <p:sp>
        <p:nvSpPr>
          <p:cNvPr id="83" name=""/>
          <p:cNvSpPr/>
          <p:nvPr/>
        </p:nvSpPr>
        <p:spPr>
          <a:xfrm>
            <a:off x="6400800" y="4992120"/>
            <a:ext cx="5484960" cy="1179720"/>
          </a:xfrm>
          <a:prstGeom prst="rect">
            <a:avLst/>
          </a:prstGeom>
          <a:solidFill>
            <a:srgbClr val="b7b3ca"/>
          </a:solidFill>
          <a:ln w="183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800080"/>
                </a:solidFill>
                <a:effectLst/>
                <a:uFillTx/>
                <a:latin typeface="Arial"/>
                <a:ea typeface="SimSun"/>
              </a:rPr>
              <a:t>This value is called the cosine of the angle.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400" b="1" u="none" strike="noStrike">
                <a:solidFill>
                  <a:srgbClr val="800080"/>
                </a:solidFill>
                <a:effectLst/>
                <a:uFillTx/>
                <a:latin typeface="Arial"/>
                <a:ea typeface="SimSun"/>
              </a:rPr>
              <a:t>What cos_min does?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Only connect fragments if their alignment is at least this good.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-46800"/>
            <a:ext cx="10963800" cy="67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Coseno minimum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5" name=""/>
          <p:cNvGraphicFramePr/>
          <p:nvPr/>
        </p:nvGraphicFramePr>
        <p:xfrm>
          <a:off x="183960" y="671760"/>
          <a:ext cx="7613280" cy="4120560"/>
        </p:xfrm>
        <a:graphic>
          <a:graphicData uri="http://schemas.openxmlformats.org/drawingml/2006/table">
            <a:tbl>
              <a:tblPr/>
              <a:tblGrid>
                <a:gridCol w="2537640"/>
                <a:gridCol w="2538000"/>
                <a:gridCol w="2538000"/>
              </a:tblGrid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cos_min 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value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What is it mean?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HIGH 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0.6-0.8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-Only connect pieces that are very well aligned.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-Very safe.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-May miss curved branches.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“Only connect if they are almost in a straight line.”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LOW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0.2-0.3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-Connect curved or bending neurites.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-Helps fragmented branches.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-Risk of connecting wrong things.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“Even if they bend a bit, it’s fine.”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6" name=""/>
          <p:cNvGraphicFramePr/>
          <p:nvPr/>
        </p:nvGraphicFramePr>
        <p:xfrm>
          <a:off x="6164640" y="4948560"/>
          <a:ext cx="5075280" cy="1731600"/>
        </p:xfrm>
        <a:graphic>
          <a:graphicData uri="http://schemas.openxmlformats.org/drawingml/2006/table">
            <a:tbl>
              <a:tblPr/>
              <a:tblGrid>
                <a:gridCol w="2537640"/>
                <a:gridCol w="2538000"/>
              </a:tblGrid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cos_min 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What is it mean?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0.7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Almost perfectly straight 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0.4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Some bending allowed 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Quite flexible 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Anything goes 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-2520"/>
            <a:ext cx="10963800" cy="58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Intensity minimum fraction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228600" y="685800"/>
            <a:ext cx="11653920" cy="703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Is the path between them bright enough?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Now imagine drawing a line between two broken neurite ends.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That line passes through some pixels.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200" b="1" u="none" strike="noStrike">
                <a:solidFill>
                  <a:srgbClr val="3465a4"/>
                </a:solidFill>
                <a:effectLst/>
                <a:uFillTx/>
                <a:latin typeface="Arial"/>
                <a:ea typeface="SimSun"/>
              </a:rPr>
              <a:t>This parameter asks: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200" b="1" u="none" strike="noStrike">
                <a:solidFill>
                  <a:srgbClr val="3465a4"/>
                </a:solidFill>
                <a:effectLst/>
                <a:uFillTx/>
                <a:latin typeface="Arial"/>
                <a:ea typeface="SimSun"/>
              </a:rPr>
              <a:t>“Are most of those pixels bright like neurites?”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200" b="1" u="none" strike="noStrike">
                <a:solidFill>
                  <a:srgbClr val="158466"/>
                </a:solidFill>
                <a:effectLst/>
                <a:uFillTx/>
                <a:latin typeface="Arial"/>
                <a:ea typeface="SimSun"/>
              </a:rPr>
              <a:t>What it actually measures?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It checks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: Fraction of pixels along the bridge path that are bright enough.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200" b="1" u="none" strike="noStrike">
                <a:solidFill>
                  <a:srgbClr val="158466"/>
                </a:solidFill>
                <a:effectLst/>
                <a:uFillTx/>
                <a:latin typeface="Arial"/>
                <a:ea typeface="SimSun"/>
              </a:rPr>
              <a:t>What intensity_min_frac does?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It says: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 “Only connect if at least X% of the path looks like real neurite signal.”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-46800"/>
            <a:ext cx="10963800" cy="67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Intensity minimum fraction  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0" name=""/>
          <p:cNvGraphicFramePr/>
          <p:nvPr/>
        </p:nvGraphicFramePr>
        <p:xfrm>
          <a:off x="183960" y="671760"/>
          <a:ext cx="11017080" cy="6109920"/>
        </p:xfrm>
        <a:graphic>
          <a:graphicData uri="http://schemas.openxmlformats.org/drawingml/2006/table">
            <a:tbl>
              <a:tblPr/>
              <a:tblGrid>
                <a:gridCol w="3672000"/>
                <a:gridCol w="3672360"/>
                <a:gridCol w="3673080"/>
              </a:tblGrid>
              <a:tr h="60264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intensity_min_frac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value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What is it mean?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677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HIGH 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0.7-0.8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 Only connect through bright regions.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-Very safe.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- May fail if neurites are dim.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“The path must look very clearly like neurite.”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67768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LOW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0.4-0.5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 Works for faint neurites.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 Bridges gaps in low signal.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- May connect through noisy background.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“It’s okay if only half the path looks bright.”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-2520"/>
            <a:ext cx="10963800" cy="58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Intensity_min_fract and cos_min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228600" y="685800"/>
            <a:ext cx="11653920" cy="718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The Big Difference Between Them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200" b="1" u="none" strike="noStrike">
                <a:solidFill>
                  <a:srgbClr val="158466"/>
                </a:solidFill>
                <a:effectLst/>
                <a:uFillTx/>
                <a:latin typeface="Arial"/>
                <a:ea typeface="SimSun"/>
              </a:rPr>
              <a:t>How They Work Together?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Connection is allowed only if: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✔ The pieces are pointing toward each other (cos_min)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✔ The path between them looks bright enough (intensity_min_frac)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So you get: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Geometric check + Intensity check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3" name=""/>
          <p:cNvGraphicFramePr/>
          <p:nvPr/>
        </p:nvGraphicFramePr>
        <p:xfrm>
          <a:off x="457200" y="1200960"/>
          <a:ext cx="10743480" cy="1314360"/>
        </p:xfrm>
        <a:graphic>
          <a:graphicData uri="http://schemas.openxmlformats.org/drawingml/2006/table">
            <a:tbl>
              <a:tblPr/>
              <a:tblGrid>
                <a:gridCol w="3580560"/>
                <a:gridCol w="3580560"/>
                <a:gridCol w="3582720"/>
              </a:tblGrid>
              <a:tr h="32796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Parameter 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Checks WHAT? 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cos_min 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Geometry (shape &amp; direction) 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One checks structure alignment 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intensity_min_frac 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Signal (brightness along path) 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One checks image intensity quality 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-2520"/>
            <a:ext cx="10963800" cy="58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Intensity_min_fract and cos_min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228600" y="685800"/>
            <a:ext cx="11653920" cy="275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200" b="1" u="none" strike="noStrike">
                <a:solidFill>
                  <a:srgbClr val="158466"/>
                </a:solidFill>
                <a:effectLst/>
                <a:uFillTx/>
                <a:latin typeface="Arial"/>
                <a:ea typeface="SimSun"/>
              </a:rPr>
              <a:t>Examples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6" name=""/>
          <p:cNvGraphicFramePr/>
          <p:nvPr/>
        </p:nvGraphicFramePr>
        <p:xfrm>
          <a:off x="2107080" y="713520"/>
          <a:ext cx="8686440" cy="1040040"/>
        </p:xfrm>
        <a:graphic>
          <a:graphicData uri="http://schemas.openxmlformats.org/drawingml/2006/table">
            <a:tbl>
              <a:tblPr/>
              <a:tblGrid>
                <a:gridCol w="2894760"/>
                <a:gridCol w="2894760"/>
                <a:gridCol w="2897280"/>
              </a:tblGrid>
              <a:tr h="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COS_MIN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INTESITY_MIN_FRACT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Very straight and bright 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0.5–0.6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Curved and dim 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0.2–0.3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0.4–0.5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97" name=""/>
          <p:cNvPicPr/>
          <p:nvPr/>
        </p:nvPicPr>
        <p:blipFill>
          <a:blip r:embed="rId1"/>
          <a:stretch/>
        </p:blipFill>
        <p:spPr>
          <a:xfrm>
            <a:off x="3061440" y="1888200"/>
            <a:ext cx="6766920" cy="4511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>
            <a:off x="232200" y="1828800"/>
            <a:ext cx="11653920" cy="606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The parameters: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Threshold block size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Threshold offset std multiplier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They control how the neurite mask is created from the CH2 image.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 So they determine: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Which pixels become neurite (white) and which become background (black)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3"/>
          <p:cNvSpPr/>
          <p:nvPr/>
        </p:nvSpPr>
        <p:spPr>
          <a:xfrm>
            <a:off x="609840" y="45720"/>
            <a:ext cx="1096380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Local Threshold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" name=""/>
          <p:cNvPicPr/>
          <p:nvPr/>
        </p:nvPicPr>
        <p:blipFill>
          <a:blip r:embed="rId1"/>
          <a:stretch/>
        </p:blipFill>
        <p:spPr>
          <a:xfrm>
            <a:off x="1600200" y="685800"/>
            <a:ext cx="8733960" cy="1017720"/>
          </a:xfrm>
          <a:prstGeom prst="rect">
            <a:avLst/>
          </a:prstGeom>
          <a:noFill/>
          <a:ln w="36720">
            <a:solidFill>
              <a:srgbClr val="3465a4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"/>
          <p:cNvSpPr/>
          <p:nvPr/>
        </p:nvSpPr>
        <p:spPr>
          <a:xfrm>
            <a:off x="228600" y="685800"/>
            <a:ext cx="11653920" cy="39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How big is the neighborhood we look at?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Imagine you are deciding:Is this pixel part of a neurite?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Instead of comparing it to the whole image, you compare it only to pixels around it. How big that local neighborhood is.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Example: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 block_size = 3-&gt;Each pixel is compared to the average of a 3 × 3 square around 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2"/>
          <p:cNvSpPr/>
          <p:nvPr/>
        </p:nvSpPr>
        <p:spPr>
          <a:xfrm>
            <a:off x="609840" y="-720"/>
            <a:ext cx="10963800" cy="5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Threshold block size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3429000" y="3657600"/>
            <a:ext cx="684720" cy="6847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4800960" y="5029200"/>
            <a:ext cx="684720" cy="6847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4114800" y="5029200"/>
            <a:ext cx="684720" cy="6847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3429360" y="5029200"/>
            <a:ext cx="684720" cy="6847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4800600" y="4343400"/>
            <a:ext cx="684720" cy="6847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4800600" y="3657600"/>
            <a:ext cx="684720" cy="6847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4115160" y="4343400"/>
            <a:ext cx="684720" cy="684720"/>
          </a:xfrm>
          <a:prstGeom prst="rect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4114800" y="3657600"/>
            <a:ext cx="684720" cy="6847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3429360" y="4343400"/>
            <a:ext cx="684720" cy="6847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7086600" y="3657600"/>
            <a:ext cx="684720" cy="684720"/>
          </a:xfrm>
          <a:prstGeom prst="rect">
            <a:avLst/>
          </a:prstGeom>
          <a:solidFill>
            <a:srgbClr val="ffb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SimSun"/>
            </a:endParaRPr>
          </a:p>
        </p:txBody>
      </p:sp>
      <p:sp>
        <p:nvSpPr>
          <p:cNvPr id="113" name=""/>
          <p:cNvSpPr/>
          <p:nvPr/>
        </p:nvSpPr>
        <p:spPr>
          <a:xfrm>
            <a:off x="8458560" y="5029200"/>
            <a:ext cx="684720" cy="684720"/>
          </a:xfrm>
          <a:prstGeom prst="rect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SimSun"/>
            </a:endParaRPr>
          </a:p>
        </p:txBody>
      </p:sp>
      <p:sp>
        <p:nvSpPr>
          <p:cNvPr id="114" name=""/>
          <p:cNvSpPr/>
          <p:nvPr/>
        </p:nvSpPr>
        <p:spPr>
          <a:xfrm>
            <a:off x="7772400" y="5029200"/>
            <a:ext cx="684720" cy="684720"/>
          </a:xfrm>
          <a:prstGeom prst="rect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SimSun"/>
            </a:endParaRPr>
          </a:p>
        </p:txBody>
      </p:sp>
      <p:sp>
        <p:nvSpPr>
          <p:cNvPr id="115" name=""/>
          <p:cNvSpPr/>
          <p:nvPr/>
        </p:nvSpPr>
        <p:spPr>
          <a:xfrm>
            <a:off x="7086960" y="5029200"/>
            <a:ext cx="684720" cy="684720"/>
          </a:xfrm>
          <a:prstGeom prst="rect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SimSun"/>
            </a:endParaRPr>
          </a:p>
        </p:txBody>
      </p:sp>
      <p:sp>
        <p:nvSpPr>
          <p:cNvPr id="116" name=""/>
          <p:cNvSpPr/>
          <p:nvPr/>
        </p:nvSpPr>
        <p:spPr>
          <a:xfrm>
            <a:off x="8458200" y="4343400"/>
            <a:ext cx="684720" cy="684720"/>
          </a:xfrm>
          <a:prstGeom prst="rect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SimSun"/>
            </a:endParaRPr>
          </a:p>
        </p:txBody>
      </p:sp>
      <p:sp>
        <p:nvSpPr>
          <p:cNvPr id="117" name=""/>
          <p:cNvSpPr/>
          <p:nvPr/>
        </p:nvSpPr>
        <p:spPr>
          <a:xfrm>
            <a:off x="8458200" y="3657600"/>
            <a:ext cx="684720" cy="684720"/>
          </a:xfrm>
          <a:prstGeom prst="rect">
            <a:avLst/>
          </a:prstGeom>
          <a:solidFill>
            <a:srgbClr val="ffb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SimSun"/>
            </a:endParaRPr>
          </a:p>
        </p:txBody>
      </p:sp>
      <p:sp>
        <p:nvSpPr>
          <p:cNvPr id="118" name=""/>
          <p:cNvSpPr/>
          <p:nvPr/>
        </p:nvSpPr>
        <p:spPr>
          <a:xfrm>
            <a:off x="7772760" y="4343400"/>
            <a:ext cx="684720" cy="684720"/>
          </a:xfrm>
          <a:prstGeom prst="rect">
            <a:avLst/>
          </a:prstGeom>
          <a:solidFill>
            <a:srgbClr val="ffb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SimSun"/>
            </a:endParaRPr>
          </a:p>
        </p:txBody>
      </p:sp>
      <p:sp>
        <p:nvSpPr>
          <p:cNvPr id="119" name=""/>
          <p:cNvSpPr/>
          <p:nvPr/>
        </p:nvSpPr>
        <p:spPr>
          <a:xfrm>
            <a:off x="7772400" y="3657600"/>
            <a:ext cx="684720" cy="684720"/>
          </a:xfrm>
          <a:prstGeom prst="rect">
            <a:avLst/>
          </a:prstGeom>
          <a:solidFill>
            <a:srgbClr val="ffb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SimSun"/>
            </a:endParaRPr>
          </a:p>
        </p:txBody>
      </p:sp>
      <p:sp>
        <p:nvSpPr>
          <p:cNvPr id="120" name=""/>
          <p:cNvSpPr/>
          <p:nvPr/>
        </p:nvSpPr>
        <p:spPr>
          <a:xfrm>
            <a:off x="7086960" y="4343400"/>
            <a:ext cx="684720" cy="684720"/>
          </a:xfrm>
          <a:prstGeom prst="rect">
            <a:avLst/>
          </a:prstGeom>
          <a:solidFill>
            <a:srgbClr val="ffb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SimSun"/>
            </a:endParaRPr>
          </a:p>
        </p:txBody>
      </p:sp>
      <p:sp>
        <p:nvSpPr>
          <p:cNvPr id="121" name=""/>
          <p:cNvSpPr/>
          <p:nvPr/>
        </p:nvSpPr>
        <p:spPr>
          <a:xfrm>
            <a:off x="9372600" y="3657600"/>
            <a:ext cx="684720" cy="684720"/>
          </a:xfrm>
          <a:prstGeom prst="rect">
            <a:avLst/>
          </a:prstGeom>
          <a:solidFill>
            <a:srgbClr val="ffb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SimSun"/>
            </a:endParaRPr>
          </a:p>
        </p:txBody>
      </p:sp>
      <p:sp>
        <p:nvSpPr>
          <p:cNvPr id="122" name=""/>
          <p:cNvSpPr/>
          <p:nvPr/>
        </p:nvSpPr>
        <p:spPr>
          <a:xfrm>
            <a:off x="9372600" y="4800600"/>
            <a:ext cx="684720" cy="684720"/>
          </a:xfrm>
          <a:prstGeom prst="rect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SimSun"/>
            </a:endParaRPr>
          </a:p>
        </p:txBody>
      </p:sp>
      <p:sp>
        <p:nvSpPr>
          <p:cNvPr id="123" name=""/>
          <p:cNvSpPr/>
          <p:nvPr/>
        </p:nvSpPr>
        <p:spPr>
          <a:xfrm>
            <a:off x="10058400" y="3657600"/>
            <a:ext cx="20563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FOREGROUND  (NEURITES)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10058400" y="4800600"/>
            <a:ext cx="20563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BACKGROUND (NOT NEURITES)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4"/>
          <p:cNvSpPr/>
          <p:nvPr/>
        </p:nvSpPr>
        <p:spPr>
          <a:xfrm>
            <a:off x="609840" y="45720"/>
            <a:ext cx="1096380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Threshold block size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6" name=""/>
          <p:cNvGraphicFramePr/>
          <p:nvPr/>
        </p:nvGraphicFramePr>
        <p:xfrm>
          <a:off x="1827000" y="733680"/>
          <a:ext cx="8457840" cy="5825160"/>
        </p:xfrm>
        <a:graphic>
          <a:graphicData uri="http://schemas.openxmlformats.org/drawingml/2006/table">
            <a:tbl>
              <a:tblPr/>
              <a:tblGrid>
                <a:gridCol w="2113560"/>
                <a:gridCol w="1047600"/>
                <a:gridCol w="3818880"/>
                <a:gridCol w="1478160"/>
              </a:tblGrid>
              <a:tr h="27216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SIZE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VALUE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DESCRIPTION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MEANING 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6956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BIG 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201-301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marL="216000" indent="-216000" algn="ctr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Threshold changes slowly across image.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16000" indent="-216000" algn="ctr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Good for smooth illumination.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16000" indent="-216000" algn="ctr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Good for thick neurites.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16000" indent="-216000" algn="ctr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4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May miss very thin branches.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16000" indent="-216000" algn="ctr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4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Can create small gaps in thin areas.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 simply words: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“You judge brightness compared to a large region.”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Smooth, conservative mask 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66976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SMALL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51-91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marL="216000" indent="-216000" algn="ctr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Detects thin neurites better.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16000" indent="-216000" algn="ctr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Adapts quickly to local changes.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16000" indent="-216000" algn="ctr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4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More sensitive to noise.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16000" indent="-216000" algn="ctr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4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 Mask may look patchy.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 simply words: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“You judge brightness compared to a tiny neighborhood.”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Sensitive, detailed mask 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609480" y="-2520"/>
            <a:ext cx="10963800" cy="58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Threshold offset std multiplier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228600" y="685800"/>
            <a:ext cx="11653920" cy="38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How strict are we?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This controls how much we lower the threshold so this value decides how easy it is for a pixel to be considered neurite.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9" name=""/>
          <p:cNvGraphicFramePr/>
          <p:nvPr/>
        </p:nvGraphicFramePr>
        <p:xfrm>
          <a:off x="1626840" y="1883520"/>
          <a:ext cx="5846760" cy="4822920"/>
        </p:xfrm>
        <a:graphic>
          <a:graphicData uri="http://schemas.openxmlformats.org/drawingml/2006/table">
            <a:tbl>
              <a:tblPr/>
              <a:tblGrid>
                <a:gridCol w="1770480"/>
                <a:gridCol w="877680"/>
                <a:gridCol w="3198960"/>
              </a:tblGrid>
              <a:tr h="27216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SIZE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VALUE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DESCRIPTION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7016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BIG 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0.20–0.30 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-Dim neurites kept.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-Fewer gaps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-More noise included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 simply words: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“Even slightly bright pixels are allowed.”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87056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SMALL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0.05–0.10 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-Strict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-Only bright neurites kept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-Dim neurites may disappear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 simply words: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“Only clearly bright pixels count.”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609480" y="-2520"/>
            <a:ext cx="10963800" cy="58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Threshold block size and Threshold offset std multiplier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228600" y="685800"/>
            <a:ext cx="11653920" cy="275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200" b="1" u="none" strike="noStrike">
                <a:solidFill>
                  <a:srgbClr val="158466"/>
                </a:solidFill>
                <a:effectLst/>
                <a:uFillTx/>
                <a:latin typeface="Arial"/>
                <a:ea typeface="SimSun"/>
              </a:rPr>
              <a:t>Comparison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2" name=""/>
          <p:cNvGraphicFramePr/>
          <p:nvPr/>
        </p:nvGraphicFramePr>
        <p:xfrm>
          <a:off x="2107080" y="713520"/>
          <a:ext cx="6070680" cy="1040040"/>
        </p:xfrm>
        <a:graphic>
          <a:graphicData uri="http://schemas.openxmlformats.org/drawingml/2006/table">
            <a:tbl>
              <a:tblPr/>
              <a:tblGrid>
                <a:gridCol w="2894760"/>
                <a:gridCol w="3176280"/>
              </a:tblGrid>
              <a:tr h="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What it controls 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block_size 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How LOCAL the decision is 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offset_std_mult 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How STRICT the decision is 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3" name=""/>
          <p:cNvSpPr/>
          <p:nvPr/>
        </p:nvSpPr>
        <p:spPr>
          <a:xfrm>
            <a:off x="140400" y="2057400"/>
            <a:ext cx="9917280" cy="533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How They Work Together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Large block + small offset: Very conservative mask → possible broken branches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Small block + large offset: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Very permissive mask → noise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block_size =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 “How big is the area I compare each pixel to?”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offset_std_mult =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 “How easy do I allow pixels to pass the threshold?”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If you see broken branches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→ Increase offset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→ Or decrease block_size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If you see too much noise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→ Decrease offset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→ Or increase block_size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4" name=""/>
          <p:cNvGraphicFramePr/>
          <p:nvPr/>
        </p:nvGraphicFramePr>
        <p:xfrm>
          <a:off x="6841800" y="2035080"/>
          <a:ext cx="5075280" cy="1733400"/>
        </p:xfrm>
        <a:graphic>
          <a:graphicData uri="http://schemas.openxmlformats.org/drawingml/2006/table">
            <a:tbl>
              <a:tblPr/>
              <a:tblGrid>
                <a:gridCol w="2537640"/>
                <a:gridCol w="2538000"/>
              </a:tblGrid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Situation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COMBINATIONS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Thick bright axons 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151–201 + 0.12–0.15 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Thin dim neurites 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91–151 + 0.18–0.22 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Very noisy image 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201 + 0.08–0.12 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Highly fragmented mask 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101 + 0.18–0.22 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35" name=""/>
          <p:cNvGraphicFramePr/>
          <p:nvPr/>
        </p:nvGraphicFramePr>
        <p:xfrm>
          <a:off x="6944760" y="4153680"/>
          <a:ext cx="5075280" cy="1733400"/>
        </p:xfrm>
        <a:graphic>
          <a:graphicData uri="http://schemas.openxmlformats.org/drawingml/2006/table">
            <a:tbl>
              <a:tblPr/>
              <a:tblGrid>
                <a:gridCol w="2537640"/>
                <a:gridCol w="2538000"/>
              </a:tblGrid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You want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Do this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More continuity 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Increase offset 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Less noise 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Decrease offset 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More sensitivity 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Decrease block size 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More smooth mask 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Increase block size 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"/>
          <p:cNvSpPr/>
          <p:nvPr/>
        </p:nvSpPr>
        <p:spPr>
          <a:xfrm>
            <a:off x="914400" y="914400"/>
            <a:ext cx="1005372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600" b="1" u="none" strike="noStrike">
                <a:solidFill>
                  <a:srgbClr val="2a6099"/>
                </a:solidFill>
                <a:effectLst/>
                <a:uFillTx/>
                <a:latin typeface="Arial"/>
                <a:ea typeface="SimSun"/>
              </a:rPr>
              <a:t> Add new layers to filter per cells ID and lysosomes ID</a:t>
            </a: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5"/>
          <p:cNvSpPr/>
          <p:nvPr/>
        </p:nvSpPr>
        <p:spPr>
          <a:xfrm>
            <a:off x="609480" y="235800"/>
            <a:ext cx="1096380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VIEWER LAYERS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9360" y="70560"/>
            <a:ext cx="10963800" cy="63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FILES:</a:t>
            </a:r>
            <a:br>
              <a:rPr sz="3200"/>
            </a:br>
            <a:r>
              <a:rPr lang="en-US" sz="32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-Airy scan_40A_UAS-TMEM-HA_axon_0h_again_2_051222</a:t>
            </a:r>
            <a:br>
              <a:rPr sz="3200"/>
            </a:br>
            <a:r>
              <a:rPr lang="en-US" sz="32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-Airy scan_40A_UAS-TMEM-HA_axon_0h_again_3_051222</a:t>
            </a:r>
            <a:br>
              <a:rPr sz="3200"/>
            </a:br>
            <a:br>
              <a:rPr sz="3200"/>
            </a:br>
            <a:br>
              <a:rPr sz="3200"/>
            </a:b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609480" y="139680"/>
            <a:ext cx="2588040" cy="67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0H 2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Rectangles 104"/>
          <p:cNvSpPr/>
          <p:nvPr/>
        </p:nvSpPr>
        <p:spPr>
          <a:xfrm>
            <a:off x="0" y="1143000"/>
            <a:ext cx="2508480" cy="52516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Erosion = 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Thresholding = 0.002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margin um = 0.5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overlap alpha = 0.4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viz min voxels = 2000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CLOSING = 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max_gap_UM = 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09480" y="138960"/>
            <a:ext cx="10963800" cy="67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0H 2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2" name="Picture 108"/>
          <p:cNvPicPr/>
          <p:nvPr/>
        </p:nvPicPr>
        <p:blipFill>
          <a:blip r:embed="rId1"/>
          <a:stretch/>
        </p:blipFill>
        <p:spPr>
          <a:xfrm>
            <a:off x="457200" y="914400"/>
            <a:ext cx="4958280" cy="525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" name="Picture 109"/>
          <p:cNvPicPr/>
          <p:nvPr/>
        </p:nvPicPr>
        <p:blipFill>
          <a:blip r:embed="rId2"/>
          <a:stretch/>
        </p:blipFill>
        <p:spPr>
          <a:xfrm>
            <a:off x="5718600" y="951840"/>
            <a:ext cx="4337280" cy="5222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609480" y="138960"/>
            <a:ext cx="10963800" cy="67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0H 3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ectangles 111"/>
          <p:cNvSpPr/>
          <p:nvPr/>
        </p:nvSpPr>
        <p:spPr>
          <a:xfrm>
            <a:off x="360" y="1143360"/>
            <a:ext cx="2508480" cy="52516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Erosion = 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Thresholding = 0.001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margin um = 0.5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overlap alpha = 0.4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viz min voxels = 2000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CLOSING = 9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max_gap_UM = 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09480" y="138960"/>
            <a:ext cx="10963800" cy="67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0H 3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7" name="Picture 115"/>
          <p:cNvPicPr/>
          <p:nvPr/>
        </p:nvPicPr>
        <p:blipFill>
          <a:blip r:embed="rId1"/>
          <a:stretch/>
        </p:blipFill>
        <p:spPr>
          <a:xfrm>
            <a:off x="475920" y="914400"/>
            <a:ext cx="5232960" cy="5463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8" name="Picture 116"/>
          <p:cNvPicPr/>
          <p:nvPr/>
        </p:nvPicPr>
        <p:blipFill>
          <a:blip r:embed="rId2"/>
          <a:stretch/>
        </p:blipFill>
        <p:spPr>
          <a:xfrm>
            <a:off x="5943600" y="914400"/>
            <a:ext cx="4824720" cy="5480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Green Color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002060"/>
      </a:hlink>
      <a:folHlink>
        <a:srgbClr val="996600"/>
      </a:folHlink>
    </a:clrScheme>
    <a:fontScheme name="Green Color">
      <a:majorFont>
        <a:latin typeface="Arial" pitchFamily="0" charset="1"/>
        <a:ea typeface="SimSun" pitchFamily="0" charset="1"/>
        <a:cs typeface=""/>
      </a:majorFont>
      <a:minorFont>
        <a:latin typeface="Arial" pitchFamily="0" charset="1"/>
        <a:ea typeface="SimSun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1348</TotalTime>
  <Application>LibreOffice/25.8.4.2$Windows_X86_64 LibreOffice_project/290daaa01b999472f0c7a3890eb6a550fd74c6df</Application>
  <AppVersion>15.0000</AppVersion>
  <Words>3518</Words>
  <Paragraphs>166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2024-11-18T13:41:00Z</dcterms:created>
  <dc:creator>Nahuel-Hernan Ramos</dc:creator>
  <dc:description/>
  <dc:language>en-US</dc:language>
  <cp:lastModifiedBy/>
  <dcterms:modified xsi:type="dcterms:W3CDTF">2026-02-18T18:19:40Z</dcterms:modified>
  <cp:revision>1037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01A98073925847589F8FCE52CF4D9B10_13</vt:lpwstr>
  </property>
  <property fmtid="{D5CDD505-2E9C-101B-9397-08002B2CF9AE}" pid="3" name="KSOProductBuildVer">
    <vt:lpwstr>2057-12.9.0.21549</vt:lpwstr>
  </property>
  <property fmtid="{D5CDD505-2E9C-101B-9397-08002B2CF9AE}" pid="4" name="PresentationFormat">
    <vt:lpwstr>Panorámica</vt:lpwstr>
  </property>
  <property fmtid="{D5CDD505-2E9C-101B-9397-08002B2CF9AE}" pid="5" name="Slides">
    <vt:i4>15</vt:i4>
  </property>
</Properties>
</file>