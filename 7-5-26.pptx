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6600" cy="566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5368680" cy="493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197760" y="1174680"/>
            <a:ext cx="5368680" cy="493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dt" idx="1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ftr" idx="2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6"/>
          <p:cNvSpPr>
            <a:spLocks noGrp="1"/>
          </p:cNvSpPr>
          <p:nvPr>
            <p:ph type="sldNum" idx="3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499400" cy="28364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499400" cy="14839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dt" idx="4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ftr" idx="5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sldNum" idx="6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6600" cy="566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40240" y="365040"/>
            <a:ext cx="10499400" cy="1309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40240" y="1681200"/>
            <a:ext cx="5142240" cy="8078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body"/>
          </p:nvPr>
        </p:nvSpPr>
        <p:spPr>
          <a:xfrm>
            <a:off x="840240" y="2505240"/>
            <a:ext cx="5142240" cy="3668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67440" cy="80784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67440" cy="36684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6"/>
          <p:cNvSpPr>
            <a:spLocks noGrp="1"/>
          </p:cNvSpPr>
          <p:nvPr>
            <p:ph type="dt" idx="10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7"/>
          <p:cNvSpPr>
            <a:spLocks noGrp="1"/>
          </p:cNvSpPr>
          <p:nvPr>
            <p:ph type="ftr" idx="11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8"/>
          <p:cNvSpPr>
            <a:spLocks noGrp="1"/>
          </p:cNvSpPr>
          <p:nvPr>
            <p:ph type="sldNum" idx="12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dt" idx="13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ftr" idx="14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sldNum" idx="15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839080" y="190440"/>
            <a:ext cx="2727000" cy="59209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90440"/>
            <a:ext cx="8010360" cy="592092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dt" idx="16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ftr" idx="17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sldNum" idx="18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6440" cy="1584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6000" cy="4857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6440" cy="3795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dt" idx="19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ftr" idx="20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sldNum" idx="21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40240" y="457200"/>
            <a:ext cx="3916440" cy="158400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5183640" y="987480"/>
            <a:ext cx="6156000" cy="4857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431640" indent="-324000">
              <a:lnSpc>
                <a:spcPct val="100000"/>
              </a:lnSpc>
              <a:spcBef>
                <a:spcPts val="141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86436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296000" lvl="2" indent="-28836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160360" lvl="4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6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840240" y="2057400"/>
            <a:ext cx="3916440" cy="37954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indent="0">
              <a:lnSpc>
                <a:spcPct val="100000"/>
              </a:lnSpc>
              <a:spcBef>
                <a:spcPts val="320"/>
              </a:spcBef>
              <a:buNone/>
              <a:tabLst>
                <a:tab algn="l" pos="0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2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3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24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Picture 10" hidden="1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54" name="Picture 3"/>
          <p:cNvPicPr/>
          <p:nvPr/>
        </p:nvPicPr>
        <p:blipFill>
          <a:blip r:embed="rId3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24240" y="3718080"/>
            <a:ext cx="10927080" cy="106632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25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26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27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6600" cy="566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6600" cy="4936680"/>
          </a:xfrm>
          <a:prstGeom prst="rect">
            <a:avLst/>
          </a:prstGeom>
          <a:noFill/>
          <a:ln w="9360">
            <a:noFill/>
          </a:ln>
        </p:spPr>
        <p:txBody>
          <a:bodyPr lIns="45000" rIns="45000" tIns="90000" bIns="90000" anchor="t" vert="eaVer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8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ftr" idx="29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5"/>
          <p:cNvSpPr>
            <a:spLocks noGrp="1"/>
          </p:cNvSpPr>
          <p:nvPr>
            <p:ph type="sldNum" idx="30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10"/>
          <p:cNvPicPr/>
          <p:nvPr/>
        </p:nvPicPr>
        <p:blipFill>
          <a:blip r:embed="rId2"/>
          <a:stretch/>
        </p:blipFill>
        <p:spPr>
          <a:xfrm>
            <a:off x="0" y="0"/>
            <a:ext cx="12175920" cy="6841800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609480" y="190440"/>
            <a:ext cx="10956600" cy="5662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36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title style</a:t>
            </a:r>
            <a:endParaRPr lang="en-US" sz="36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609480" y="1174680"/>
            <a:ext cx="10956600" cy="4936680"/>
          </a:xfrm>
          <a:prstGeom prst="rect">
            <a:avLst/>
          </a:prstGeom>
          <a:noFill/>
          <a:ln w="9360">
            <a:noFill/>
          </a:ln>
        </p:spPr>
        <p:txBody>
          <a:bodyPr lIns="90000" rIns="90000" tIns="45000" bIns="45000"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743040" lvl="1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143000" lvl="2" indent="-2286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Symbol" charset="2"/>
              <a:buChar char="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1600200" lvl="3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  <a:p>
            <a:pPr marL="2057400" lvl="4" indent="-2286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OpenSymbo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rial"/>
                <a:ea typeface="SimSun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31"/>
          </p:nvPr>
        </p:nvSpPr>
        <p:spPr>
          <a:xfrm>
            <a:off x="60948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32"/>
          </p:nvPr>
        </p:nvSpPr>
        <p:spPr>
          <a:xfrm>
            <a:off x="4165560" y="6245280"/>
            <a:ext cx="384444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SimSu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3"/>
          </p:nvPr>
        </p:nvSpPr>
        <p:spPr>
          <a:xfrm>
            <a:off x="8737560" y="6245280"/>
            <a:ext cx="2828520" cy="4600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slideLayout" Target="../slideLayouts/slideLayout1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image" Target="../media/image18.png"/><Relationship Id="rId3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1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slideLayout" Target="../slideLayouts/slideLayout1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1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1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slideLayout" Target="../slideLayouts/slideLayout1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image" Target="../media/image33.png"/><Relationship Id="rId3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1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ubTitle"/>
          </p:nvPr>
        </p:nvSpPr>
        <p:spPr>
          <a:xfrm>
            <a:off x="734760" y="1720800"/>
            <a:ext cx="10322280" cy="2884320"/>
          </a:xfrm>
          <a:prstGeom prst="rect">
            <a:avLst/>
          </a:prstGeom>
          <a:noFill/>
          <a:ln w="9360">
            <a:noFill/>
          </a:ln>
        </p:spPr>
        <p:txBody>
          <a:bodyPr lIns="91440" rIns="91440" tIns="45720" bIns="45720" anchor="t">
            <a:noAutofit/>
          </a:bodyPr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3D Image Segmentation and Quantification of Lysosomes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r>
              <a:rPr lang="en-US" sz="4300" b="1" i="1" u="none" strike="noStrike">
                <a:solidFill>
                  <a:srgbClr val="c00000"/>
                </a:solidFill>
                <a:effectLst/>
                <a:uFillTx/>
                <a:latin typeface="Arial"/>
                <a:ea typeface="SimSun"/>
              </a:rPr>
              <a:t>7/5/2025</a:t>
            </a: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859"/>
              </a:spcBef>
              <a:tabLst>
                <a:tab algn="l" pos="0"/>
              </a:tabLst>
            </a:pPr>
            <a:endParaRPr lang="en-US" sz="4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3"/>
          <p:cNvSpPr/>
          <p:nvPr/>
        </p:nvSpPr>
        <p:spPr>
          <a:xfrm>
            <a:off x="228600" y="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SIGNAL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ectangles 76"/>
          <p:cNvSpPr/>
          <p:nvPr/>
        </p:nvSpPr>
        <p:spPr>
          <a:xfrm>
            <a:off x="228600" y="703080"/>
            <a:ext cx="11198520" cy="1061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UNITS</a:t>
            </a:r>
            <a:endParaRPr lang="en-US" sz="2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Cell signal: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Sum of intensity over ALL voxels in the cell. </a:t>
            </a:r>
            <a:endParaRPr lang="en-US" sz="2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Lysosome signal individual: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Sum of intensity over ONLY the lysosome voxels.</a:t>
            </a:r>
            <a:endParaRPr lang="en-US" sz="2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sng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Lysosome signal per cell:</a:t>
            </a: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Sum of the pixel intensities of all lysosomes within a cell.</a:t>
            </a:r>
            <a:endParaRPr lang="en-US" sz="2000" b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They are in arbitrary intensity units (A.U.)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If the raw data is 16-bit → values are typically 0–65535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After removing the background and obtaining the mask →</a:t>
            </a:r>
            <a:r>
              <a:rPr lang="en-US" sz="2000" b="1" i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 A.U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So: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2a6099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Unit = "integrated fluorescence intensity" (A.U.).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Liberation Mono;Courier New;DejaVu Sans Mono;Lucida Sans Typewriter"/>
              </a:rPr>
              <a:t>Values are relative fluorescence (A.U.)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A.U. represent total fluorescence in the cell and lysosomes.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Liberation Mono;Courier New;DejaVu Sans Mono;Lucida Sans Typewriter"/>
                <a:ea typeface="Liberation Mono;Courier New;DejaVu Sans Mono;Lucida Sans Typewriter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</a:pPr>
            <a:endParaRPr lang="en-US" sz="1000" b="0" u="none" strike="noStrike">
              <a:solidFill>
                <a:srgbClr val="000000"/>
              </a:solidFill>
              <a:effectLst/>
              <a:uFillTx/>
              <a:latin typeface="Liberation Mono;Courier New;DejaVu Sans Mono;Lucida Sans Typewriter"/>
              <a:ea typeface="Liberation Mono;Courier New;DejaVu Sans Mono;Lucida Sans Typewriter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6"/>
          <p:cNvSpPr/>
          <p:nvPr/>
        </p:nvSpPr>
        <p:spPr>
          <a:xfrm>
            <a:off x="228600" y="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SIGNAL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ectangles 78"/>
          <p:cNvSpPr/>
          <p:nvPr/>
        </p:nvSpPr>
        <p:spPr>
          <a:xfrm>
            <a:off x="228600" y="703080"/>
            <a:ext cx="11198520" cy="468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LYSOSOME SIGNAL PER CELL = signal lys 1 + signal lys 2 + ………………...+ signal lys 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CELL SIGNAL = LYSOSOME SIGNAL PER CELL + REST CELL SIGNAL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REST CELL SIGNAL =  TOTAL SIGNAL -LYSOSOME SIGNAL PER CELL  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"/>
          <p:cNvGraphicFramePr/>
          <p:nvPr/>
        </p:nvGraphicFramePr>
        <p:xfrm>
          <a:off x="2372760" y="1847880"/>
          <a:ext cx="5075280" cy="1038600"/>
        </p:xfrm>
        <a:graphic>
          <a:graphicData uri="http://schemas.openxmlformats.org/drawingml/2006/table">
            <a:tbl>
              <a:tblPr/>
              <a:tblGrid>
                <a:gridCol w="1268640"/>
                <a:gridCol w="1268640"/>
                <a:gridCol w="1268640"/>
                <a:gridCol w="126972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VOXEL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INTENSITY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SIGNAL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LYS PER CELL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4500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REST CELL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1500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 gridSpan="3"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TOTAL SIGNAL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6000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77" name=""/>
          <p:cNvGraphicFramePr/>
          <p:nvPr/>
        </p:nvGraphicFramePr>
        <p:xfrm>
          <a:off x="2370240" y="4156560"/>
          <a:ext cx="5075280" cy="1038600"/>
        </p:xfrm>
        <a:graphic>
          <a:graphicData uri="http://schemas.openxmlformats.org/drawingml/2006/table">
            <a:tbl>
              <a:tblPr/>
              <a:tblGrid>
                <a:gridCol w="2537640"/>
                <a:gridCol w="2538000"/>
              </a:tblGrid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%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LYS PER CELL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6320"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REST CELL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tIns="36000" bIns="36000" anchor="t">
                      <a:noAutofit/>
                    </a:bodyPr>
                    <a:p>
                      <a:pPr algn="ctr"/>
                      <a:r>
                        <a:rPr lang="en-US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36000" marB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2"/>
          <p:cNvSpPr/>
          <p:nvPr/>
        </p:nvSpPr>
        <p:spPr>
          <a:xfrm>
            <a:off x="228600" y="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FILES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ectangles 2"/>
          <p:cNvSpPr/>
          <p:nvPr/>
        </p:nvSpPr>
        <p:spPr>
          <a:xfrm>
            <a:off x="228600" y="703080"/>
            <a:ext cx="11198520" cy="935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WITHOUT MUTATION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40A 71G10 MARCM_around 12h - for quantification_3 Airy-Cbs_300425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40A 71G10 MARCM_around 12h - for quantification_3 Airy-Cbs_300425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40A 71G10 MARCM_around 12h - for quantification_3 Airy-Cbs_040525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40A 71G10 MARCM_around 12h - for quantification_3 Airy-Cbs_060525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40A_UAS-TMEM192-3xHA x OK107 40A GFP MARCM_18h_2_airy_CB_120323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MUTATION VAMP7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VAMP7-TRIP_40A_UAS-TMEM192-3xHA x OK107 40A GFP MARCM _18h_2_CB_airy_120223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  <a:buClr>
                <a:srgbClr val="000000"/>
              </a:buClr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VAMP7-TRIP_40A_UAS-TMEM192-3xHA x OK107 40A GFP MARCM _18h_3_CB_airy_070323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340"/>
              </a:spcBef>
              <a:spcAft>
                <a:spcPts val="139"/>
              </a:spcAft>
            </a:pPr>
            <a:r>
              <a:rPr lang="en-US" sz="1600" b="0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 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89"/>
              </a:spcAf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21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12H-3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12H-3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2" name="Rectangles 3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9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0.0085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3" name=""/>
          <p:cNvPicPr/>
          <p:nvPr/>
        </p:nvPicPr>
        <p:blipFill>
          <a:blip r:embed="rId1"/>
          <a:stretch/>
        </p:blipFill>
        <p:spPr>
          <a:xfrm>
            <a:off x="2057400" y="1371600"/>
            <a:ext cx="5154120" cy="43513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4" name=""/>
          <p:cNvPicPr/>
          <p:nvPr/>
        </p:nvPicPr>
        <p:blipFill>
          <a:blip r:embed="rId2"/>
          <a:stretch/>
        </p:blipFill>
        <p:spPr>
          <a:xfrm>
            <a:off x="6988680" y="1371600"/>
            <a:ext cx="5127120" cy="4329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3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12H-3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86" name=""/>
          <p:cNvPicPr/>
          <p:nvPr/>
        </p:nvPicPr>
        <p:blipFill>
          <a:blip r:embed="rId1"/>
          <a:stretch/>
        </p:blipFill>
        <p:spPr>
          <a:xfrm>
            <a:off x="671760" y="1143000"/>
            <a:ext cx="5271840" cy="4450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7" name=""/>
          <p:cNvPicPr/>
          <p:nvPr/>
        </p:nvPicPr>
        <p:blipFill>
          <a:blip r:embed="rId2"/>
          <a:stretch/>
        </p:blipFill>
        <p:spPr>
          <a:xfrm>
            <a:off x="6279480" y="1173600"/>
            <a:ext cx="5379120" cy="4541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25"/>
          <p:cNvSpPr/>
          <p:nvPr/>
        </p:nvSpPr>
        <p:spPr>
          <a:xfrm>
            <a:off x="609480" y="13860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12H-3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3429000" y="1371600"/>
            <a:ext cx="2291040" cy="1934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0" name=""/>
          <p:cNvPicPr/>
          <p:nvPr/>
        </p:nvPicPr>
        <p:blipFill>
          <a:blip r:embed="rId2"/>
          <a:stretch/>
        </p:blipFill>
        <p:spPr>
          <a:xfrm>
            <a:off x="685800" y="1371600"/>
            <a:ext cx="2286000" cy="1929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1" name=""/>
          <p:cNvPicPr/>
          <p:nvPr/>
        </p:nvPicPr>
        <p:blipFill>
          <a:blip r:embed="rId3"/>
          <a:stretch/>
        </p:blipFill>
        <p:spPr>
          <a:xfrm>
            <a:off x="685800" y="4114800"/>
            <a:ext cx="2436480" cy="205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2" name=""/>
          <p:cNvSpPr txBox="1"/>
          <p:nvPr/>
        </p:nvSpPr>
        <p:spPr>
          <a:xfrm>
            <a:off x="914400" y="35398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3716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38862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"/>
          <p:cNvPicPr/>
          <p:nvPr/>
        </p:nvPicPr>
        <p:blipFill>
          <a:blip r:embed="rId4"/>
          <a:stretch/>
        </p:blipFill>
        <p:spPr>
          <a:xfrm>
            <a:off x="6067440" y="1371600"/>
            <a:ext cx="2390760" cy="2018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6629400" y="7966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"/>
          <p:cNvPicPr/>
          <p:nvPr/>
        </p:nvPicPr>
        <p:blipFill>
          <a:blip r:embed="rId5"/>
          <a:stretch/>
        </p:blipFill>
        <p:spPr>
          <a:xfrm>
            <a:off x="8763480" y="1371600"/>
            <a:ext cx="1523520" cy="205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"/>
          <p:cNvSpPr txBox="1"/>
          <p:nvPr/>
        </p:nvSpPr>
        <p:spPr>
          <a:xfrm>
            <a:off x="9144000" y="7966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"/>
          <p:cNvPicPr/>
          <p:nvPr/>
        </p:nvPicPr>
        <p:blipFill>
          <a:blip r:embed="rId6"/>
          <a:stretch/>
        </p:blipFill>
        <p:spPr>
          <a:xfrm>
            <a:off x="3429000" y="4114800"/>
            <a:ext cx="2057400" cy="222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0" name=""/>
          <p:cNvSpPr txBox="1"/>
          <p:nvPr/>
        </p:nvSpPr>
        <p:spPr>
          <a:xfrm>
            <a:off x="3886200" y="35398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/>
          <p:cNvPicPr/>
          <p:nvPr/>
        </p:nvPicPr>
        <p:blipFill>
          <a:blip r:embed="rId7"/>
          <a:stretch/>
        </p:blipFill>
        <p:spPr>
          <a:xfrm>
            <a:off x="6172200" y="4114800"/>
            <a:ext cx="2502000" cy="211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2" name=""/>
          <p:cNvSpPr txBox="1"/>
          <p:nvPr/>
        </p:nvSpPr>
        <p:spPr>
          <a:xfrm>
            <a:off x="6629400" y="35398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27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12-H3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4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12H-4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12H-4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06" name="Rectangles 4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0.0125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15000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"/>
          <p:cNvPicPr/>
          <p:nvPr/>
        </p:nvPicPr>
        <p:blipFill>
          <a:blip r:embed="rId1"/>
          <a:stretch/>
        </p:blipFill>
        <p:spPr>
          <a:xfrm>
            <a:off x="2057400" y="1143000"/>
            <a:ext cx="4873680" cy="4114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"/>
          <p:cNvPicPr/>
          <p:nvPr/>
        </p:nvPicPr>
        <p:blipFill>
          <a:blip r:embed="rId2"/>
          <a:stretch/>
        </p:blipFill>
        <p:spPr>
          <a:xfrm>
            <a:off x="7062480" y="1084320"/>
            <a:ext cx="4942800" cy="4173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9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12H-4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10" name=""/>
          <p:cNvPicPr/>
          <p:nvPr/>
        </p:nvPicPr>
        <p:blipFill>
          <a:blip r:embed="rId1"/>
          <a:stretch/>
        </p:blipFill>
        <p:spPr>
          <a:xfrm>
            <a:off x="71280" y="1371600"/>
            <a:ext cx="5415120" cy="4572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7"/>
          <p:cNvSpPr/>
          <p:nvPr/>
        </p:nvSpPr>
        <p:spPr>
          <a:xfrm>
            <a:off x="609480" y="13860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12H-4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32004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77724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4" name=""/>
          <p:cNvPicPr/>
          <p:nvPr/>
        </p:nvPicPr>
        <p:blipFill>
          <a:blip r:embed="rId1"/>
          <a:stretch/>
        </p:blipFill>
        <p:spPr>
          <a:xfrm>
            <a:off x="457200" y="1600200"/>
            <a:ext cx="5144760" cy="4343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5" name=""/>
          <p:cNvPicPr/>
          <p:nvPr/>
        </p:nvPicPr>
        <p:blipFill>
          <a:blip r:embed="rId2"/>
          <a:stretch/>
        </p:blipFill>
        <p:spPr>
          <a:xfrm>
            <a:off x="6028200" y="1600200"/>
            <a:ext cx="5144400" cy="4343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8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12H-4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0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12H-5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12H-5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s 5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10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22000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"/>
          <p:cNvPicPr/>
          <p:nvPr/>
        </p:nvPicPr>
        <p:blipFill>
          <a:blip r:embed="rId1"/>
          <a:stretch/>
        </p:blipFill>
        <p:spPr>
          <a:xfrm>
            <a:off x="2441520" y="1600200"/>
            <a:ext cx="4602960" cy="388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1" name=""/>
          <p:cNvPicPr/>
          <p:nvPr/>
        </p:nvPicPr>
        <p:blipFill>
          <a:blip r:embed="rId2"/>
          <a:stretch/>
        </p:blipFill>
        <p:spPr>
          <a:xfrm>
            <a:off x="7512480" y="1600200"/>
            <a:ext cx="4603320" cy="3886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2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12H-5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4"/>
          <p:cNvSpPr/>
          <p:nvPr/>
        </p:nvSpPr>
        <p:spPr>
          <a:xfrm>
            <a:off x="-76320" y="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12H-5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228600" y="6858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172200" y="6858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6400800" y="4343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0" y="4343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"/>
          <p:cNvPicPr/>
          <p:nvPr/>
        </p:nvPicPr>
        <p:blipFill>
          <a:blip r:embed="rId1"/>
          <a:stretch/>
        </p:blipFill>
        <p:spPr>
          <a:xfrm>
            <a:off x="685800" y="697680"/>
            <a:ext cx="3505680" cy="295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"/>
          <p:cNvPicPr/>
          <p:nvPr/>
        </p:nvPicPr>
        <p:blipFill>
          <a:blip r:embed="rId2"/>
          <a:stretch/>
        </p:blipFill>
        <p:spPr>
          <a:xfrm>
            <a:off x="6877080" y="685800"/>
            <a:ext cx="3638520" cy="2914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0" name=""/>
          <p:cNvPicPr/>
          <p:nvPr/>
        </p:nvPicPr>
        <p:blipFill>
          <a:blip r:embed="rId3"/>
          <a:stretch/>
        </p:blipFill>
        <p:spPr>
          <a:xfrm>
            <a:off x="7086600" y="3857760"/>
            <a:ext cx="3429000" cy="2750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1" name=""/>
          <p:cNvPicPr/>
          <p:nvPr/>
        </p:nvPicPr>
        <p:blipFill>
          <a:blip r:embed="rId4"/>
          <a:stretch/>
        </p:blipFill>
        <p:spPr>
          <a:xfrm>
            <a:off x="1143000" y="3886200"/>
            <a:ext cx="3429000" cy="2895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5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12H-5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6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12H-6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s 6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10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0.0045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25000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6" name=""/>
          <p:cNvPicPr/>
          <p:nvPr/>
        </p:nvPicPr>
        <p:blipFill>
          <a:blip r:embed="rId1"/>
          <a:stretch/>
        </p:blipFill>
        <p:spPr>
          <a:xfrm>
            <a:off x="2057400" y="1600200"/>
            <a:ext cx="4602960" cy="38862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7" name=""/>
          <p:cNvPicPr/>
          <p:nvPr/>
        </p:nvPicPr>
        <p:blipFill>
          <a:blip r:embed="rId2"/>
          <a:stretch/>
        </p:blipFill>
        <p:spPr>
          <a:xfrm>
            <a:off x="6770520" y="1603080"/>
            <a:ext cx="4599360" cy="3883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7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12H-6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39" name=""/>
          <p:cNvPicPr/>
          <p:nvPr/>
        </p:nvPicPr>
        <p:blipFill>
          <a:blip r:embed="rId1"/>
          <a:stretch/>
        </p:blipFill>
        <p:spPr>
          <a:xfrm>
            <a:off x="0" y="1143000"/>
            <a:ext cx="5716800" cy="4826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"/>
          <p:cNvPicPr/>
          <p:nvPr/>
        </p:nvPicPr>
        <p:blipFill>
          <a:blip r:embed="rId2"/>
          <a:stretch/>
        </p:blipFill>
        <p:spPr>
          <a:xfrm>
            <a:off x="5965920" y="1143000"/>
            <a:ext cx="5685840" cy="480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8"/>
          <p:cNvSpPr/>
          <p:nvPr/>
        </p:nvSpPr>
        <p:spPr>
          <a:xfrm>
            <a:off x="609480" y="13860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12H-6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13716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64008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3657600" y="38862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5" name=""/>
          <p:cNvPicPr/>
          <p:nvPr/>
        </p:nvPicPr>
        <p:blipFill>
          <a:blip r:embed="rId1"/>
          <a:stretch/>
        </p:blipFill>
        <p:spPr>
          <a:xfrm>
            <a:off x="1828800" y="809640"/>
            <a:ext cx="3341880" cy="2821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6" name=""/>
          <p:cNvPicPr/>
          <p:nvPr/>
        </p:nvPicPr>
        <p:blipFill>
          <a:blip r:embed="rId2"/>
          <a:stretch/>
        </p:blipFill>
        <p:spPr>
          <a:xfrm>
            <a:off x="7315200" y="659520"/>
            <a:ext cx="3551040" cy="2998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7" name=""/>
          <p:cNvPicPr/>
          <p:nvPr/>
        </p:nvPicPr>
        <p:blipFill>
          <a:blip r:embed="rId3"/>
          <a:stretch/>
        </p:blipFill>
        <p:spPr>
          <a:xfrm>
            <a:off x="4252680" y="3657600"/>
            <a:ext cx="3519720" cy="2971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9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12H-6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20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18H-2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13248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18H-2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s 7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7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10000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24"/>
          <p:cNvSpPr txBox="1"/>
          <p:nvPr/>
        </p:nvSpPr>
        <p:spPr>
          <a:xfrm>
            <a:off x="390960" y="132840"/>
            <a:ext cx="2580840" cy="682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18H-2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1"/>
          <a:stretch/>
        </p:blipFill>
        <p:spPr>
          <a:xfrm>
            <a:off x="6344640" y="1143000"/>
            <a:ext cx="5628960" cy="4800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4" name=""/>
          <p:cNvPicPr/>
          <p:nvPr/>
        </p:nvPicPr>
        <p:blipFill>
          <a:blip r:embed="rId2"/>
          <a:stretch/>
        </p:blipFill>
        <p:spPr>
          <a:xfrm>
            <a:off x="127800" y="1143000"/>
            <a:ext cx="5628960" cy="480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26"/>
          <p:cNvSpPr/>
          <p:nvPr/>
        </p:nvSpPr>
        <p:spPr>
          <a:xfrm>
            <a:off x="609480" y="138600"/>
            <a:ext cx="46483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18H-2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3716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6400800" y="3394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685800" y="36576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400800" y="38862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28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18H-2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29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18H-2 VAMP7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title"/>
          </p:nvPr>
        </p:nvSpPr>
        <p:spPr>
          <a:xfrm>
            <a:off x="609480" y="-196560"/>
            <a:ext cx="487692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18H-2 VAMP7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s 8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20000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31"/>
          <p:cNvSpPr txBox="1"/>
          <p:nvPr/>
        </p:nvSpPr>
        <p:spPr>
          <a:xfrm>
            <a:off x="390960" y="-196200"/>
            <a:ext cx="395244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18H-2 VAMP7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32"/>
          <p:cNvSpPr/>
          <p:nvPr/>
        </p:nvSpPr>
        <p:spPr>
          <a:xfrm>
            <a:off x="609480" y="138600"/>
            <a:ext cx="64771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18H-2 VAMP7  CELLS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1371600" y="9144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6172200" y="96948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4343400" y="3886200"/>
            <a:ext cx="685800" cy="346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33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18H-2 VAMP7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34"/>
          <p:cNvSpPr/>
          <p:nvPr/>
        </p:nvSpPr>
        <p:spPr>
          <a:xfrm>
            <a:off x="1143000" y="2743560"/>
            <a:ext cx="10956600" cy="74592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36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18H-3 VAMP7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-196560"/>
            <a:ext cx="441972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18H-3 VAMP7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172" name="Rectangles 9"/>
          <p:cNvSpPr/>
          <p:nvPr/>
        </p:nvSpPr>
        <p:spPr>
          <a:xfrm>
            <a:off x="1440" y="914400"/>
            <a:ext cx="2279160" cy="524448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Erosion = 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Thresholding = 0.025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margin um = 1.2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overlap alpha = 0.6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SimSun"/>
              </a:rPr>
              <a:t>viz min voxels = 10000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3" name=""/>
          <p:cNvPicPr/>
          <p:nvPr/>
        </p:nvPicPr>
        <p:blipFill>
          <a:blip r:embed="rId1"/>
          <a:stretch/>
        </p:blipFill>
        <p:spPr>
          <a:xfrm>
            <a:off x="2057400" y="1537920"/>
            <a:ext cx="4629600" cy="3948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4" name=""/>
          <p:cNvPicPr/>
          <p:nvPr/>
        </p:nvPicPr>
        <p:blipFill>
          <a:blip r:embed="rId2"/>
          <a:stretch/>
        </p:blipFill>
        <p:spPr>
          <a:xfrm>
            <a:off x="6729480" y="1537920"/>
            <a:ext cx="4629600" cy="3948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36"/>
          <p:cNvSpPr txBox="1"/>
          <p:nvPr/>
        </p:nvSpPr>
        <p:spPr>
          <a:xfrm>
            <a:off x="390960" y="-196200"/>
            <a:ext cx="3952440" cy="1341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</a:rPr>
              <a:t> 18H-3 VAMP7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pic>
        <p:nvPicPr>
          <p:cNvPr id="176" name=""/>
          <p:cNvPicPr/>
          <p:nvPr/>
        </p:nvPicPr>
        <p:blipFill>
          <a:blip r:embed="rId1"/>
          <a:stretch/>
        </p:blipFill>
        <p:spPr>
          <a:xfrm>
            <a:off x="3859920" y="1080720"/>
            <a:ext cx="5969880" cy="50914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37"/>
          <p:cNvSpPr/>
          <p:nvPr/>
        </p:nvSpPr>
        <p:spPr>
          <a:xfrm>
            <a:off x="609480" y="138600"/>
            <a:ext cx="6477120" cy="6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18H-3 VAMP7  CELL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8" name=""/>
          <p:cNvPicPr/>
          <p:nvPr/>
        </p:nvPicPr>
        <p:blipFill>
          <a:blip r:embed="rId1"/>
          <a:stretch/>
        </p:blipFill>
        <p:spPr>
          <a:xfrm>
            <a:off x="0" y="914400"/>
            <a:ext cx="6008400" cy="5124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9" name=""/>
          <p:cNvPicPr/>
          <p:nvPr/>
        </p:nvPicPr>
        <p:blipFill>
          <a:blip r:embed="rId2"/>
          <a:stretch/>
        </p:blipFill>
        <p:spPr>
          <a:xfrm>
            <a:off x="6486840" y="1143000"/>
            <a:ext cx="5628960" cy="48006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38"/>
          <p:cNvSpPr/>
          <p:nvPr/>
        </p:nvSpPr>
        <p:spPr>
          <a:xfrm>
            <a:off x="468000" y="239400"/>
            <a:ext cx="10956600" cy="66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lang="en-US" sz="4400" b="1" u="none" strike="noStrike">
                <a:solidFill>
                  <a:srgbClr val="ff0000"/>
                </a:solidFill>
                <a:effectLst/>
                <a:uFillTx/>
                <a:latin typeface="Arial"/>
                <a:ea typeface="SimSun"/>
              </a:rPr>
              <a:t>DATASETS 18H-3 VAMP7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1_Green Color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9900"/>
      </a:accent1>
      <a:accent2>
        <a:srgbClr val="99cc00"/>
      </a:accent2>
      <a:accent3>
        <a:srgbClr val="ffffff"/>
      </a:accent3>
      <a:accent4>
        <a:srgbClr val="000000"/>
      </a:accent4>
      <a:accent5>
        <a:srgbClr val="aacaaa"/>
      </a:accent5>
      <a:accent6>
        <a:srgbClr val="8ab900"/>
      </a:accent6>
      <a:hlink>
        <a:srgbClr val="002060"/>
      </a:hlink>
      <a:folHlink>
        <a:srgbClr val="996600"/>
      </a:folHlink>
    </a:clrScheme>
    <a:fontScheme name="Green Color">
      <a:majorFont>
        <a:latin typeface="Arial" pitchFamily="0" charset="1"/>
        <a:ea typeface="SimSun" pitchFamily="0" charset="1"/>
        <a:cs typeface=""/>
      </a:majorFont>
      <a:minorFont>
        <a:latin typeface="Arial" pitchFamily="0" charset="1"/>
        <a:ea typeface="SimSun" pitchFamily="0" charset="1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84</TotalTime>
  <Application>LibreOffice/25.8.5.2$Windows_X86_64 LibreOffice_project/9c8b85f387cc00a89945a79c9e6239f32e450ac2</Application>
  <AppVersion>15.0000</AppVersion>
  <Words>5669</Words>
  <Paragraphs>351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2024-11-18T13:41:00Z</dcterms:created>
  <dc:creator>Nahuel-Hernan Ramos</dc:creator>
  <dc:description/>
  <dc:language>en-US</dc:language>
  <cp:lastModifiedBy/>
  <dcterms:modified xsi:type="dcterms:W3CDTF">2026-05-06T16:24:45Z</dcterms:modified>
  <cp:revision>1169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01A98073925847589F8FCE52CF4D9B10_13</vt:lpwstr>
  </property>
  <property fmtid="{D5CDD505-2E9C-101B-9397-08002B2CF9AE}" pid="3" name="KSOProductBuildVer">
    <vt:lpwstr>2057-12.9.0.21549</vt:lpwstr>
  </property>
  <property fmtid="{D5CDD505-2E9C-101B-9397-08002B2CF9AE}" pid="4" name="PresentationFormat">
    <vt:lpwstr>Panorámica</vt:lpwstr>
  </property>
  <property fmtid="{D5CDD505-2E9C-101B-9397-08002B2CF9AE}" pid="5" name="Slides">
    <vt:i4>26</vt:i4>
  </property>
</Properties>
</file>