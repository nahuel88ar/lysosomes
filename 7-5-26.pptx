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6868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6868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499400" cy="2836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499400" cy="1483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499400" cy="1309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2240" cy="807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2240" cy="366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67440" cy="807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67440" cy="366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27000" cy="59209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0360" cy="59209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6440" cy="1584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6000" cy="4857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6440" cy="3795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6440" cy="1584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6000" cy="485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6440" cy="3795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4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27080" cy="106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6600" cy="49366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660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2280" cy="28843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7/5/2025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3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SIGNAL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s 76"/>
          <p:cNvSpPr/>
          <p:nvPr/>
        </p:nvSpPr>
        <p:spPr>
          <a:xfrm>
            <a:off x="228600" y="703080"/>
            <a:ext cx="11198520" cy="10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Cell signal: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Sum of intensity over ALL voxels in the cell. 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individual: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Sum of intensity over ONLY the lysosome voxels.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per cell:</a:t>
            </a: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Sum of the pixel intensities of all lysosomes within a cell.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They are in arbitrary intensity units (A.U.)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If the raw data is 16-bit → values are typically 0–65535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After removing the background and obtaining the mask →</a:t>
            </a:r>
            <a:r>
              <a:rPr lang="en-US" sz="20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 A.U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So: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Unit = "integrated fluorescence intensity" (A.U.).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Values are relative fluorescence (A.U.)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A.U. represent total fluorescence in the cell and lysosomes.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6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SIGNAL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s 78"/>
          <p:cNvSpPr/>
          <p:nvPr/>
        </p:nvSpPr>
        <p:spPr>
          <a:xfrm>
            <a:off x="228600" y="703080"/>
            <a:ext cx="11198520" cy="46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PER CELL = signal lys 1 + signal lys 2 + ………………...+ signal lys 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TOTAL SIGNAL = LYSOSOME SIGNAL PER CELL + REST CELL SIGNAL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REST CELL SIGNAL =  TOTAL SIGNAL -LYSOSOME SIGNAL PER CELL 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2372760" y="1847880"/>
          <a:ext cx="5075280" cy="1038600"/>
        </p:xfrm>
        <a:graphic>
          <a:graphicData uri="http://schemas.openxmlformats.org/drawingml/2006/table">
            <a:tbl>
              <a:tblPr/>
              <a:tblGrid>
                <a:gridCol w="1268640"/>
                <a:gridCol w="1268640"/>
                <a:gridCol w="1268640"/>
                <a:gridCol w="126972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VOXEL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LYS PER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4500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REST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 gridSpan="3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TOTAL SIGNAL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6000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7" name=""/>
          <p:cNvGraphicFramePr/>
          <p:nvPr/>
        </p:nvGraphicFramePr>
        <p:xfrm>
          <a:off x="2370240" y="4156560"/>
          <a:ext cx="5075280" cy="1038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%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LYS PER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REST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2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FILES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s 2"/>
          <p:cNvSpPr/>
          <p:nvPr/>
        </p:nvSpPr>
        <p:spPr>
          <a:xfrm>
            <a:off x="228600" y="703080"/>
            <a:ext cx="11198520" cy="9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WITHOUT MUTATION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Airy-Cbs_300425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Airy-Cbs_300425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Airy-Cbs_040525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Airy-Cbs_060525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OK107 40A GFP MARCM_18h_2_airy_CB_120323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MUTATION VAMP7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VAMP7-TRIP_40A_UAS-TMEM192-3xHA x OK107 40A GFP MARCM _18h_2_CB_airy_120223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VAMP7-TRIP_40A_UAS-TMEM192-3xHA x OK107 40A GFP MARCM _18h_3_CB_airy_070323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21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12H-3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12H-3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s 3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0.0085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2057400" y="1371600"/>
            <a:ext cx="5154120" cy="435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2"/>
          <a:stretch/>
        </p:blipFill>
        <p:spPr>
          <a:xfrm>
            <a:off x="6988680" y="1371600"/>
            <a:ext cx="5127120" cy="432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3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12H-3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671760" y="1143000"/>
            <a:ext cx="5271840" cy="445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6279480" y="1173600"/>
            <a:ext cx="5379120" cy="4541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25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12H-3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3429000" y="1371600"/>
            <a:ext cx="2291040" cy="193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"/>
          <p:cNvPicPr/>
          <p:nvPr/>
        </p:nvPicPr>
        <p:blipFill>
          <a:blip r:embed="rId2"/>
          <a:stretch/>
        </p:blipFill>
        <p:spPr>
          <a:xfrm>
            <a:off x="685800" y="1371600"/>
            <a:ext cx="2286000" cy="192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3"/>
          <a:stretch/>
        </p:blipFill>
        <p:spPr>
          <a:xfrm>
            <a:off x="685800" y="4114800"/>
            <a:ext cx="2436480" cy="205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"/>
          <p:cNvSpPr txBox="1"/>
          <p:nvPr/>
        </p:nvSpPr>
        <p:spPr>
          <a:xfrm>
            <a:off x="9144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8862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"/>
          <p:cNvPicPr/>
          <p:nvPr/>
        </p:nvPicPr>
        <p:blipFill>
          <a:blip r:embed="rId4"/>
          <a:stretch/>
        </p:blipFill>
        <p:spPr>
          <a:xfrm>
            <a:off x="6067440" y="1371600"/>
            <a:ext cx="2390760" cy="20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6629400" y="7966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5"/>
          <a:stretch/>
        </p:blipFill>
        <p:spPr>
          <a:xfrm>
            <a:off x="8763480" y="1371600"/>
            <a:ext cx="1523520" cy="205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 txBox="1"/>
          <p:nvPr/>
        </p:nvSpPr>
        <p:spPr>
          <a:xfrm>
            <a:off x="9144000" y="7966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6"/>
          <a:stretch/>
        </p:blipFill>
        <p:spPr>
          <a:xfrm>
            <a:off x="3429000" y="4114800"/>
            <a:ext cx="2057400" cy="222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"/>
          <p:cNvSpPr txBox="1"/>
          <p:nvPr/>
        </p:nvSpPr>
        <p:spPr>
          <a:xfrm>
            <a:off x="38862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7"/>
          <a:stretch/>
        </p:blipFill>
        <p:spPr>
          <a:xfrm>
            <a:off x="6172200" y="4114800"/>
            <a:ext cx="2502000" cy="211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 txBox="1"/>
          <p:nvPr/>
        </p:nvSpPr>
        <p:spPr>
          <a:xfrm>
            <a:off x="66294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27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12-H3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/>
          <p:cNvPicPr/>
          <p:nvPr/>
        </p:nvPicPr>
        <p:blipFill>
          <a:blip r:embed="rId1"/>
          <a:stretch/>
        </p:blipFill>
        <p:spPr>
          <a:xfrm>
            <a:off x="180360" y="952920"/>
            <a:ext cx="11132640" cy="247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"/>
          <p:cNvPicPr/>
          <p:nvPr/>
        </p:nvPicPr>
        <p:blipFill>
          <a:blip r:embed="rId2"/>
          <a:stretch/>
        </p:blipFill>
        <p:spPr>
          <a:xfrm>
            <a:off x="180360" y="3467520"/>
            <a:ext cx="10298880" cy="179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"/>
          <p:cNvPicPr/>
          <p:nvPr/>
        </p:nvPicPr>
        <p:blipFill>
          <a:blip r:embed="rId3"/>
          <a:stretch/>
        </p:blipFill>
        <p:spPr>
          <a:xfrm>
            <a:off x="228600" y="5334480"/>
            <a:ext cx="4231440" cy="12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"/>
          <p:cNvPicPr/>
          <p:nvPr/>
        </p:nvPicPr>
        <p:blipFill>
          <a:blip r:embed="rId4"/>
          <a:stretch/>
        </p:blipFill>
        <p:spPr>
          <a:xfrm>
            <a:off x="5162760" y="5486400"/>
            <a:ext cx="3323880" cy="108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4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12H-4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12H-4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s 4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0.0125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15000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2057400" y="1143000"/>
            <a:ext cx="4873680" cy="411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"/>
          <p:cNvPicPr/>
          <p:nvPr/>
        </p:nvPicPr>
        <p:blipFill>
          <a:blip r:embed="rId2"/>
          <a:stretch/>
        </p:blipFill>
        <p:spPr>
          <a:xfrm>
            <a:off x="7062480" y="1084320"/>
            <a:ext cx="4942800" cy="417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9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12H-4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14" name=""/>
          <p:cNvPicPr/>
          <p:nvPr/>
        </p:nvPicPr>
        <p:blipFill>
          <a:blip r:embed="rId1"/>
          <a:stretch/>
        </p:blipFill>
        <p:spPr>
          <a:xfrm>
            <a:off x="71280" y="1371600"/>
            <a:ext cx="5415120" cy="457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7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12H-4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32004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7724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5144760" cy="434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2"/>
          <a:stretch/>
        </p:blipFill>
        <p:spPr>
          <a:xfrm>
            <a:off x="6028200" y="1600200"/>
            <a:ext cx="5144400" cy="434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12H-4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0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12H-5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12H-5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s 5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2441520" y="1600200"/>
            <a:ext cx="4602960" cy="388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/>
          <p:cNvPicPr/>
          <p:nvPr/>
        </p:nvPicPr>
        <p:blipFill>
          <a:blip r:embed="rId2"/>
          <a:stretch/>
        </p:blipFill>
        <p:spPr>
          <a:xfrm>
            <a:off x="7512480" y="1600200"/>
            <a:ext cx="4603320" cy="38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2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12H-5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4"/>
          <p:cNvSpPr/>
          <p:nvPr/>
        </p:nvSpPr>
        <p:spPr>
          <a:xfrm>
            <a:off x="-76320" y="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12H-5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228600" y="6858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172200" y="6858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400800" y="4343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0" y="4343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685800" y="697680"/>
            <a:ext cx="3505680" cy="295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"/>
          <p:cNvPicPr/>
          <p:nvPr/>
        </p:nvPicPr>
        <p:blipFill>
          <a:blip r:embed="rId2"/>
          <a:stretch/>
        </p:blipFill>
        <p:spPr>
          <a:xfrm>
            <a:off x="6877080" y="685800"/>
            <a:ext cx="3638520" cy="291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"/>
          <p:cNvPicPr/>
          <p:nvPr/>
        </p:nvPicPr>
        <p:blipFill>
          <a:blip r:embed="rId3"/>
          <a:stretch/>
        </p:blipFill>
        <p:spPr>
          <a:xfrm>
            <a:off x="7086600" y="3857760"/>
            <a:ext cx="3429000" cy="275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"/>
          <p:cNvPicPr/>
          <p:nvPr/>
        </p:nvPicPr>
        <p:blipFill>
          <a:blip r:embed="rId4"/>
          <a:stretch/>
        </p:blipFill>
        <p:spPr>
          <a:xfrm>
            <a:off x="1143000" y="3886200"/>
            <a:ext cx="3429000" cy="289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5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12H-5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6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12H-6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s 6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25000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"/>
          <p:cNvPicPr/>
          <p:nvPr/>
        </p:nvPicPr>
        <p:blipFill>
          <a:blip r:embed="rId1"/>
          <a:stretch/>
        </p:blipFill>
        <p:spPr>
          <a:xfrm>
            <a:off x="2057400" y="1600200"/>
            <a:ext cx="4602960" cy="388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1" name=""/>
          <p:cNvPicPr/>
          <p:nvPr/>
        </p:nvPicPr>
        <p:blipFill>
          <a:blip r:embed="rId2"/>
          <a:stretch/>
        </p:blipFill>
        <p:spPr>
          <a:xfrm>
            <a:off x="6770520" y="1603080"/>
            <a:ext cx="4599360" cy="388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7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1"/>
          <a:stretch/>
        </p:blipFill>
        <p:spPr>
          <a:xfrm>
            <a:off x="0" y="1143000"/>
            <a:ext cx="5716800" cy="482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"/>
          <p:cNvPicPr/>
          <p:nvPr/>
        </p:nvPicPr>
        <p:blipFill>
          <a:blip r:embed="rId2"/>
          <a:stretch/>
        </p:blipFill>
        <p:spPr>
          <a:xfrm>
            <a:off x="5965920" y="1143000"/>
            <a:ext cx="568584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8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12H-6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4008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6576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"/>
          <p:cNvPicPr/>
          <p:nvPr/>
        </p:nvPicPr>
        <p:blipFill>
          <a:blip r:embed="rId1"/>
          <a:stretch/>
        </p:blipFill>
        <p:spPr>
          <a:xfrm>
            <a:off x="1828800" y="809640"/>
            <a:ext cx="3341880" cy="282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"/>
          <p:cNvPicPr/>
          <p:nvPr/>
        </p:nvPicPr>
        <p:blipFill>
          <a:blip r:embed="rId2"/>
          <a:stretch/>
        </p:blipFill>
        <p:spPr>
          <a:xfrm>
            <a:off x="7315200" y="659520"/>
            <a:ext cx="3551040" cy="299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"/>
          <p:cNvPicPr/>
          <p:nvPr/>
        </p:nvPicPr>
        <p:blipFill>
          <a:blip r:embed="rId3"/>
          <a:stretch/>
        </p:blipFill>
        <p:spPr>
          <a:xfrm>
            <a:off x="4252680" y="3657600"/>
            <a:ext cx="351972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9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20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s 7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24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57" name=""/>
          <p:cNvPicPr/>
          <p:nvPr/>
        </p:nvPicPr>
        <p:blipFill>
          <a:blip r:embed="rId1"/>
          <a:stretch/>
        </p:blipFill>
        <p:spPr>
          <a:xfrm>
            <a:off x="634464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"/>
          <p:cNvPicPr/>
          <p:nvPr/>
        </p:nvPicPr>
        <p:blipFill>
          <a:blip r:embed="rId2"/>
          <a:stretch/>
        </p:blipFill>
        <p:spPr>
          <a:xfrm>
            <a:off x="12780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26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400800" y="3394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85800" y="36576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4008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2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29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VAMP7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-196560"/>
            <a:ext cx="48769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s 8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31"/>
          <p:cNvSpPr txBox="1"/>
          <p:nvPr/>
        </p:nvSpPr>
        <p:spPr>
          <a:xfrm>
            <a:off x="390960" y="-196200"/>
            <a:ext cx="395244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32"/>
          <p:cNvSpPr/>
          <p:nvPr/>
        </p:nvSpPr>
        <p:spPr>
          <a:xfrm>
            <a:off x="609480" y="138600"/>
            <a:ext cx="64771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VAMP7 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172200" y="9694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3434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33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18H-2 VAMP7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34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18H-3 VAMP7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609480" y="-196560"/>
            <a:ext cx="44197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18H-3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s 9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"/>
          <p:cNvPicPr/>
          <p:nvPr/>
        </p:nvPicPr>
        <p:blipFill>
          <a:blip r:embed="rId1"/>
          <a:stretch/>
        </p:blipFill>
        <p:spPr>
          <a:xfrm>
            <a:off x="2057400" y="1537920"/>
            <a:ext cx="4629600" cy="394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"/>
          <p:cNvPicPr/>
          <p:nvPr/>
        </p:nvPicPr>
        <p:blipFill>
          <a:blip r:embed="rId2"/>
          <a:stretch/>
        </p:blipFill>
        <p:spPr>
          <a:xfrm>
            <a:off x="6729480" y="1537920"/>
            <a:ext cx="4629600" cy="394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36"/>
          <p:cNvSpPr txBox="1"/>
          <p:nvPr/>
        </p:nvSpPr>
        <p:spPr>
          <a:xfrm>
            <a:off x="390960" y="-196200"/>
            <a:ext cx="395244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18H-3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tretch/>
        </p:blipFill>
        <p:spPr>
          <a:xfrm>
            <a:off x="3859920" y="1080720"/>
            <a:ext cx="5969880" cy="509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37"/>
          <p:cNvSpPr/>
          <p:nvPr/>
        </p:nvSpPr>
        <p:spPr>
          <a:xfrm>
            <a:off x="609480" y="138600"/>
            <a:ext cx="64771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18H-3 VAMP7  CELL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0" y="914400"/>
            <a:ext cx="6008400" cy="512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"/>
          <p:cNvPicPr/>
          <p:nvPr/>
        </p:nvPicPr>
        <p:blipFill>
          <a:blip r:embed="rId2"/>
          <a:stretch/>
        </p:blipFill>
        <p:spPr>
          <a:xfrm>
            <a:off x="648684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3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18H-3 VAMP7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LibreOffice/25.8.5.2$Windows_X86_64 LibreOffice_project/9c8b85f387cc00a89945a79c9e6239f32e450ac2</Application>
  <AppVersion>15.0000</AppVersion>
  <Words>5669</Words>
  <Paragraphs>351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2026-05-06T17:15:39Z</dcterms:modified>
  <cp:revision>1171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26</vt:i4>
  </property>
</Properties>
</file>