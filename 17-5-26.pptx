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2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3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54080" cy="5637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4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5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6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40240" y="365040"/>
            <a:ext cx="10496880" cy="1306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40240" y="1681200"/>
            <a:ext cx="5139720" cy="805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840240" y="2505240"/>
            <a:ext cx="5139720" cy="3665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64920" cy="8053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64920" cy="36658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dt" idx="7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7"/>
          <p:cNvSpPr>
            <a:spLocks noGrp="1"/>
          </p:cNvSpPr>
          <p:nvPr>
            <p:ph type="ftr" idx="8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8"/>
          <p:cNvSpPr>
            <a:spLocks noGrp="1"/>
          </p:cNvSpPr>
          <p:nvPr>
            <p:ph type="sldNum" idx="9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8839080" y="190440"/>
            <a:ext cx="2724480" cy="591840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ctr" vert="eaVer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90440"/>
            <a:ext cx="8007840" cy="591840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0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1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2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13920" cy="15814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53480" cy="48549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13920" cy="37929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13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ftr" idx="14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sldNum" idx="15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40240" y="457200"/>
            <a:ext cx="3913920" cy="158148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5183640" y="987480"/>
            <a:ext cx="6153480" cy="48549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431640" indent="-324000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36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36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360" lvl="4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6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840240" y="2057400"/>
            <a:ext cx="3913920" cy="37929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10" hidden="1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41" name="Picture 3"/>
          <p:cNvPicPr/>
          <p:nvPr/>
        </p:nvPicPr>
        <p:blipFill>
          <a:blip r:embed="rId3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24240" y="3718080"/>
            <a:ext cx="10924560" cy="10638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dt" idx="19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ftr" idx="20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sldNum" idx="21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54080" cy="5637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54080" cy="4934160"/>
          </a:xfrm>
          <a:prstGeom prst="rect">
            <a:avLst/>
          </a:prstGeom>
          <a:noFill/>
          <a:ln w="9360">
            <a:noFill/>
          </a:ln>
        </p:spPr>
        <p:txBody>
          <a:bodyPr lIns="45000" rIns="45000" tIns="90000" bIns="90000" anchor="t" vert="eaVer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22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ftr" idx="23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sldNum" idx="24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54080" cy="5637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10954080" cy="49341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dt" idx="25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ftr" idx="26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sldNum" idx="27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609480" y="190440"/>
            <a:ext cx="10954080" cy="5637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174680"/>
            <a:ext cx="5366160" cy="49341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197760" y="1174680"/>
            <a:ext cx="5366160" cy="493416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43040" lvl="1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43000" lvl="2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Symbol" charset="2"/>
              <a:buChar char="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00200" lvl="3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57400" lvl="4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OpenSymbo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28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29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0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Picture 10"/>
          <p:cNvPicPr/>
          <p:nvPr/>
        </p:nvPicPr>
        <p:blipFill>
          <a:blip r:embed="rId2"/>
          <a:stretch/>
        </p:blipFill>
        <p:spPr>
          <a:xfrm>
            <a:off x="0" y="0"/>
            <a:ext cx="12173400" cy="683928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496880" cy="283392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60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title style</a:t>
            </a:r>
            <a:endParaRPr lang="en-US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496880" cy="1481400"/>
          </a:xfrm>
          <a:prstGeom prst="rect">
            <a:avLst/>
          </a:prstGeom>
          <a:noFill/>
          <a:ln w="936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SimSun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31"/>
          </p:nvPr>
        </p:nvSpPr>
        <p:spPr>
          <a:xfrm>
            <a:off x="60948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32"/>
          </p:nvPr>
        </p:nvSpPr>
        <p:spPr>
          <a:xfrm>
            <a:off x="4165560" y="6245280"/>
            <a:ext cx="384192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imSu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33"/>
          </p:nvPr>
        </p:nvSpPr>
        <p:spPr>
          <a:xfrm>
            <a:off x="8737560" y="6245280"/>
            <a:ext cx="2826000" cy="457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ubTitle"/>
          </p:nvPr>
        </p:nvSpPr>
        <p:spPr>
          <a:xfrm>
            <a:off x="734760" y="1720800"/>
            <a:ext cx="10319760" cy="2881800"/>
          </a:xfrm>
          <a:prstGeom prst="rect">
            <a:avLst/>
          </a:prstGeom>
          <a:noFill/>
          <a:ln w="9360">
            <a:noFill/>
          </a:ln>
        </p:spPr>
        <p:txBody>
          <a:bodyPr lIns="91440" rIns="91440" tIns="45720" bIns="45720" anchor="t">
            <a:noAutofit/>
          </a:bodyPr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3D Image Segmentation and Quantification of Lysosomes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r>
              <a:rPr lang="en-US" sz="4300" b="1" i="1" u="none" strike="noStrike">
                <a:solidFill>
                  <a:srgbClr val="c00000"/>
                </a:solidFill>
                <a:effectLst/>
                <a:uFillTx/>
                <a:latin typeface="Arial"/>
                <a:ea typeface="SimSun"/>
              </a:rPr>
              <a:t>17/5/2025</a:t>
            </a: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859"/>
              </a:spcBef>
              <a:tabLst>
                <a:tab algn="l" pos="0"/>
              </a:tabLst>
            </a:pPr>
            <a:endParaRPr lang="en-US" sz="4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1"/>
          <p:cNvSpPr/>
          <p:nvPr/>
        </p:nvSpPr>
        <p:spPr>
          <a:xfrm>
            <a:off x="457200" y="228600"/>
            <a:ext cx="10954080" cy="7434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PIMI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Box 72"/>
          <p:cNvSpPr/>
          <p:nvPr/>
        </p:nvSpPr>
        <p:spPr>
          <a:xfrm>
            <a:off x="685800" y="1600200"/>
            <a:ext cx="4343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A = LYS SIGNAL / VOL LYS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Box 73"/>
          <p:cNvSpPr/>
          <p:nvPr/>
        </p:nvSpPr>
        <p:spPr>
          <a:xfrm>
            <a:off x="685800" y="2971800"/>
            <a:ext cx="6400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B = SIGNAL REST OF CELL  / VOL REST OF CELL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Box 74"/>
          <p:cNvSpPr/>
          <p:nvPr/>
        </p:nvSpPr>
        <p:spPr>
          <a:xfrm>
            <a:off x="685800" y="4800600"/>
            <a:ext cx="6400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PIMI = (A-B)/(A+B)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2"/>
          <p:cNvSpPr/>
          <p:nvPr/>
        </p:nvSpPr>
        <p:spPr>
          <a:xfrm>
            <a:off x="228600" y="0"/>
            <a:ext cx="10954080" cy="7434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FILES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s 2"/>
          <p:cNvSpPr/>
          <p:nvPr/>
        </p:nvSpPr>
        <p:spPr>
          <a:xfrm>
            <a:off x="228600" y="703080"/>
            <a:ext cx="11196000" cy="740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WITHOUT MUTATION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40A_UAS-TMEM192-3xHA x OK107 40A GFP MARCM_18h_2_airy_CB_120323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  <a:buClr>
                <a:srgbClr val="000000"/>
              </a:buClr>
              <a:buFont typeface="Wingdings" charset="2"/>
              <a:buChar char=""/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2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MUTATION VAMP7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  <a:buClr>
                <a:srgbClr val="000000"/>
              </a:buClr>
              <a:buFont typeface="Wingdings" charset="2"/>
              <a:buChar char="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VAMP7-TRIP_40A_UAS-TMEM192-3xHA x OK107 40A GFP MARCM _18h_2_CB_airy_120223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340"/>
              </a:spcBef>
              <a:spcAft>
                <a:spcPts val="139"/>
              </a:spcAft>
            </a:pPr>
            <a:r>
              <a:rPr lang="en-US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 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20"/>
          <p:cNvSpPr/>
          <p:nvPr/>
        </p:nvSpPr>
        <p:spPr>
          <a:xfrm>
            <a:off x="1143000" y="2743560"/>
            <a:ext cx="10954080" cy="7434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18H-2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609480" y="129960"/>
            <a:ext cx="2578320" cy="68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18H-2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s 7"/>
          <p:cNvSpPr/>
          <p:nvPr/>
        </p:nvSpPr>
        <p:spPr>
          <a:xfrm>
            <a:off x="1440" y="914400"/>
            <a:ext cx="2276640" cy="5241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0.015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1.2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10000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Picture 405"/>
          <p:cNvPicPr/>
          <p:nvPr/>
        </p:nvPicPr>
        <p:blipFill>
          <a:blip r:embed="rId1"/>
          <a:stretch/>
        </p:blipFill>
        <p:spPr>
          <a:xfrm>
            <a:off x="2057400" y="1547640"/>
            <a:ext cx="5001840" cy="4265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2" name="Picture 406"/>
          <p:cNvPicPr/>
          <p:nvPr/>
        </p:nvPicPr>
        <p:blipFill>
          <a:blip r:embed="rId2"/>
          <a:stretch/>
        </p:blipFill>
        <p:spPr>
          <a:xfrm>
            <a:off x="7173360" y="1499760"/>
            <a:ext cx="4939920" cy="421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24"/>
          <p:cNvSpPr/>
          <p:nvPr/>
        </p:nvSpPr>
        <p:spPr>
          <a:xfrm>
            <a:off x="390960" y="132840"/>
            <a:ext cx="2578320" cy="68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 18H-2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Picture 408"/>
          <p:cNvPicPr/>
          <p:nvPr/>
        </p:nvPicPr>
        <p:blipFill>
          <a:blip r:embed="rId1"/>
          <a:stretch/>
        </p:blipFill>
        <p:spPr>
          <a:xfrm>
            <a:off x="6344640" y="1143000"/>
            <a:ext cx="5626440" cy="479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5" name="Picture 409"/>
          <p:cNvPicPr/>
          <p:nvPr/>
        </p:nvPicPr>
        <p:blipFill>
          <a:blip r:embed="rId2"/>
          <a:stretch/>
        </p:blipFill>
        <p:spPr>
          <a:xfrm>
            <a:off x="127800" y="1143000"/>
            <a:ext cx="5626440" cy="4798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26"/>
          <p:cNvSpPr/>
          <p:nvPr/>
        </p:nvSpPr>
        <p:spPr>
          <a:xfrm>
            <a:off x="609480" y="138600"/>
            <a:ext cx="464580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18H-2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ectangles 411"/>
          <p:cNvSpPr/>
          <p:nvPr/>
        </p:nvSpPr>
        <p:spPr>
          <a:xfrm>
            <a:off x="1371600" y="914400"/>
            <a:ext cx="6832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s 412"/>
          <p:cNvSpPr/>
          <p:nvPr/>
        </p:nvSpPr>
        <p:spPr>
          <a:xfrm>
            <a:off x="6400800" y="339480"/>
            <a:ext cx="6832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ectangles 413"/>
          <p:cNvSpPr/>
          <p:nvPr/>
        </p:nvSpPr>
        <p:spPr>
          <a:xfrm>
            <a:off x="685800" y="3657600"/>
            <a:ext cx="6832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s 414"/>
          <p:cNvSpPr/>
          <p:nvPr/>
        </p:nvSpPr>
        <p:spPr>
          <a:xfrm>
            <a:off x="6400800" y="3886200"/>
            <a:ext cx="6832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4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Picture 415"/>
          <p:cNvPicPr/>
          <p:nvPr/>
        </p:nvPicPr>
        <p:blipFill>
          <a:blip r:embed="rId1"/>
          <a:stretch/>
        </p:blipFill>
        <p:spPr>
          <a:xfrm>
            <a:off x="2033640" y="809640"/>
            <a:ext cx="3069000" cy="2616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Picture 416"/>
          <p:cNvPicPr/>
          <p:nvPr/>
        </p:nvPicPr>
        <p:blipFill>
          <a:blip r:embed="rId2"/>
          <a:stretch/>
        </p:blipFill>
        <p:spPr>
          <a:xfrm>
            <a:off x="7356240" y="457200"/>
            <a:ext cx="3750120" cy="319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" name="Picture 417"/>
          <p:cNvPicPr/>
          <p:nvPr/>
        </p:nvPicPr>
        <p:blipFill>
          <a:blip r:embed="rId3"/>
          <a:stretch/>
        </p:blipFill>
        <p:spPr>
          <a:xfrm>
            <a:off x="1828800" y="3785760"/>
            <a:ext cx="3331800" cy="2841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4" name="Picture 418"/>
          <p:cNvPicPr/>
          <p:nvPr/>
        </p:nvPicPr>
        <p:blipFill>
          <a:blip r:embed="rId4"/>
          <a:stretch/>
        </p:blipFill>
        <p:spPr>
          <a:xfrm>
            <a:off x="7250400" y="3683520"/>
            <a:ext cx="3719880" cy="3171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28"/>
          <p:cNvSpPr/>
          <p:nvPr/>
        </p:nvSpPr>
        <p:spPr>
          <a:xfrm>
            <a:off x="468000" y="239400"/>
            <a:ext cx="1095408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18H-2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"/>
          <p:cNvPicPr/>
          <p:nvPr/>
        </p:nvPicPr>
        <p:blipFill>
          <a:blip r:embed="rId1"/>
          <a:stretch/>
        </p:blipFill>
        <p:spPr>
          <a:xfrm>
            <a:off x="70200" y="4572000"/>
            <a:ext cx="12045600" cy="137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7" name=""/>
          <p:cNvPicPr/>
          <p:nvPr/>
        </p:nvPicPr>
        <p:blipFill>
          <a:blip r:embed="rId2"/>
          <a:stretch/>
        </p:blipFill>
        <p:spPr>
          <a:xfrm>
            <a:off x="686160" y="1371600"/>
            <a:ext cx="5368680" cy="2286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8" name=""/>
          <p:cNvPicPr/>
          <p:nvPr/>
        </p:nvPicPr>
        <p:blipFill>
          <a:blip r:embed="rId3"/>
          <a:stretch/>
        </p:blipFill>
        <p:spPr>
          <a:xfrm>
            <a:off x="7248960" y="876600"/>
            <a:ext cx="2765880" cy="952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"/>
          <p:cNvPicPr/>
          <p:nvPr/>
        </p:nvPicPr>
        <p:blipFill>
          <a:blip r:embed="rId4"/>
          <a:stretch/>
        </p:blipFill>
        <p:spPr>
          <a:xfrm>
            <a:off x="7391880" y="2286360"/>
            <a:ext cx="3238920" cy="1142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29"/>
          <p:cNvSpPr/>
          <p:nvPr/>
        </p:nvSpPr>
        <p:spPr>
          <a:xfrm>
            <a:off x="1143000" y="2743560"/>
            <a:ext cx="10954080" cy="743400"/>
          </a:xfrm>
          <a:prstGeom prst="rect">
            <a:avLst/>
          </a:prstGeom>
          <a:noFill/>
          <a:ln w="936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6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18H-2 VAMP7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-199080"/>
            <a:ext cx="4874400" cy="1343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</a:rPr>
              <a:t> 18H-2 VAMP7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s 8"/>
          <p:cNvSpPr/>
          <p:nvPr/>
        </p:nvSpPr>
        <p:spPr>
          <a:xfrm>
            <a:off x="1440" y="914400"/>
            <a:ext cx="2276640" cy="5241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Erosion = 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Thresholding = 0.04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margin um = 1.2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overlap alpha = 0.6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n-US" sz="1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viz min voxels = 20000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Picture 427"/>
          <p:cNvPicPr/>
          <p:nvPr/>
        </p:nvPicPr>
        <p:blipFill>
          <a:blip r:embed="rId1"/>
          <a:stretch/>
        </p:blipFill>
        <p:spPr>
          <a:xfrm>
            <a:off x="2057400" y="1588320"/>
            <a:ext cx="4836600" cy="4124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4" name="Picture 428"/>
          <p:cNvPicPr/>
          <p:nvPr/>
        </p:nvPicPr>
        <p:blipFill>
          <a:blip r:embed="rId2"/>
          <a:stretch/>
        </p:blipFill>
        <p:spPr>
          <a:xfrm>
            <a:off x="7086600" y="1588320"/>
            <a:ext cx="4953960" cy="4224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31"/>
          <p:cNvSpPr/>
          <p:nvPr/>
        </p:nvSpPr>
        <p:spPr>
          <a:xfrm>
            <a:off x="390960" y="-196200"/>
            <a:ext cx="3949920" cy="13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 18H-2 VAMP7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Picture 430"/>
          <p:cNvPicPr/>
          <p:nvPr/>
        </p:nvPicPr>
        <p:blipFill>
          <a:blip r:embed="rId1"/>
          <a:stretch/>
        </p:blipFill>
        <p:spPr>
          <a:xfrm>
            <a:off x="196920" y="1143000"/>
            <a:ext cx="5744160" cy="4898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7" name="Picture 431"/>
          <p:cNvPicPr/>
          <p:nvPr/>
        </p:nvPicPr>
        <p:blipFill>
          <a:blip r:embed="rId2"/>
          <a:stretch/>
        </p:blipFill>
        <p:spPr>
          <a:xfrm>
            <a:off x="6172200" y="1143000"/>
            <a:ext cx="5816880" cy="4960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32"/>
          <p:cNvSpPr/>
          <p:nvPr/>
        </p:nvSpPr>
        <p:spPr>
          <a:xfrm>
            <a:off x="609480" y="138600"/>
            <a:ext cx="647460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18H-2 VAMP7  CELLS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s 433"/>
          <p:cNvSpPr/>
          <p:nvPr/>
        </p:nvSpPr>
        <p:spPr>
          <a:xfrm>
            <a:off x="206280" y="824760"/>
            <a:ext cx="6832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1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s 434"/>
          <p:cNvSpPr/>
          <p:nvPr/>
        </p:nvSpPr>
        <p:spPr>
          <a:xfrm>
            <a:off x="5715000" y="809640"/>
            <a:ext cx="6832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2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s 435"/>
          <p:cNvSpPr/>
          <p:nvPr/>
        </p:nvSpPr>
        <p:spPr>
          <a:xfrm>
            <a:off x="3429000" y="4343400"/>
            <a:ext cx="683280" cy="34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SimSun"/>
              </a:rPr>
              <a:t>3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2" name="Picture 436"/>
          <p:cNvPicPr/>
          <p:nvPr/>
        </p:nvPicPr>
        <p:blipFill>
          <a:blip r:embed="rId1"/>
          <a:stretch/>
        </p:blipFill>
        <p:spPr>
          <a:xfrm>
            <a:off x="685800" y="813960"/>
            <a:ext cx="3655080" cy="311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3" name="Picture 437"/>
          <p:cNvPicPr/>
          <p:nvPr/>
        </p:nvPicPr>
        <p:blipFill>
          <a:blip r:embed="rId2"/>
          <a:stretch/>
        </p:blipFill>
        <p:spPr>
          <a:xfrm>
            <a:off x="6564600" y="809640"/>
            <a:ext cx="3719880" cy="3172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Picture 438"/>
          <p:cNvPicPr/>
          <p:nvPr/>
        </p:nvPicPr>
        <p:blipFill>
          <a:blip r:embed="rId3"/>
          <a:stretch/>
        </p:blipFill>
        <p:spPr>
          <a:xfrm>
            <a:off x="4114800" y="3984480"/>
            <a:ext cx="3262680" cy="2782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33"/>
          <p:cNvSpPr/>
          <p:nvPr/>
        </p:nvSpPr>
        <p:spPr>
          <a:xfrm>
            <a:off x="468000" y="239400"/>
            <a:ext cx="1095408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400" b="1" u="none" strike="noStrike">
                <a:solidFill>
                  <a:srgbClr val="ff0000"/>
                </a:solidFill>
                <a:effectLst/>
                <a:uFillTx/>
                <a:latin typeface="Arial"/>
                <a:ea typeface="SimSun"/>
              </a:rPr>
              <a:t>DATASETS 18H-2 VAMP7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6" name=""/>
          <p:cNvPicPr/>
          <p:nvPr/>
        </p:nvPicPr>
        <p:blipFill>
          <a:blip r:embed="rId1"/>
          <a:stretch/>
        </p:blipFill>
        <p:spPr>
          <a:xfrm>
            <a:off x="1257480" y="914400"/>
            <a:ext cx="2171520" cy="4343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7" name=""/>
          <p:cNvPicPr/>
          <p:nvPr/>
        </p:nvPicPr>
        <p:blipFill>
          <a:blip r:embed="rId2"/>
          <a:stretch/>
        </p:blipFill>
        <p:spPr>
          <a:xfrm>
            <a:off x="3943800" y="914760"/>
            <a:ext cx="3858480" cy="1142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8" name=""/>
          <p:cNvPicPr/>
          <p:nvPr/>
        </p:nvPicPr>
        <p:blipFill>
          <a:blip r:embed="rId3"/>
          <a:stretch/>
        </p:blipFill>
        <p:spPr>
          <a:xfrm>
            <a:off x="4114800" y="2662560"/>
            <a:ext cx="3826080" cy="122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9" name=""/>
          <p:cNvPicPr/>
          <p:nvPr/>
        </p:nvPicPr>
        <p:blipFill>
          <a:blip r:embed="rId4"/>
          <a:stretch/>
        </p:blipFill>
        <p:spPr>
          <a:xfrm>
            <a:off x="914400" y="5486400"/>
            <a:ext cx="9641880" cy="685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1_Green Color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002060"/>
      </a:hlink>
      <a:folHlink>
        <a:srgbClr val="996600"/>
      </a:folHlink>
    </a:clrScheme>
    <a:fontScheme name="Green Color">
      <a:majorFont>
        <a:latin typeface="Arial" pitchFamily="0" charset="1"/>
        <a:ea typeface="SimSun" pitchFamily="0" charset="1"/>
        <a:cs typeface=""/>
      </a:majorFont>
      <a:minorFont>
        <a:latin typeface="Arial" pitchFamily="0" charset="1"/>
        <a:ea typeface="SimSun" pitchFamily="0" charset="1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</TotalTime>
  <Application>LibreOffice/25.8.6.2$Windows_X86_64 LibreOffice_project/b4b39682cd9868fa725bc664aff94278d315bd04</Application>
  <AppVersion>15.0000</AppVersion>
  <Words>624</Words>
  <Paragraphs>76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2024-11-18T13:41:00Z</dcterms:created>
  <dc:creator>Nahuel-Hernan Ramos</dc:creator>
  <dc:description/>
  <dc:language>en-US</dc:language>
  <cp:lastModifiedBy/>
  <dcterms:modified xsi:type="dcterms:W3CDTF">2026-05-17T19:25:49Z</dcterms:modified>
  <cp:revision>1251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163A40A7143045A996C1D52FDF6E545A_13</vt:lpwstr>
  </property>
  <property fmtid="{D5CDD505-2E9C-101B-9397-08002B2CF9AE}" pid="3" name="KSOProductBuildVer">
    <vt:lpwstr>2057-12.9.0.21549</vt:lpwstr>
  </property>
  <property fmtid="{D5CDD505-2E9C-101B-9397-08002B2CF9AE}" pid="4" name="PresentationFormat">
    <vt:lpwstr>Panorámica</vt:lpwstr>
  </property>
  <property fmtid="{D5CDD505-2E9C-101B-9397-08002B2CF9AE}" pid="5" name="Slides">
    <vt:i4>13</vt:i4>
  </property>
</Properties>
</file>